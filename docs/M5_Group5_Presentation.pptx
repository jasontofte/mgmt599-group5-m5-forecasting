
<file path=[Content_Types].xml><?xml version="1.0" encoding="utf-8"?>
<Types xmlns="http://schemas.openxmlformats.org/package/2006/content-types">
  <Default Extension="jpeg" ContentType="image/jpeg"/>
  <Default Extension="m4a" ContentType="audio/mp4"/>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10.xml" ContentType="application/vnd.openxmlformats-officedocument.presentationml.notesSlide+xml"/>
  <Override PartName="/ppt/charts/chart3.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DBDD23B-1D20-0D57-A2A3-DFF1AC235C69}" v="31" dt="2026-08-13T11:48:16.520"/>
    <p1510:client id="{CB7C6738-F8BB-DE41-9138-5EE776C34A42}" v="13" dt="2026-08-13T16:35:24.21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_108_0.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_108_0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_109_0.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 of units</c:v>
                </c:pt>
              </c:strCache>
            </c:strRef>
          </c:tx>
          <c:spPr>
            <a:solidFill>
              <a:srgbClr val="2E86AB"/>
            </a:solidFill>
            <a:effectLst/>
          </c:spPr>
          <c:invertIfNegative val="0"/>
          <c:dLbls>
            <c:numFmt formatCode="0.0&quot;%&quot;" sourceLinked="0"/>
            <c:spPr>
              <a:noFill/>
              <a:ln>
                <a:noFill/>
              </a:ln>
              <a:effectLst/>
            </c:spPr>
            <c:txPr>
              <a:bodyPr/>
              <a:lstStyle/>
              <a:p>
                <a:pPr>
                  <a:defRPr sz="900" b="0" i="0" u="none" strike="noStrike">
                    <a:solidFill>
                      <a:srgbClr val="1B2B3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FOODS</c:v>
                </c:pt>
                <c:pt idx="1">
                  <c:v>HOUSEHOLD</c:v>
                </c:pt>
                <c:pt idx="2">
                  <c:v>HOBBIES</c:v>
                </c:pt>
              </c:strCache>
            </c:strRef>
          </c:cat>
          <c:val>
            <c:numRef>
              <c:f>Sheet1!$B$2:$B$4</c:f>
              <c:numCache>
                <c:formatCode>General</c:formatCode>
                <c:ptCount val="3"/>
                <c:pt idx="0">
                  <c:v>68.599999999999994</c:v>
                </c:pt>
                <c:pt idx="1">
                  <c:v>22.1</c:v>
                </c:pt>
                <c:pt idx="2">
                  <c:v>9.3000000000000007</c:v>
                </c:pt>
              </c:numCache>
            </c:numRef>
          </c:val>
          <c:extLst>
            <c:ext xmlns:c16="http://schemas.microsoft.com/office/drawing/2014/chart" uri="{C3380CC4-5D6E-409C-BE32-E72D297353CC}">
              <c16:uniqueId val="{00000000-26F5-4982-8C86-3EDB65CA191D}"/>
            </c:ext>
          </c:extLst>
        </c:ser>
        <c:ser>
          <c:idx val="1"/>
          <c:order val="1"/>
          <c:tx>
            <c:strRef>
              <c:f>Sheet1!$C$1</c:f>
              <c:strCache>
                <c:ptCount val="1"/>
                <c:pt idx="0">
                  <c:v>% of revenue</c:v>
                </c:pt>
              </c:strCache>
            </c:strRef>
          </c:tx>
          <c:spPr>
            <a:solidFill>
              <a:srgbClr val="E8A33D"/>
            </a:solidFill>
            <a:effectLst/>
          </c:spPr>
          <c:invertIfNegative val="0"/>
          <c:dLbls>
            <c:numFmt formatCode="0.0&quot;%&quot;" sourceLinked="0"/>
            <c:spPr>
              <a:noFill/>
              <a:ln>
                <a:noFill/>
              </a:ln>
              <a:effectLst/>
            </c:spPr>
            <c:txPr>
              <a:bodyPr/>
              <a:lstStyle/>
              <a:p>
                <a:pPr>
                  <a:defRPr sz="900" b="0" i="0" u="none" strike="noStrike">
                    <a:solidFill>
                      <a:srgbClr val="1B2B3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FOODS</c:v>
                </c:pt>
                <c:pt idx="1">
                  <c:v>HOUSEHOLD</c:v>
                </c:pt>
                <c:pt idx="2">
                  <c:v>HOBBIES</c:v>
                </c:pt>
              </c:strCache>
            </c:strRef>
          </c:cat>
          <c:val>
            <c:numRef>
              <c:f>Sheet1!$C$2:$C$4</c:f>
              <c:numCache>
                <c:formatCode>General</c:formatCode>
                <c:ptCount val="3"/>
                <c:pt idx="0">
                  <c:v>58</c:v>
                </c:pt>
                <c:pt idx="1">
                  <c:v>29.8</c:v>
                </c:pt>
                <c:pt idx="2">
                  <c:v>12.2</c:v>
                </c:pt>
              </c:numCache>
            </c:numRef>
          </c:val>
          <c:extLst>
            <c:ext xmlns:c16="http://schemas.microsoft.com/office/drawing/2014/chart" uri="{C3380CC4-5D6E-409C-BE32-E72D297353CC}">
              <c16:uniqueId val="{00000001-26F5-4982-8C86-3EDB65CA191D}"/>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A6B7C"/>
                </a:solidFill>
                <a:latin typeface="Arial"/>
              </a:defRPr>
            </a:pPr>
            <a:endParaRPr lang="en-US"/>
          </a:p>
        </c:txPr>
        <c:crossAx val="2094734552"/>
        <c:crosses val="autoZero"/>
        <c:auto val="1"/>
        <c:lblAlgn val="ctr"/>
        <c:lblOffset val="100"/>
        <c:noMultiLvlLbl val="1"/>
      </c:catAx>
      <c:valAx>
        <c:axId val="2094734552"/>
        <c:scaling>
          <c:orientation val="minMax"/>
          <c:max val="80"/>
        </c:scaling>
        <c:delete val="1"/>
        <c:axPos val="l"/>
        <c:numFmt formatCode="General" sourceLinked="0"/>
        <c:majorTickMark val="out"/>
        <c:minorTickMark val="none"/>
        <c:tickLblPos val="nextTo"/>
        <c:crossAx val="2094734554"/>
        <c:crosses val="autoZero"/>
        <c:crossBetween val="between"/>
      </c:valAx>
      <c:spPr>
        <a:noFill/>
        <a:ln>
          <a:noFill/>
        </a:ln>
        <a:effectLst/>
      </c:spPr>
    </c:plotArea>
    <c:legend>
      <c:legendPos val="b"/>
      <c:overlay val="0"/>
      <c:txPr>
        <a:bodyPr/>
        <a:lstStyle/>
        <a:p>
          <a:pPr>
            <a:defRPr sz="900">
              <a:solidFill>
                <a:srgbClr val="5A6B7C"/>
              </a:solidFill>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Avg daily units</c:v>
                </c:pt>
              </c:strCache>
            </c:strRef>
          </c:tx>
          <c:spPr>
            <a:ln w="31750" cap="flat">
              <a:solidFill>
                <a:srgbClr val="0F2942"/>
              </a:solidFill>
              <a:prstDash val="solid"/>
              <a:round/>
            </a:ln>
            <a:effectLst/>
          </c:spPr>
          <c:marker>
            <c:symbol val="circle"/>
            <c:size val="5"/>
            <c:spPr>
              <a:solidFill>
                <a:srgbClr val="0F2942"/>
              </a:solidFill>
              <a:ln w="9525" cap="flat">
                <a:solidFill>
                  <a:srgbClr val="0F2942"/>
                </a:solidFill>
                <a:prstDash val="solid"/>
                <a:round/>
              </a:ln>
              <a:effectLst/>
            </c:spPr>
          </c:marker>
          <c:cat>
            <c:strRef>
              <c:f>Sheet1!$A$2:$A$11</c:f>
              <c:strCache>
                <c:ptCount val="10"/>
                <c:pt idx="0">
                  <c:v>1</c:v>
                </c:pt>
                <c:pt idx="1">
                  <c:v>2</c:v>
                </c:pt>
                <c:pt idx="2">
                  <c:v>3</c:v>
                </c:pt>
                <c:pt idx="3">
                  <c:v>4</c:v>
                </c:pt>
                <c:pt idx="4">
                  <c:v>5</c:v>
                </c:pt>
                <c:pt idx="5">
                  <c:v>6</c:v>
                </c:pt>
                <c:pt idx="6">
                  <c:v>7</c:v>
                </c:pt>
                <c:pt idx="7">
                  <c:v>8</c:v>
                </c:pt>
                <c:pt idx="8">
                  <c:v>9</c:v>
                </c:pt>
                <c:pt idx="9">
                  <c:v>10</c:v>
                </c:pt>
              </c:strCache>
            </c:strRef>
          </c:cat>
          <c:val>
            <c:numRef>
              <c:f>Sheet1!$B$2:$B$11</c:f>
              <c:numCache>
                <c:formatCode>General</c:formatCode>
                <c:ptCount val="10"/>
                <c:pt idx="0">
                  <c:v>1.6020000000000001</c:v>
                </c:pt>
                <c:pt idx="1">
                  <c:v>1.6160000000000001</c:v>
                </c:pt>
                <c:pt idx="2">
                  <c:v>1.639</c:v>
                </c:pt>
                <c:pt idx="3">
                  <c:v>1.6479999999999999</c:v>
                </c:pt>
                <c:pt idx="4">
                  <c:v>1.5920000000000001</c:v>
                </c:pt>
                <c:pt idx="5">
                  <c:v>1.5780000000000001</c:v>
                </c:pt>
                <c:pt idx="6">
                  <c:v>1.554</c:v>
                </c:pt>
                <c:pt idx="7">
                  <c:v>1.524</c:v>
                </c:pt>
                <c:pt idx="8">
                  <c:v>1.502</c:v>
                </c:pt>
                <c:pt idx="9">
                  <c:v>1.476</c:v>
                </c:pt>
              </c:numCache>
            </c:numRef>
          </c:val>
          <c:smooth val="0"/>
          <c:extLst>
            <c:ext xmlns:c16="http://schemas.microsoft.com/office/drawing/2014/chart" uri="{C3380CC4-5D6E-409C-BE32-E72D297353CC}">
              <c16:uniqueId val="{00000000-6EB9-4900-8459-7554A99B598A}"/>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title>
          <c:tx>
            <c:rich>
              <a:bodyPr/>
              <a:lstStyle/>
              <a:p>
                <a:pPr>
                  <a:defRPr sz="900" b="0" i="0" u="none" strike="noStrike">
                    <a:solidFill>
                      <a:srgbClr val="5A6B7C"/>
                    </a:solidFill>
                    <a:latin typeface="Arial"/>
                  </a:defRPr>
                </a:pPr>
                <a:r>
                  <a:rPr lang="en-US" sz="900" b="0" i="0" u="none" strike="noStrike">
                    <a:solidFill>
                      <a:srgbClr val="5A6B7C"/>
                    </a:solidFill>
                    <a:latin typeface="Arial"/>
                  </a:rPr>
                  <a:t>Price decile (low → high)</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A6B7C"/>
                </a:solidFill>
                <a:latin typeface="Arial"/>
              </a:defRPr>
            </a:pPr>
            <a:endParaRPr lang="en-US"/>
          </a:p>
        </c:txPr>
        <c:crossAx val="2094734552"/>
        <c:crosses val="autoZero"/>
        <c:auto val="1"/>
        <c:lblAlgn val="ctr"/>
        <c:lblOffset val="100"/>
        <c:noMultiLvlLbl val="1"/>
      </c:catAx>
      <c:valAx>
        <c:axId val="2094734552"/>
        <c:scaling>
          <c:orientation val="minMax"/>
          <c:max val="1.7"/>
          <c:min val="1.4"/>
        </c:scaling>
        <c:delete val="0"/>
        <c:axPos val="l"/>
        <c:majorGridlines>
          <c:spPr>
            <a:ln w="9525" cap="flat">
              <a:solidFill>
                <a:srgbClr val="D9E2E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A6B7C"/>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FOODS</c:v>
                </c:pt>
              </c:strCache>
            </c:strRef>
          </c:tx>
          <c:spPr>
            <a:solidFill>
              <a:srgbClr val="2E86AB"/>
            </a:solidFill>
            <a:effectLst/>
          </c:spPr>
          <c:invertIfNegative val="0"/>
          <c:dLbls>
            <c:numFmt formatCode="0.0&quot;%&quot;" sourceLinked="0"/>
            <c:spPr>
              <a:noFill/>
              <a:ln>
                <a:noFill/>
              </a:ln>
              <a:effectLst/>
            </c:spPr>
            <c:txPr>
              <a:bodyPr/>
              <a:lstStyle/>
              <a:p>
                <a:pPr>
                  <a:defRPr sz="900" b="0" i="0" u="none" strike="noStrike">
                    <a:solidFill>
                      <a:srgbClr val="1B2B3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Wisconsin</c:v>
                </c:pt>
                <c:pt idx="1">
                  <c:v>Texas</c:v>
                </c:pt>
                <c:pt idx="2">
                  <c:v>California</c:v>
                </c:pt>
              </c:strCache>
            </c:strRef>
          </c:cat>
          <c:val>
            <c:numRef>
              <c:f>Sheet1!$B$2:$B$4</c:f>
              <c:numCache>
                <c:formatCode>General</c:formatCode>
                <c:ptCount val="3"/>
                <c:pt idx="0">
                  <c:v>30</c:v>
                </c:pt>
                <c:pt idx="1">
                  <c:v>15.6</c:v>
                </c:pt>
                <c:pt idx="2">
                  <c:v>10.199999999999999</c:v>
                </c:pt>
              </c:numCache>
            </c:numRef>
          </c:val>
          <c:extLst>
            <c:ext xmlns:c16="http://schemas.microsoft.com/office/drawing/2014/chart" uri="{C3380CC4-5D6E-409C-BE32-E72D297353CC}">
              <c16:uniqueId val="{00000000-2829-45FE-88F1-89837746291D}"/>
            </c:ext>
          </c:extLst>
        </c:ser>
        <c:ser>
          <c:idx val="1"/>
          <c:order val="1"/>
          <c:tx>
            <c:strRef>
              <c:f>Sheet1!$C$1</c:f>
              <c:strCache>
                <c:ptCount val="1"/>
                <c:pt idx="0">
                  <c:v>HOUSEHOLD</c:v>
                </c:pt>
              </c:strCache>
            </c:strRef>
          </c:tx>
          <c:spPr>
            <a:solidFill>
              <a:srgbClr val="A8C4D4"/>
            </a:solidFill>
            <a:effectLst/>
          </c:spPr>
          <c:invertIfNegative val="0"/>
          <c:dLbls>
            <c:numFmt formatCode="0.0&quot;%&quot;" sourceLinked="0"/>
            <c:spPr>
              <a:noFill/>
              <a:ln>
                <a:noFill/>
              </a:ln>
              <a:effectLst/>
            </c:spPr>
            <c:txPr>
              <a:bodyPr/>
              <a:lstStyle/>
              <a:p>
                <a:pPr>
                  <a:defRPr sz="900" b="0" i="0" u="none" strike="noStrike">
                    <a:solidFill>
                      <a:srgbClr val="1B2B3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Wisconsin</c:v>
                </c:pt>
                <c:pt idx="1">
                  <c:v>Texas</c:v>
                </c:pt>
                <c:pt idx="2">
                  <c:v>California</c:v>
                </c:pt>
              </c:strCache>
            </c:strRef>
          </c:cat>
          <c:val>
            <c:numRef>
              <c:f>Sheet1!$C$2:$C$4</c:f>
              <c:numCache>
                <c:formatCode>General</c:formatCode>
                <c:ptCount val="3"/>
                <c:pt idx="0">
                  <c:v>3.7</c:v>
                </c:pt>
                <c:pt idx="1">
                  <c:v>3.3</c:v>
                </c:pt>
                <c:pt idx="2">
                  <c:v>3.6</c:v>
                </c:pt>
              </c:numCache>
            </c:numRef>
          </c:val>
          <c:extLst>
            <c:ext xmlns:c16="http://schemas.microsoft.com/office/drawing/2014/chart" uri="{C3380CC4-5D6E-409C-BE32-E72D297353CC}">
              <c16:uniqueId val="{00000001-2829-45FE-88F1-89837746291D}"/>
            </c:ext>
          </c:extLst>
        </c:ser>
        <c:ser>
          <c:idx val="2"/>
          <c:order val="2"/>
          <c:tx>
            <c:strRef>
              <c:f>Sheet1!$D$1</c:f>
              <c:strCache>
                <c:ptCount val="1"/>
                <c:pt idx="0">
                  <c:v>HOBBIES</c:v>
                </c:pt>
              </c:strCache>
            </c:strRef>
          </c:tx>
          <c:spPr>
            <a:solidFill>
              <a:srgbClr val="D6E2EA"/>
            </a:solidFill>
            <a:effectLst/>
          </c:spPr>
          <c:invertIfNegative val="0"/>
          <c:dLbls>
            <c:numFmt formatCode="0.0&quot;%&quot;" sourceLinked="0"/>
            <c:spPr>
              <a:noFill/>
              <a:ln>
                <a:noFill/>
              </a:ln>
              <a:effectLst/>
            </c:spPr>
            <c:txPr>
              <a:bodyPr/>
              <a:lstStyle/>
              <a:p>
                <a:pPr>
                  <a:defRPr sz="900" b="0" i="0" u="none" strike="noStrike">
                    <a:solidFill>
                      <a:srgbClr val="1B2B3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Wisconsin</c:v>
                </c:pt>
                <c:pt idx="1">
                  <c:v>Texas</c:v>
                </c:pt>
                <c:pt idx="2">
                  <c:v>California</c:v>
                </c:pt>
              </c:strCache>
            </c:strRef>
          </c:cat>
          <c:val>
            <c:numRef>
              <c:f>Sheet1!$D$2:$D$4</c:f>
              <c:numCache>
                <c:formatCode>General</c:formatCode>
                <c:ptCount val="3"/>
                <c:pt idx="0">
                  <c:v>1.8</c:v>
                </c:pt>
                <c:pt idx="1">
                  <c:v>2.1</c:v>
                </c:pt>
                <c:pt idx="2">
                  <c:v>3</c:v>
                </c:pt>
              </c:numCache>
            </c:numRef>
          </c:val>
          <c:extLst>
            <c:ext xmlns:c16="http://schemas.microsoft.com/office/drawing/2014/chart" uri="{C3380CC4-5D6E-409C-BE32-E72D297353CC}">
              <c16:uniqueId val="{00000002-2829-45FE-88F1-89837746291D}"/>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A6B7C"/>
                </a:solidFill>
                <a:latin typeface="Arial"/>
              </a:defRPr>
            </a:pPr>
            <a:endParaRPr lang="en-US"/>
          </a:p>
        </c:txPr>
        <c:crossAx val="2094734552"/>
        <c:crosses val="autoZero"/>
        <c:auto val="1"/>
        <c:lblAlgn val="ctr"/>
        <c:lblOffset val="100"/>
        <c:noMultiLvlLbl val="1"/>
      </c:catAx>
      <c:valAx>
        <c:axId val="2094734552"/>
        <c:scaling>
          <c:orientation val="minMax"/>
          <c:max val="36"/>
        </c:scaling>
        <c:delete val="1"/>
        <c:axPos val="l"/>
        <c:numFmt formatCode="General" sourceLinked="0"/>
        <c:majorTickMark val="out"/>
        <c:minorTickMark val="none"/>
        <c:tickLblPos val="nextTo"/>
        <c:crossAx val="2094734554"/>
        <c:crosses val="autoZero"/>
        <c:crossBetween val="between"/>
      </c:valAx>
      <c:spPr>
        <a:noFill/>
        <a:ln>
          <a:noFill/>
        </a:ln>
        <a:effectLst/>
      </c:spPr>
    </c:plotArea>
    <c:legend>
      <c:legendPos val="b"/>
      <c:overlay val="0"/>
      <c:txPr>
        <a:bodyPr/>
        <a:lstStyle/>
        <a:p>
          <a:pPr>
            <a:defRPr sz="950">
              <a:solidFill>
                <a:srgbClr val="5A6B7C"/>
              </a:solidFill>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2913063" y="0"/>
            <a:ext cx="2228850" cy="458788"/>
          </a:xfrm>
          <a:prstGeom prst="rect">
            <a:avLst/>
          </a:prstGeom>
        </p:spPr>
        <p:txBody>
          <a:bodyPr vert="horz" lIns="91440" tIns="45720" rIns="91440" bIns="45720" rtlCol="0"/>
          <a:lstStyle>
            <a:lvl1pPr algn="r">
              <a:defRPr sz="1200"/>
            </a:lvl1pPr>
          </a:lstStyle>
          <a:p>
            <a:fld id="{16D0B6A0-5A4E-4A2B-B4BC-8E6180CBD928}" type="datetimeFigureOut">
              <a:t>8/15/2026</a:t>
            </a:fld>
            <a:endParaRPr lang="en-US"/>
          </a:p>
        </p:txBody>
      </p:sp>
      <p:sp>
        <p:nvSpPr>
          <p:cNvPr id="4" name="Slide Image Placeholder 3"/>
          <p:cNvSpPr>
            <a:spLocks noGrp="1" noRot="1" noChangeAspect="1"/>
          </p:cNvSpPr>
          <p:nvPr>
            <p:ph type="sldImg" idx="2"/>
          </p:nvPr>
        </p:nvSpPr>
        <p:spPr>
          <a:xfrm>
            <a:off x="-17145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514350" y="4400550"/>
            <a:ext cx="41148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22885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2913063" y="8685213"/>
            <a:ext cx="2228850" cy="458787"/>
          </a:xfrm>
          <a:prstGeom prst="rect">
            <a:avLst/>
          </a:prstGeom>
        </p:spPr>
        <p:txBody>
          <a:bodyPr vert="horz" lIns="91440" tIns="45720" rIns="91440" bIns="45720" rtlCol="0" anchor="b"/>
          <a:lstStyle>
            <a:lvl1pPr algn="r">
              <a:defRPr sz="1200"/>
            </a:lvl1pPr>
          </a:lstStyle>
          <a:p>
            <a:fld id="{666003F5-CF3A-4802-B951-EE1E09E30316}" type="slidenum">
              <a:t>‹#›</a:t>
            </a:fld>
            <a:endParaRPr lang="en-US"/>
          </a:p>
        </p:txBody>
      </p:sp>
    </p:spTree>
    <p:extLst>
      <p:ext uri="{BB962C8B-B14F-4D97-AF65-F5344CB8AC3E}">
        <p14:creationId xmlns:p14="http://schemas.microsoft.com/office/powerpoint/2010/main" val="2257017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Good afternoon. We are Group 5, Jaewon Jang, Jason Tofte and Ross Roach. Our project is a demand forecasting pipeline built on AWS using the Walmart M5 dataset. I will cover the problem, the data and the architecture. Jaewon covers the pipeline and the analytics, and Ross covers the models, the cost and the cloud trade-offs.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decision we are supporting is easy to describe but hard to do at scale. A store inventory manager decides how much of each product to stock. Order too much and cash is tied up in product that is not selling. Order too little and the sale is lost. Those two costs are not equal, because a stockout usually costs more than the same unit of excess inventory, and that is why we report forecast bias and not just error. The manager makes this decision across thousands of products at once, mostly on judgement. We want to give them a 28-day projection to work from instead.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dataset is M5 Forecasting Accuracy from Kaggle, contributed by Walmart. It covers 3,049 products across 10 stores in three states, over 1,941 days. Reshaped, that is just over 59 million item, store and day rows. We made two corrections to our proposal after validating the data. First, the daily columns record units sold rather than inventory on hand, so the two thirds of values that are zero are normal intermittent demand. Second, the dataset covers ten stores rather than the three we originally wrote, which gives us 30,490 demand series.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architecture has five layers. Ingestion is a one time upload of 430 megabytes into S3 using the CLI. We did it that way because the dataset is fixed and never updates, so a streaming service would only add complexity. S3 is the storage layer, split into raw, processed and curated zones. Transformation is a local reshape followed by Athena CTAS, with a Glue job as additional evidence. The Glue Data Catalog handles cataloging, Athena and a notebook handle the analytics, and QuickSight is the output. Every layer has a GCP equivalent, which Ross comes back to at the end.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bucket in our account, with four prefixes: raw, processed, curated and athena-results. The raw zone holds the five original CSV files unchanged, because if we make a mistake during the transform we can start again without downloading 430 megabytes from Kaggle a second time. The processed zone holds the Parquet partitioned by state, and public access is blocked at the bucket. Jaewon will pick it up from the transform.</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Thanks Jason. The main change from our proposal is here. We originally had the transform running as a Glue Spark job on the critical path. But it is a reshape of a 120 megabyte CSV from wide to long, and it runs on a laptop in twelve seconds. Glue takes the same setup regardless of data size, and it was the step most likely to fail. So we moved it off. We transform locally, upload the Parquet, run the crawler, then use Athena CTAS for the curated tables. CTAS is a cloud transformation in its own right, so the layer does not depend on Glue. We still run the Glue job to a separate prefix as evidence. And the script will not write output unless the row count, primary key and null checks all pass.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have one fact table, at one row per item, per store, per day. The primary key is item, store and day. That is three columns rather than the two our proposal implied. The price join is a left join, and the nulls are meaningful: they tell us the item was not being carried in that store yet. One note on partitioning. We partition by state, but most of our queries aggregate across all three, so pruning is not where the saving comes from. It comes from columnar projection and compression.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ran the data quality checks as queries against the actual table. The row count matches exactly at 59,181,090, there are 30,490 distinct series, and no negative units. Two results are flagged informational rather than as failures. 68 percent of item days are zero, and 21 percent of rows have no price. Both are expected for this kind of retail data, and we would rather report them than leave them out.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Two findings. Volume is concentrated in FOODS, which is 68.6 percent of units but only 58 percent of revenue, so HOUSEHOLD earns more per unit sold. That matters because a forecast built around unit volume alone would underserve the category with the better margin. Price does affect demand, but not by much. Average daily units peak around the fourth decile then fall to 1.48, about eight percent across the range, on nearly two million observations per decile. It is a real effect but a small one.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finding we would put in front of a stakeholder. On SNAP benefit days FOODS demand is 30 percent higher in Wisconsin, 15.6 percent higher in Texas and 10.2 percent higher in California. HOUSEHOLD and HOBBIES move between two and four percent. That difference tells us the effect is real rather than a busier day overall, because if it were a general increase all three categories would move together, and they do not. SNAP dates are published in advance, so we can use this as a forecast feature. Ross will take the models.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Thanks Jaewon. We ran four models on the same 28-day holdout: a naive model carrying the last value forward, a seasonal naive using the same weekday four weeks earlier, a per item weekday mean, and gradient boosting on calendar, price, SNAP and lag features. The lag features never go below 28 days, so no test row can see an actual value from inside the holdout. And we report bias alongside RMSE, because a stockout and overstock do not cost the same.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Gradient boosting was best on all three measures. RMSE is 2.66 against 3.34 for the seasonal naive, a 20.3 percent improvement, with the smallest bias at minus 0.06. That is in line with the M5 competition, where the winner also used gradient boosting and the top five beat the best benchmark by over 20 percent. Look at the weekday mean as well. It has the second best RMSE but under forecasts by 0.36 units per item day, which for a manager worried about stockouts makes it worse than its RMSE position suggests.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output layer. The dashboard is built on daily_sales_agg, 135,870 rows, rather than the 59 million row fact table, which would rescan on every filter change. You filter to a store and a category, read the 28-day forecast, compare it against stock on hand, and decide whether to order.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spent under ten dollars. We set the budget alert before creating any resources, with two dollar increments underneath so we could see where the spend was coming from. Parquet with Snappy keeps the data Athena scans low. Our heaviest query scanned 194 megabytes, and Athena charges five dollars a terabyte. Athena was not the cost risk. The risk was resources left running, and the teardown steps are documented.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same pipeline maps onto GCP without much difficulty. Cloud Storage replaces S3, Dataflow replaces Glue, BigQuery replaces Athena, and Looker Studio replaces QuickSight. Athena and BigQuery are the closest match, because both are serverless and charge per query. The main difference is that BigQuery has its own storage, so you would load the data into it, whereas Athena reads the files where they are. That suited a fixed dataset we did not want to duplicate. We chose AWS because it is the platform we used during the course.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 few limitations. The models are scoped to FOODS in California rather than all 30,490 series, because a single model covering every series runs into memory limits. We used RMSE instead of the competition's WRMSSE, which is reasonable at this scope as long as we say so. And the dataset is static, so we have built a working architecture rather than something running in production. If we carried on we would add scheduled ingestion, models per store, and probabilistic forecasts, because a stock decision is better served by a range. Everything is in the repository. Thank you.</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4a"/><Relationship Id="rId1" Type="http://schemas.microsoft.com/office/2007/relationships/media" Target="../media/media1.m4a"/><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2.m4a"/><Relationship Id="rId1" Type="http://schemas.microsoft.com/office/2007/relationships/media" Target="../media/media2.m4a"/><Relationship Id="rId5" Type="http://schemas.openxmlformats.org/officeDocument/2006/relationships/image" Target="../media/image1.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3.m4a"/><Relationship Id="rId1" Type="http://schemas.microsoft.com/office/2007/relationships/media" Target="../media/media3.m4a"/><Relationship Id="rId5" Type="http://schemas.openxmlformats.org/officeDocument/2006/relationships/image" Target="../media/image1.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4.m4a"/><Relationship Id="rId1" Type="http://schemas.microsoft.com/office/2007/relationships/media" Target="../media/media4.m4a"/><Relationship Id="rId6" Type="http://schemas.openxmlformats.org/officeDocument/2006/relationships/image" Target="../media/image1.png"/><Relationship Id="rId5"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5.m4a"/><Relationship Id="rId1" Type="http://schemas.microsoft.com/office/2007/relationships/media" Target="../media/media5.m4a"/><Relationship Id="rId6" Type="http://schemas.openxmlformats.org/officeDocument/2006/relationships/image" Target="../media/image1.png"/><Relationship Id="rId5" Type="http://schemas.openxmlformats.org/officeDocument/2006/relationships/image" Target="../media/image3.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10.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942"/>
        </a:solidFill>
        <a:effectLst/>
      </p:bgPr>
    </p:bg>
    <p:spTree>
      <p:nvGrpSpPr>
        <p:cNvPr id="1" name=""/>
        <p:cNvGrpSpPr/>
        <p:nvPr/>
      </p:nvGrpSpPr>
      <p:grpSpPr>
        <a:xfrm>
          <a:off x="0" y="0"/>
          <a:ext cx="0" cy="0"/>
          <a:chOff x="0" y="0"/>
          <a:chExt cx="0" cy="0"/>
        </a:xfrm>
      </p:grpSpPr>
      <p:sp>
        <p:nvSpPr>
          <p:cNvPr id="2" name="Shape 0"/>
          <p:cNvSpPr/>
          <p:nvPr/>
        </p:nvSpPr>
        <p:spPr>
          <a:xfrm>
            <a:off x="685800" y="1152144"/>
            <a:ext cx="1417320" cy="292608"/>
          </a:xfrm>
          <a:prstGeom prst="roundRect">
            <a:avLst>
              <a:gd name="adj" fmla="val 50000"/>
            </a:avLst>
          </a:prstGeom>
          <a:solidFill>
            <a:srgbClr val="1C4463"/>
          </a:solidFill>
          <a:ln w="12700">
            <a:solidFill>
              <a:srgbClr val="1C4463"/>
            </a:solidFill>
            <a:prstDash val="solid"/>
          </a:ln>
        </p:spPr>
        <p:txBody>
          <a:bodyPr/>
          <a:lstStyle/>
          <a:p>
            <a:endParaRPr lang="en-US"/>
          </a:p>
        </p:txBody>
      </p:sp>
      <p:sp>
        <p:nvSpPr>
          <p:cNvPr id="3" name="Text 1"/>
          <p:cNvSpPr/>
          <p:nvPr/>
        </p:nvSpPr>
        <p:spPr>
          <a:xfrm>
            <a:off x="685800" y="1152144"/>
            <a:ext cx="1417320" cy="292608"/>
          </a:xfrm>
          <a:prstGeom prst="rect">
            <a:avLst/>
          </a:prstGeom>
          <a:noFill/>
          <a:ln/>
        </p:spPr>
        <p:txBody>
          <a:bodyPr wrap="square" lIns="0" tIns="0" rIns="0" bIns="0" rtlCol="0" anchor="ctr"/>
          <a:lstStyle/>
          <a:p>
            <a:pPr marL="0" indent="0" algn="ctr">
              <a:buNone/>
            </a:pPr>
            <a:r>
              <a:rPr lang="en-US" sz="1000" b="1" kern="0" spc="140">
                <a:solidFill>
                  <a:srgbClr val="E8A33D"/>
                </a:solidFill>
                <a:latin typeface="Calibri" pitchFamily="34" charset="0"/>
                <a:ea typeface="Calibri" pitchFamily="34" charset="-122"/>
                <a:cs typeface="Calibri" pitchFamily="34" charset="-120"/>
              </a:rPr>
              <a:t>MGMT 599</a:t>
            </a:r>
            <a:endParaRPr lang="en-US" sz="1000"/>
          </a:p>
        </p:txBody>
      </p:sp>
      <p:sp>
        <p:nvSpPr>
          <p:cNvPr id="4" name="Text 2"/>
          <p:cNvSpPr/>
          <p:nvPr/>
        </p:nvSpPr>
        <p:spPr>
          <a:xfrm>
            <a:off x="658368" y="1636776"/>
            <a:ext cx="7863840" cy="658368"/>
          </a:xfrm>
          <a:prstGeom prst="rect">
            <a:avLst/>
          </a:prstGeom>
          <a:noFill/>
          <a:ln/>
        </p:spPr>
        <p:txBody>
          <a:bodyPr wrap="square" lIns="0" tIns="0" rIns="0" bIns="0" rtlCol="0" anchor="ctr"/>
          <a:lstStyle/>
          <a:p>
            <a:pPr marL="0" indent="0">
              <a:buNone/>
            </a:pPr>
            <a:r>
              <a:rPr lang="en-US" sz="4200" b="1">
                <a:solidFill>
                  <a:srgbClr val="FFFFFF"/>
                </a:solidFill>
                <a:latin typeface="Cambria" pitchFamily="34" charset="0"/>
                <a:ea typeface="Cambria" pitchFamily="34" charset="-122"/>
                <a:cs typeface="Cambria" pitchFamily="34" charset="-120"/>
              </a:rPr>
              <a:t>M5 Demand Forecasting</a:t>
            </a:r>
            <a:endParaRPr lang="en-US" sz="4200"/>
          </a:p>
        </p:txBody>
      </p:sp>
      <p:sp>
        <p:nvSpPr>
          <p:cNvPr id="5" name="Text 3"/>
          <p:cNvSpPr/>
          <p:nvPr/>
        </p:nvSpPr>
        <p:spPr>
          <a:xfrm>
            <a:off x="685800" y="2322576"/>
            <a:ext cx="7863840" cy="384048"/>
          </a:xfrm>
          <a:prstGeom prst="rect">
            <a:avLst/>
          </a:prstGeom>
          <a:noFill/>
          <a:ln/>
        </p:spPr>
        <p:txBody>
          <a:bodyPr wrap="square" lIns="0" tIns="0" rIns="0" bIns="0" rtlCol="0" anchor="ctr"/>
          <a:lstStyle/>
          <a:p>
            <a:pPr marL="0" indent="0">
              <a:buNone/>
            </a:pPr>
            <a:r>
              <a:rPr lang="en-US" sz="1900" i="1">
                <a:solidFill>
                  <a:srgbClr val="9FC4DC"/>
                </a:solidFill>
                <a:latin typeface="Cambria" pitchFamily="34" charset="0"/>
                <a:ea typeface="Cambria" pitchFamily="34" charset="-122"/>
                <a:cs typeface="Cambria" pitchFamily="34" charset="-120"/>
              </a:rPr>
              <a:t>A serverless analytics pipeline on AWS</a:t>
            </a:r>
            <a:endParaRPr lang="en-US" sz="1900"/>
          </a:p>
        </p:txBody>
      </p:sp>
      <p:sp>
        <p:nvSpPr>
          <p:cNvPr id="6" name="Text 4"/>
          <p:cNvSpPr/>
          <p:nvPr/>
        </p:nvSpPr>
        <p:spPr>
          <a:xfrm>
            <a:off x="685800" y="2889504"/>
            <a:ext cx="7863840" cy="274320"/>
          </a:xfrm>
          <a:prstGeom prst="rect">
            <a:avLst/>
          </a:prstGeom>
          <a:noFill/>
          <a:ln/>
        </p:spPr>
        <p:txBody>
          <a:bodyPr wrap="square" lIns="0" tIns="0" rIns="0" bIns="0" rtlCol="0" anchor="ctr"/>
          <a:lstStyle/>
          <a:p>
            <a:pPr marL="0" indent="0">
              <a:buNone/>
            </a:pPr>
            <a:r>
              <a:rPr lang="en-US" sz="1250">
                <a:solidFill>
                  <a:srgbClr val="E8A33D"/>
                </a:solidFill>
                <a:latin typeface="Calibri" pitchFamily="34" charset="0"/>
                <a:ea typeface="Calibri" pitchFamily="34" charset="-122"/>
                <a:cs typeface="Calibri" pitchFamily="34" charset="-120"/>
              </a:rPr>
              <a:t>59.2M rows  ·  3,049 products  ·  10 stores  ·  1,941 days</a:t>
            </a:r>
            <a:endParaRPr lang="en-US" sz="1250"/>
          </a:p>
        </p:txBody>
      </p:sp>
      <p:sp>
        <p:nvSpPr>
          <p:cNvPr id="7" name="Shape 5"/>
          <p:cNvSpPr/>
          <p:nvPr/>
        </p:nvSpPr>
        <p:spPr>
          <a:xfrm>
            <a:off x="713232" y="3465576"/>
            <a:ext cx="3017520" cy="18288"/>
          </a:xfrm>
          <a:prstGeom prst="rect">
            <a:avLst/>
          </a:prstGeom>
          <a:solidFill>
            <a:srgbClr val="2E5570"/>
          </a:solidFill>
          <a:ln w="12700">
            <a:solidFill>
              <a:srgbClr val="2E5570"/>
            </a:solidFill>
            <a:prstDash val="solid"/>
          </a:ln>
        </p:spPr>
        <p:txBody>
          <a:bodyPr/>
          <a:lstStyle/>
          <a:p>
            <a:endParaRPr lang="en-US"/>
          </a:p>
        </p:txBody>
      </p:sp>
      <p:sp>
        <p:nvSpPr>
          <p:cNvPr id="8" name="Text 6"/>
          <p:cNvSpPr/>
          <p:nvPr/>
        </p:nvSpPr>
        <p:spPr>
          <a:xfrm>
            <a:off x="685800" y="3621024"/>
            <a:ext cx="7863840" cy="274320"/>
          </a:xfrm>
          <a:prstGeom prst="rect">
            <a:avLst/>
          </a:prstGeom>
          <a:noFill/>
          <a:ln/>
        </p:spPr>
        <p:txBody>
          <a:bodyPr wrap="square" lIns="0" tIns="0" rIns="0" bIns="0" rtlCol="0" anchor="ctr"/>
          <a:lstStyle/>
          <a:p>
            <a:pPr marL="0" indent="0">
              <a:buNone/>
            </a:pPr>
            <a:r>
              <a:rPr lang="en-US" sz="1300" b="1">
                <a:solidFill>
                  <a:srgbClr val="FFFFFF"/>
                </a:solidFill>
                <a:latin typeface="Calibri" pitchFamily="34" charset="0"/>
                <a:ea typeface="Calibri" pitchFamily="34" charset="-122"/>
                <a:cs typeface="Calibri" pitchFamily="34" charset="-120"/>
              </a:rPr>
              <a:t>Jaewon Jang   ·   Jason Tofte   ·   Ross Roach</a:t>
            </a:r>
            <a:endParaRPr lang="en-US" sz="1300"/>
          </a:p>
        </p:txBody>
      </p:sp>
      <p:sp>
        <p:nvSpPr>
          <p:cNvPr id="9" name="Text 7"/>
          <p:cNvSpPr/>
          <p:nvPr/>
        </p:nvSpPr>
        <p:spPr>
          <a:xfrm>
            <a:off x="685800" y="3950208"/>
            <a:ext cx="7863840" cy="256032"/>
          </a:xfrm>
          <a:prstGeom prst="rect">
            <a:avLst/>
          </a:prstGeom>
          <a:noFill/>
          <a:ln/>
        </p:spPr>
        <p:txBody>
          <a:bodyPr wrap="square" lIns="0" tIns="0" rIns="0" bIns="0" rtlCol="0" anchor="ctr"/>
          <a:lstStyle/>
          <a:p>
            <a:pPr marL="0" indent="0">
              <a:buNone/>
            </a:pPr>
            <a:r>
              <a:rPr lang="en-US" sz="1050">
                <a:solidFill>
                  <a:srgbClr val="7FA3BC"/>
                </a:solidFill>
                <a:latin typeface="Calibri" pitchFamily="34" charset="0"/>
                <a:ea typeface="Calibri" pitchFamily="34" charset="-122"/>
                <a:cs typeface="Calibri" pitchFamily="34" charset="-120"/>
              </a:rPr>
              <a:t>Summer 2026  ·  Supply Chain Track  ·  Final Project</a:t>
            </a:r>
            <a:endParaRPr lang="en-US" sz="1050"/>
          </a:p>
        </p:txBody>
      </p:sp>
      <p:pic>
        <p:nvPicPr>
          <p:cNvPr id="26" name="Audio 25">
            <a:extLst>
              <a:ext uri="{FF2B5EF4-FFF2-40B4-BE49-F238E27FC236}">
                <a16:creationId xmlns:a16="http://schemas.microsoft.com/office/drawing/2014/main" id="{54B376D0-EED3-978F-D615-DFB96C6D3E58}"/>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78800" y="4178300"/>
            <a:ext cx="812800" cy="8128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23387"/>
    </mc:Choice>
    <mc:Fallback xmlns="">
      <p:transition spd="slow" advTm="2338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6"/>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292608"/>
            <a:ext cx="8138160" cy="219456"/>
          </a:xfrm>
          <a:prstGeom prst="rect">
            <a:avLst/>
          </a:prstGeom>
          <a:noFill/>
          <a:ln/>
        </p:spPr>
        <p:txBody>
          <a:bodyPr wrap="square" lIns="0" tIns="0" rIns="0" bIns="0" rtlCol="0" anchor="ctr"/>
          <a:lstStyle/>
          <a:p>
            <a:pPr marL="0" indent="0">
              <a:buNone/>
            </a:pPr>
            <a:r>
              <a:rPr lang="en-US" sz="1100" b="1" kern="0" spc="160">
                <a:solidFill>
                  <a:srgbClr val="2E86AB"/>
                </a:solidFill>
                <a:latin typeface="Calibri" pitchFamily="34" charset="0"/>
                <a:ea typeface="Calibri" pitchFamily="34" charset="-122"/>
                <a:cs typeface="Calibri" pitchFamily="34" charset="-120"/>
              </a:rPr>
              <a:t>THE BUSINESS PROBLEM</a:t>
            </a:r>
            <a:endParaRPr lang="en-US" sz="1100"/>
          </a:p>
        </p:txBody>
      </p:sp>
      <p:sp>
        <p:nvSpPr>
          <p:cNvPr id="3" name="Text 1"/>
          <p:cNvSpPr/>
          <p:nvPr/>
        </p:nvSpPr>
        <p:spPr>
          <a:xfrm>
            <a:off x="502920" y="530352"/>
            <a:ext cx="8138160" cy="502920"/>
          </a:xfrm>
          <a:prstGeom prst="rect">
            <a:avLst/>
          </a:prstGeom>
          <a:noFill/>
          <a:ln/>
        </p:spPr>
        <p:txBody>
          <a:bodyPr wrap="square" lIns="0" tIns="0" rIns="0" bIns="0" rtlCol="0" anchor="ctr"/>
          <a:lstStyle/>
          <a:p>
            <a:pPr marL="0" indent="0">
              <a:buNone/>
            </a:pPr>
            <a:r>
              <a:rPr lang="en-US" sz="2800" b="1">
                <a:solidFill>
                  <a:srgbClr val="0F2942"/>
                </a:solidFill>
                <a:latin typeface="Cambria" pitchFamily="34" charset="0"/>
                <a:ea typeface="Cambria" pitchFamily="34" charset="-122"/>
                <a:cs typeface="Cambria" pitchFamily="34" charset="-120"/>
              </a:rPr>
              <a:t>The inventory decision we are supporting</a:t>
            </a:r>
            <a:endParaRPr lang="en-US" sz="2800"/>
          </a:p>
        </p:txBody>
      </p:sp>
      <p:sp>
        <p:nvSpPr>
          <p:cNvPr id="6" name="Shape 4"/>
          <p:cNvSpPr/>
          <p:nvPr/>
        </p:nvSpPr>
        <p:spPr>
          <a:xfrm>
            <a:off x="502920" y="1280160"/>
            <a:ext cx="3931920" cy="1417320"/>
          </a:xfrm>
          <a:prstGeom prst="roundRect">
            <a:avLst>
              <a:gd name="adj" fmla="val 3871"/>
            </a:avLst>
          </a:prstGeom>
          <a:solidFill>
            <a:srgbClr val="F4F7FA"/>
          </a:solidFill>
          <a:ln w="9525">
            <a:solidFill>
              <a:srgbClr val="D9E2EA"/>
            </a:solidFill>
            <a:prstDash val="solid"/>
          </a:ln>
        </p:spPr>
        <p:txBody>
          <a:bodyPr/>
          <a:lstStyle/>
          <a:p>
            <a:endParaRPr lang="en-US"/>
          </a:p>
        </p:txBody>
      </p:sp>
      <p:sp>
        <p:nvSpPr>
          <p:cNvPr id="7" name="Text 5"/>
          <p:cNvSpPr/>
          <p:nvPr/>
        </p:nvSpPr>
        <p:spPr>
          <a:xfrm>
            <a:off x="777240" y="1463040"/>
            <a:ext cx="3383280" cy="274320"/>
          </a:xfrm>
          <a:prstGeom prst="rect">
            <a:avLst/>
          </a:prstGeom>
          <a:noFill/>
          <a:ln/>
        </p:spPr>
        <p:txBody>
          <a:bodyPr wrap="square" lIns="0" tIns="0" rIns="0" bIns="0" rtlCol="0" anchor="ctr"/>
          <a:lstStyle/>
          <a:p>
            <a:pPr marL="0" indent="0">
              <a:buNone/>
            </a:pPr>
            <a:r>
              <a:rPr lang="en-US" sz="1500" b="1">
                <a:solidFill>
                  <a:srgbClr val="0F2942"/>
                </a:solidFill>
                <a:latin typeface="Calibri" pitchFamily="34" charset="0"/>
                <a:ea typeface="Calibri" pitchFamily="34" charset="-122"/>
                <a:cs typeface="Calibri" pitchFamily="34" charset="-120"/>
              </a:rPr>
              <a:t>Order too much</a:t>
            </a:r>
            <a:endParaRPr lang="en-US" sz="1500"/>
          </a:p>
        </p:txBody>
      </p:sp>
      <p:sp>
        <p:nvSpPr>
          <p:cNvPr id="8" name="Text 6"/>
          <p:cNvSpPr/>
          <p:nvPr/>
        </p:nvSpPr>
        <p:spPr>
          <a:xfrm>
            <a:off x="777240" y="1783080"/>
            <a:ext cx="3429000" cy="777240"/>
          </a:xfrm>
          <a:prstGeom prst="rect">
            <a:avLst/>
          </a:prstGeom>
          <a:noFill/>
          <a:ln/>
        </p:spPr>
        <p:txBody>
          <a:bodyPr wrap="square" lIns="0" tIns="0" rIns="0" bIns="0" rtlCol="0" anchor="ctr"/>
          <a:lstStyle/>
          <a:p>
            <a:pPr marL="0" indent="0">
              <a:buNone/>
            </a:pPr>
            <a:r>
              <a:rPr lang="en-US" sz="1250">
                <a:solidFill>
                  <a:srgbClr val="5A6B7C"/>
                </a:solidFill>
                <a:latin typeface="Calibri" pitchFamily="34" charset="0"/>
                <a:ea typeface="Calibri" pitchFamily="34" charset="-122"/>
                <a:cs typeface="Calibri" pitchFamily="34" charset="-120"/>
              </a:rPr>
              <a:t>Cash and shelf space are tied up in product that is not selling.</a:t>
            </a:r>
            <a:endParaRPr lang="en-US" sz="1250"/>
          </a:p>
        </p:txBody>
      </p:sp>
      <p:sp>
        <p:nvSpPr>
          <p:cNvPr id="9" name="Shape 7"/>
          <p:cNvSpPr/>
          <p:nvPr/>
        </p:nvSpPr>
        <p:spPr>
          <a:xfrm>
            <a:off x="4709160" y="1280160"/>
            <a:ext cx="3931920" cy="1417320"/>
          </a:xfrm>
          <a:prstGeom prst="roundRect">
            <a:avLst>
              <a:gd name="adj" fmla="val 3871"/>
            </a:avLst>
          </a:prstGeom>
          <a:solidFill>
            <a:srgbClr val="F4F7FA"/>
          </a:solidFill>
          <a:ln w="9525">
            <a:solidFill>
              <a:srgbClr val="D9E2EA"/>
            </a:solidFill>
            <a:prstDash val="solid"/>
          </a:ln>
        </p:spPr>
        <p:txBody>
          <a:bodyPr/>
          <a:lstStyle/>
          <a:p>
            <a:endParaRPr lang="en-US"/>
          </a:p>
        </p:txBody>
      </p:sp>
      <p:sp>
        <p:nvSpPr>
          <p:cNvPr id="10" name="Text 8"/>
          <p:cNvSpPr/>
          <p:nvPr/>
        </p:nvSpPr>
        <p:spPr>
          <a:xfrm>
            <a:off x="4983480" y="1463040"/>
            <a:ext cx="3383280" cy="274320"/>
          </a:xfrm>
          <a:prstGeom prst="rect">
            <a:avLst/>
          </a:prstGeom>
          <a:noFill/>
          <a:ln/>
        </p:spPr>
        <p:txBody>
          <a:bodyPr wrap="square" lIns="0" tIns="0" rIns="0" bIns="0" rtlCol="0" anchor="ctr"/>
          <a:lstStyle/>
          <a:p>
            <a:pPr marL="0" indent="0">
              <a:buNone/>
            </a:pPr>
            <a:r>
              <a:rPr lang="en-US" sz="1500" b="1">
                <a:solidFill>
                  <a:srgbClr val="0F2942"/>
                </a:solidFill>
                <a:latin typeface="Calibri" pitchFamily="34" charset="0"/>
                <a:ea typeface="Calibri" pitchFamily="34" charset="-122"/>
                <a:cs typeface="Calibri" pitchFamily="34" charset="-120"/>
              </a:rPr>
              <a:t>Order too little</a:t>
            </a:r>
            <a:endParaRPr lang="en-US" sz="1500"/>
          </a:p>
        </p:txBody>
      </p:sp>
      <p:sp>
        <p:nvSpPr>
          <p:cNvPr id="11" name="Text 9"/>
          <p:cNvSpPr/>
          <p:nvPr/>
        </p:nvSpPr>
        <p:spPr>
          <a:xfrm>
            <a:off x="4983480" y="1783080"/>
            <a:ext cx="3429000" cy="777240"/>
          </a:xfrm>
          <a:prstGeom prst="rect">
            <a:avLst/>
          </a:prstGeom>
          <a:noFill/>
          <a:ln/>
        </p:spPr>
        <p:txBody>
          <a:bodyPr wrap="square" lIns="0" tIns="0" rIns="0" bIns="0" rtlCol="0" anchor="ctr"/>
          <a:lstStyle/>
          <a:p>
            <a:pPr marL="0" indent="0">
              <a:buNone/>
            </a:pPr>
            <a:r>
              <a:rPr lang="en-US" sz="1250">
                <a:solidFill>
                  <a:srgbClr val="5A6B7C"/>
                </a:solidFill>
                <a:latin typeface="Calibri" pitchFamily="34" charset="0"/>
                <a:ea typeface="Calibri" pitchFamily="34" charset="-122"/>
                <a:cs typeface="Calibri" pitchFamily="34" charset="-120"/>
              </a:rPr>
              <a:t>The sale is lost, and the customer may buy it somewhere else.</a:t>
            </a:r>
            <a:endParaRPr lang="en-US" sz="1250"/>
          </a:p>
        </p:txBody>
      </p:sp>
      <p:sp>
        <p:nvSpPr>
          <p:cNvPr id="12" name="Shape 10"/>
          <p:cNvSpPr/>
          <p:nvPr/>
        </p:nvSpPr>
        <p:spPr>
          <a:xfrm>
            <a:off x="502920" y="2880360"/>
            <a:ext cx="8138160" cy="841248"/>
          </a:xfrm>
          <a:prstGeom prst="roundRect">
            <a:avLst>
              <a:gd name="adj" fmla="val 6522"/>
            </a:avLst>
          </a:prstGeom>
          <a:solidFill>
            <a:srgbClr val="FDF4E6"/>
          </a:solidFill>
          <a:ln w="12700">
            <a:solidFill>
              <a:srgbClr val="E8A33D"/>
            </a:solidFill>
            <a:prstDash val="solid"/>
          </a:ln>
        </p:spPr>
        <p:txBody>
          <a:bodyPr/>
          <a:lstStyle/>
          <a:p>
            <a:endParaRPr lang="en-US"/>
          </a:p>
        </p:txBody>
      </p:sp>
      <p:sp>
        <p:nvSpPr>
          <p:cNvPr id="13" name="Text 11"/>
          <p:cNvSpPr/>
          <p:nvPr/>
        </p:nvSpPr>
        <p:spPr>
          <a:xfrm>
            <a:off x="777240" y="3017520"/>
            <a:ext cx="7589520" cy="566928"/>
          </a:xfrm>
          <a:prstGeom prst="rect">
            <a:avLst/>
          </a:prstGeom>
          <a:noFill/>
          <a:ln/>
        </p:spPr>
        <p:txBody>
          <a:bodyPr wrap="square" lIns="0" tIns="0" rIns="0" bIns="0" rtlCol="0" anchor="ctr"/>
          <a:lstStyle/>
          <a:p>
            <a:pPr marL="0" indent="0">
              <a:buNone/>
            </a:pPr>
            <a:r>
              <a:rPr lang="en-US" sz="1300" b="1">
                <a:solidFill>
                  <a:srgbClr val="0F2942"/>
                </a:solidFill>
                <a:latin typeface="Calibri" pitchFamily="34" charset="0"/>
                <a:ea typeface="Calibri" pitchFamily="34" charset="-122"/>
                <a:cs typeface="Calibri" pitchFamily="34" charset="-120"/>
              </a:rPr>
              <a:t>These two costs are not equal. </a:t>
            </a:r>
            <a:r>
              <a:rPr lang="en-US" sz="1300">
                <a:solidFill>
                  <a:srgbClr val="1B2B3A"/>
                </a:solidFill>
                <a:latin typeface="Calibri" pitchFamily="34" charset="0"/>
                <a:ea typeface="Calibri" pitchFamily="34" charset="-122"/>
                <a:cs typeface="Calibri" pitchFamily="34" charset="-120"/>
              </a:rPr>
              <a:t>A stockout usually costs more than the same unit of excess inventory, which is why we report forecast bias as well as error.</a:t>
            </a:r>
            <a:endParaRPr lang="en-US" sz="1300"/>
          </a:p>
        </p:txBody>
      </p:sp>
      <p:sp>
        <p:nvSpPr>
          <p:cNvPr id="14" name="Text 12"/>
          <p:cNvSpPr/>
          <p:nvPr/>
        </p:nvSpPr>
        <p:spPr>
          <a:xfrm>
            <a:off x="502920" y="3886200"/>
            <a:ext cx="8138160" cy="548640"/>
          </a:xfrm>
          <a:prstGeom prst="rect">
            <a:avLst/>
          </a:prstGeom>
          <a:noFill/>
          <a:ln/>
        </p:spPr>
        <p:txBody>
          <a:bodyPr wrap="square" lIns="0" tIns="0" rIns="0" bIns="0" rtlCol="0" anchor="ctr"/>
          <a:lstStyle/>
          <a:p>
            <a:pPr marL="0" indent="0">
              <a:buNone/>
            </a:pPr>
            <a:r>
              <a:rPr lang="en-US" sz="1200" i="1">
                <a:solidFill>
                  <a:srgbClr val="5A6B7C"/>
                </a:solidFill>
                <a:latin typeface="Calibri" pitchFamily="34" charset="0"/>
                <a:ea typeface="Calibri" pitchFamily="34" charset="-122"/>
                <a:cs typeface="Calibri" pitchFamily="34" charset="-120"/>
              </a:rPr>
              <a:t>Stakeholder: the person who sets store-level stock levels. At the moment that decision is mostly based on judgement, and our goal is to give them a 28-day projection to work from.</a:t>
            </a:r>
            <a:endParaRPr lang="en-US" sz="1200"/>
          </a:p>
        </p:txBody>
      </p:sp>
      <p:sp>
        <p:nvSpPr>
          <p:cNvPr id="15" name="Text 13"/>
          <p:cNvSpPr/>
          <p:nvPr/>
        </p:nvSpPr>
        <p:spPr>
          <a:xfrm>
            <a:off x="502920" y="4718304"/>
            <a:ext cx="5486400" cy="228600"/>
          </a:xfrm>
          <a:prstGeom prst="rect">
            <a:avLst/>
          </a:prstGeom>
          <a:noFill/>
          <a:ln/>
        </p:spPr>
        <p:txBody>
          <a:bodyPr wrap="square" lIns="0" tIns="0" rIns="0" bIns="0" rtlCol="0" anchor="ctr"/>
          <a:lstStyle/>
          <a:p>
            <a:pPr marL="0" indent="0">
              <a:buNone/>
            </a:pPr>
            <a:r>
              <a:rPr lang="en-US" sz="850">
                <a:solidFill>
                  <a:srgbClr val="9AABB8"/>
                </a:solidFill>
                <a:latin typeface="Calibri" pitchFamily="34" charset="0"/>
                <a:ea typeface="Calibri" pitchFamily="34" charset="-122"/>
                <a:cs typeface="Calibri" pitchFamily="34" charset="-120"/>
              </a:rPr>
              <a:t>Group 5  ·  M5 Demand Forecasting on AWS</a:t>
            </a:r>
            <a:endParaRPr lang="en-US" sz="850"/>
          </a:p>
        </p:txBody>
      </p:sp>
      <p:sp>
        <p:nvSpPr>
          <p:cNvPr id="16" name="Text 14"/>
          <p:cNvSpPr/>
          <p:nvPr/>
        </p:nvSpPr>
        <p:spPr>
          <a:xfrm>
            <a:off x="8229600" y="4718304"/>
            <a:ext cx="411480" cy="228600"/>
          </a:xfrm>
          <a:prstGeom prst="rect">
            <a:avLst/>
          </a:prstGeom>
          <a:noFill/>
          <a:ln/>
        </p:spPr>
        <p:txBody>
          <a:bodyPr wrap="square" lIns="0" tIns="0" rIns="0" bIns="0" rtlCol="0" anchor="ctr"/>
          <a:lstStyle/>
          <a:p>
            <a:pPr marL="0" indent="0" algn="r">
              <a:buNone/>
            </a:pPr>
            <a:r>
              <a:rPr lang="en-US" sz="850">
                <a:solidFill>
                  <a:srgbClr val="9AABB8"/>
                </a:solidFill>
                <a:latin typeface="Calibri" pitchFamily="34" charset="0"/>
                <a:ea typeface="Calibri" pitchFamily="34" charset="-122"/>
                <a:cs typeface="Calibri" pitchFamily="34" charset="-120"/>
              </a:rPr>
              <a:t>2</a:t>
            </a:r>
            <a:endParaRPr lang="en-US" sz="850"/>
          </a:p>
        </p:txBody>
      </p:sp>
      <p:pic>
        <p:nvPicPr>
          <p:cNvPr id="35" name="Audio 34">
            <a:extLst>
              <a:ext uri="{FF2B5EF4-FFF2-40B4-BE49-F238E27FC236}">
                <a16:creationId xmlns:a16="http://schemas.microsoft.com/office/drawing/2014/main" id="{152AA4E6-EB1B-30E7-68CB-FEB5FC45AE1C}"/>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78800" y="4178300"/>
            <a:ext cx="812800" cy="8128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43171"/>
    </mc:Choice>
    <mc:Fallback xmlns="">
      <p:transition spd="slow" advTm="4317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5"/>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2920" y="292608"/>
            <a:ext cx="8138160" cy="219456"/>
          </a:xfrm>
          <a:prstGeom prst="rect">
            <a:avLst/>
          </a:prstGeom>
          <a:noFill/>
          <a:ln/>
        </p:spPr>
        <p:txBody>
          <a:bodyPr wrap="square" lIns="0" tIns="0" rIns="0" bIns="0" rtlCol="0" anchor="ctr"/>
          <a:lstStyle/>
          <a:p>
            <a:pPr marL="0" indent="0">
              <a:buNone/>
            </a:pPr>
            <a:r>
              <a:rPr lang="en-US" sz="1100" b="1" kern="0" spc="160">
                <a:solidFill>
                  <a:srgbClr val="2E86AB"/>
                </a:solidFill>
                <a:latin typeface="Calibri" pitchFamily="34" charset="0"/>
                <a:ea typeface="Calibri" pitchFamily="34" charset="-122"/>
                <a:cs typeface="Calibri" pitchFamily="34" charset="-120"/>
              </a:rPr>
              <a:t>THE DATASET</a:t>
            </a:r>
            <a:endParaRPr lang="en-US" sz="1100"/>
          </a:p>
        </p:txBody>
      </p:sp>
      <p:sp>
        <p:nvSpPr>
          <p:cNvPr id="3" name="Text 1"/>
          <p:cNvSpPr/>
          <p:nvPr/>
        </p:nvSpPr>
        <p:spPr>
          <a:xfrm>
            <a:off x="502920" y="530352"/>
            <a:ext cx="8138160" cy="502920"/>
          </a:xfrm>
          <a:prstGeom prst="rect">
            <a:avLst/>
          </a:prstGeom>
          <a:noFill/>
          <a:ln/>
        </p:spPr>
        <p:txBody>
          <a:bodyPr wrap="square" lIns="0" tIns="0" rIns="0" bIns="0" rtlCol="0" anchor="ctr"/>
          <a:lstStyle/>
          <a:p>
            <a:pPr marL="0" indent="0">
              <a:buNone/>
            </a:pPr>
            <a:r>
              <a:rPr lang="en-US" sz="2800" b="1">
                <a:solidFill>
                  <a:srgbClr val="0F2942"/>
                </a:solidFill>
                <a:latin typeface="Cambria" pitchFamily="34" charset="0"/>
                <a:ea typeface="Cambria" pitchFamily="34" charset="-122"/>
                <a:cs typeface="Cambria" pitchFamily="34" charset="-120"/>
              </a:rPr>
              <a:t>Walmart M5 Forecasting Accuracy (Kaggle)</a:t>
            </a:r>
            <a:endParaRPr lang="en-US" sz="2800"/>
          </a:p>
        </p:txBody>
      </p:sp>
      <p:sp>
        <p:nvSpPr>
          <p:cNvPr id="6" name="Text 4"/>
          <p:cNvSpPr/>
          <p:nvPr/>
        </p:nvSpPr>
        <p:spPr>
          <a:xfrm>
            <a:off x="502920" y="1234440"/>
            <a:ext cx="1920240" cy="566928"/>
          </a:xfrm>
          <a:prstGeom prst="rect">
            <a:avLst/>
          </a:prstGeom>
          <a:noFill/>
          <a:ln/>
        </p:spPr>
        <p:txBody>
          <a:bodyPr wrap="square" lIns="0" tIns="0" rIns="0" bIns="0" rtlCol="0" anchor="ctr"/>
          <a:lstStyle/>
          <a:p>
            <a:pPr marL="0" indent="0" algn="l">
              <a:buNone/>
            </a:pPr>
            <a:r>
              <a:rPr lang="en-US" sz="3800" b="1">
                <a:solidFill>
                  <a:srgbClr val="0F2942"/>
                </a:solidFill>
                <a:latin typeface="Cambria" pitchFamily="34" charset="0"/>
                <a:ea typeface="Cambria" pitchFamily="34" charset="-122"/>
                <a:cs typeface="Cambria" pitchFamily="34" charset="-120"/>
              </a:rPr>
              <a:t>3,049</a:t>
            </a:r>
            <a:endParaRPr lang="en-US" sz="3800"/>
          </a:p>
        </p:txBody>
      </p:sp>
      <p:sp>
        <p:nvSpPr>
          <p:cNvPr id="7" name="Text 5"/>
          <p:cNvSpPr/>
          <p:nvPr/>
        </p:nvSpPr>
        <p:spPr>
          <a:xfrm>
            <a:off x="502920" y="1783080"/>
            <a:ext cx="1920240" cy="457200"/>
          </a:xfrm>
          <a:prstGeom prst="rect">
            <a:avLst/>
          </a:prstGeom>
          <a:noFill/>
          <a:ln/>
        </p:spPr>
        <p:txBody>
          <a:bodyPr wrap="square" lIns="0" tIns="0" rIns="0" bIns="0" rtlCol="0" anchor="ctr"/>
          <a:lstStyle/>
          <a:p>
            <a:pPr marL="0" indent="0" algn="l">
              <a:buNone/>
            </a:pPr>
            <a:r>
              <a:rPr lang="en-US" sz="1100">
                <a:solidFill>
                  <a:srgbClr val="5A6B7C"/>
                </a:solidFill>
                <a:latin typeface="Calibri" pitchFamily="34" charset="0"/>
                <a:ea typeface="Calibri" pitchFamily="34" charset="-122"/>
                <a:cs typeface="Calibri" pitchFamily="34" charset="-120"/>
              </a:rPr>
              <a:t>products</a:t>
            </a:r>
            <a:endParaRPr lang="en-US" sz="1100"/>
          </a:p>
        </p:txBody>
      </p:sp>
      <p:sp>
        <p:nvSpPr>
          <p:cNvPr id="8" name="Text 6"/>
          <p:cNvSpPr/>
          <p:nvPr/>
        </p:nvSpPr>
        <p:spPr>
          <a:xfrm>
            <a:off x="2514600" y="1234440"/>
            <a:ext cx="1920240" cy="566928"/>
          </a:xfrm>
          <a:prstGeom prst="rect">
            <a:avLst/>
          </a:prstGeom>
          <a:noFill/>
          <a:ln/>
        </p:spPr>
        <p:txBody>
          <a:bodyPr wrap="square" lIns="0" tIns="0" rIns="0" bIns="0" rtlCol="0" anchor="ctr"/>
          <a:lstStyle/>
          <a:p>
            <a:pPr marL="0" indent="0" algn="l">
              <a:buNone/>
            </a:pPr>
            <a:r>
              <a:rPr lang="en-US" sz="3800" b="1">
                <a:solidFill>
                  <a:srgbClr val="0F2942"/>
                </a:solidFill>
                <a:latin typeface="Cambria" pitchFamily="34" charset="0"/>
                <a:ea typeface="Cambria" pitchFamily="34" charset="-122"/>
                <a:cs typeface="Cambria" pitchFamily="34" charset="-120"/>
              </a:rPr>
              <a:t>10</a:t>
            </a:r>
            <a:endParaRPr lang="en-US" sz="3800"/>
          </a:p>
        </p:txBody>
      </p:sp>
      <p:sp>
        <p:nvSpPr>
          <p:cNvPr id="9" name="Text 7"/>
          <p:cNvSpPr/>
          <p:nvPr/>
        </p:nvSpPr>
        <p:spPr>
          <a:xfrm>
            <a:off x="2514600" y="1783080"/>
            <a:ext cx="1920240" cy="457200"/>
          </a:xfrm>
          <a:prstGeom prst="rect">
            <a:avLst/>
          </a:prstGeom>
          <a:noFill/>
          <a:ln/>
        </p:spPr>
        <p:txBody>
          <a:bodyPr wrap="square" lIns="0" tIns="0" rIns="0" bIns="0" rtlCol="0" anchor="ctr"/>
          <a:lstStyle/>
          <a:p>
            <a:pPr marL="0" indent="0" algn="l">
              <a:buNone/>
            </a:pPr>
            <a:r>
              <a:rPr lang="en-US" sz="1100">
                <a:solidFill>
                  <a:srgbClr val="5A6B7C"/>
                </a:solidFill>
                <a:latin typeface="Calibri" pitchFamily="34" charset="0"/>
                <a:ea typeface="Calibri" pitchFamily="34" charset="-122"/>
                <a:cs typeface="Calibri" pitchFamily="34" charset="-120"/>
              </a:rPr>
              <a:t>stores across CA, TX, WI</a:t>
            </a:r>
            <a:endParaRPr lang="en-US" sz="1100"/>
          </a:p>
        </p:txBody>
      </p:sp>
      <p:sp>
        <p:nvSpPr>
          <p:cNvPr id="10" name="Text 8"/>
          <p:cNvSpPr/>
          <p:nvPr/>
        </p:nvSpPr>
        <p:spPr>
          <a:xfrm>
            <a:off x="4526280" y="1234440"/>
            <a:ext cx="1920240" cy="566928"/>
          </a:xfrm>
          <a:prstGeom prst="rect">
            <a:avLst/>
          </a:prstGeom>
          <a:noFill/>
          <a:ln/>
        </p:spPr>
        <p:txBody>
          <a:bodyPr wrap="square" lIns="0" tIns="0" rIns="0" bIns="0" rtlCol="0" anchor="ctr"/>
          <a:lstStyle/>
          <a:p>
            <a:pPr marL="0" indent="0" algn="l">
              <a:buNone/>
            </a:pPr>
            <a:r>
              <a:rPr lang="en-US" sz="3800" b="1">
                <a:solidFill>
                  <a:srgbClr val="0F2942"/>
                </a:solidFill>
                <a:latin typeface="Cambria" pitchFamily="34" charset="0"/>
                <a:ea typeface="Cambria" pitchFamily="34" charset="-122"/>
                <a:cs typeface="Cambria" pitchFamily="34" charset="-120"/>
              </a:rPr>
              <a:t>1,941</a:t>
            </a:r>
            <a:endParaRPr lang="en-US" sz="3800"/>
          </a:p>
        </p:txBody>
      </p:sp>
      <p:sp>
        <p:nvSpPr>
          <p:cNvPr id="11" name="Text 9"/>
          <p:cNvSpPr/>
          <p:nvPr/>
        </p:nvSpPr>
        <p:spPr>
          <a:xfrm>
            <a:off x="4526280" y="1783080"/>
            <a:ext cx="1920240" cy="457200"/>
          </a:xfrm>
          <a:prstGeom prst="rect">
            <a:avLst/>
          </a:prstGeom>
          <a:noFill/>
          <a:ln/>
        </p:spPr>
        <p:txBody>
          <a:bodyPr wrap="square" lIns="0" tIns="0" rIns="0" bIns="0" rtlCol="0" anchor="ctr"/>
          <a:lstStyle/>
          <a:p>
            <a:pPr marL="0" indent="0" algn="l">
              <a:buNone/>
            </a:pPr>
            <a:r>
              <a:rPr lang="en-US" sz="1100">
                <a:solidFill>
                  <a:srgbClr val="5A6B7C"/>
                </a:solidFill>
                <a:latin typeface="Calibri" pitchFamily="34" charset="0"/>
                <a:ea typeface="Calibri" pitchFamily="34" charset="-122"/>
                <a:cs typeface="Calibri" pitchFamily="34" charset="-120"/>
              </a:rPr>
              <a:t>days of history</a:t>
            </a:r>
            <a:endParaRPr lang="en-US" sz="1100"/>
          </a:p>
        </p:txBody>
      </p:sp>
      <p:sp>
        <p:nvSpPr>
          <p:cNvPr id="12" name="Text 10"/>
          <p:cNvSpPr/>
          <p:nvPr/>
        </p:nvSpPr>
        <p:spPr>
          <a:xfrm>
            <a:off x="6537960" y="1234440"/>
            <a:ext cx="2103120" cy="566928"/>
          </a:xfrm>
          <a:prstGeom prst="rect">
            <a:avLst/>
          </a:prstGeom>
          <a:noFill/>
          <a:ln/>
        </p:spPr>
        <p:txBody>
          <a:bodyPr wrap="square" lIns="0" tIns="0" rIns="0" bIns="0" rtlCol="0" anchor="ctr"/>
          <a:lstStyle/>
          <a:p>
            <a:pPr marL="0" indent="0" algn="l">
              <a:buNone/>
            </a:pPr>
            <a:r>
              <a:rPr lang="en-US" sz="3800" b="1">
                <a:solidFill>
                  <a:srgbClr val="2E86AB"/>
                </a:solidFill>
                <a:latin typeface="Cambria" pitchFamily="34" charset="0"/>
                <a:ea typeface="Cambria" pitchFamily="34" charset="-122"/>
                <a:cs typeface="Cambria" pitchFamily="34" charset="-120"/>
              </a:rPr>
              <a:t>59.2M</a:t>
            </a:r>
            <a:endParaRPr lang="en-US" sz="3800"/>
          </a:p>
        </p:txBody>
      </p:sp>
      <p:sp>
        <p:nvSpPr>
          <p:cNvPr id="13" name="Text 11"/>
          <p:cNvSpPr/>
          <p:nvPr/>
        </p:nvSpPr>
        <p:spPr>
          <a:xfrm>
            <a:off x="6537960" y="1783080"/>
            <a:ext cx="2103120" cy="457200"/>
          </a:xfrm>
          <a:prstGeom prst="rect">
            <a:avLst/>
          </a:prstGeom>
          <a:noFill/>
          <a:ln/>
        </p:spPr>
        <p:txBody>
          <a:bodyPr wrap="square" lIns="0" tIns="0" rIns="0" bIns="0" rtlCol="0" anchor="ctr"/>
          <a:lstStyle/>
          <a:p>
            <a:pPr marL="0" indent="0" algn="l">
              <a:buNone/>
            </a:pPr>
            <a:r>
              <a:rPr lang="en-US" sz="1100">
                <a:solidFill>
                  <a:srgbClr val="5A6B7C"/>
                </a:solidFill>
                <a:latin typeface="Calibri" pitchFamily="34" charset="0"/>
                <a:ea typeface="Calibri" pitchFamily="34" charset="-122"/>
                <a:cs typeface="Calibri" pitchFamily="34" charset="-120"/>
              </a:rPr>
              <a:t>item-store-day rows</a:t>
            </a:r>
            <a:endParaRPr lang="en-US" sz="1100"/>
          </a:p>
        </p:txBody>
      </p:sp>
      <p:sp>
        <p:nvSpPr>
          <p:cNvPr id="14" name="Shape 12"/>
          <p:cNvSpPr/>
          <p:nvPr/>
        </p:nvSpPr>
        <p:spPr>
          <a:xfrm>
            <a:off x="502920" y="2423160"/>
            <a:ext cx="8138160" cy="13716"/>
          </a:xfrm>
          <a:prstGeom prst="rect">
            <a:avLst/>
          </a:prstGeom>
          <a:solidFill>
            <a:srgbClr val="D9E2EA"/>
          </a:solidFill>
          <a:ln w="12700">
            <a:solidFill>
              <a:srgbClr val="D9E2EA"/>
            </a:solidFill>
            <a:prstDash val="solid"/>
          </a:ln>
        </p:spPr>
        <p:txBody>
          <a:bodyPr/>
          <a:lstStyle/>
          <a:p>
            <a:endParaRPr lang="en-US"/>
          </a:p>
        </p:txBody>
      </p:sp>
      <p:sp>
        <p:nvSpPr>
          <p:cNvPr id="15" name="Text 13"/>
          <p:cNvSpPr/>
          <p:nvPr/>
        </p:nvSpPr>
        <p:spPr>
          <a:xfrm>
            <a:off x="502920" y="2606040"/>
            <a:ext cx="8138160" cy="274320"/>
          </a:xfrm>
          <a:prstGeom prst="rect">
            <a:avLst/>
          </a:prstGeom>
          <a:noFill/>
          <a:ln/>
        </p:spPr>
        <p:txBody>
          <a:bodyPr wrap="square" lIns="0" tIns="0" rIns="0" bIns="0" rtlCol="0" anchor="ctr"/>
          <a:lstStyle/>
          <a:p>
            <a:pPr marL="0" indent="0">
              <a:buNone/>
            </a:pPr>
            <a:r>
              <a:rPr lang="en-US" sz="1400" b="1">
                <a:solidFill>
                  <a:srgbClr val="0F2942"/>
                </a:solidFill>
                <a:latin typeface="Cambria" pitchFamily="34" charset="0"/>
                <a:ea typeface="Cambria" pitchFamily="34" charset="-122"/>
                <a:cs typeface="Cambria" pitchFamily="34" charset="-120"/>
              </a:rPr>
              <a:t>Two corrections we made after validating the data</a:t>
            </a:r>
            <a:endParaRPr lang="en-US" sz="1400"/>
          </a:p>
        </p:txBody>
      </p:sp>
      <p:sp>
        <p:nvSpPr>
          <p:cNvPr id="16" name="Shape 14"/>
          <p:cNvSpPr/>
          <p:nvPr/>
        </p:nvSpPr>
        <p:spPr>
          <a:xfrm>
            <a:off x="502920" y="2999232"/>
            <a:ext cx="3931920" cy="1207008"/>
          </a:xfrm>
          <a:prstGeom prst="roundRect">
            <a:avLst>
              <a:gd name="adj" fmla="val 4545"/>
            </a:avLst>
          </a:prstGeom>
          <a:solidFill>
            <a:srgbClr val="F4F7FA"/>
          </a:solidFill>
          <a:ln w="9525">
            <a:solidFill>
              <a:srgbClr val="D9E2EA"/>
            </a:solidFill>
            <a:prstDash val="solid"/>
          </a:ln>
        </p:spPr>
        <p:txBody>
          <a:bodyPr/>
          <a:lstStyle/>
          <a:p>
            <a:endParaRPr lang="en-US"/>
          </a:p>
        </p:txBody>
      </p:sp>
      <p:sp>
        <p:nvSpPr>
          <p:cNvPr id="17" name="Text 15"/>
          <p:cNvSpPr/>
          <p:nvPr/>
        </p:nvSpPr>
        <p:spPr>
          <a:xfrm>
            <a:off x="749808" y="3145536"/>
            <a:ext cx="3474720" cy="256032"/>
          </a:xfrm>
          <a:prstGeom prst="rect">
            <a:avLst/>
          </a:prstGeom>
          <a:noFill/>
          <a:ln/>
        </p:spPr>
        <p:txBody>
          <a:bodyPr wrap="square" lIns="0" tIns="0" rIns="0" bIns="0" rtlCol="0" anchor="ctr"/>
          <a:lstStyle/>
          <a:p>
            <a:pPr marL="0" indent="0">
              <a:buNone/>
            </a:pPr>
            <a:r>
              <a:rPr lang="en-US" sz="1300" b="1">
                <a:solidFill>
                  <a:srgbClr val="2E86AB"/>
                </a:solidFill>
                <a:latin typeface="Calibri" pitchFamily="34" charset="0"/>
                <a:ea typeface="Calibri" pitchFamily="34" charset="-122"/>
                <a:cs typeface="Calibri" pitchFamily="34" charset="-120"/>
              </a:rPr>
              <a:t>The columns are units sold</a:t>
            </a:r>
            <a:endParaRPr lang="en-US" sz="1300"/>
          </a:p>
        </p:txBody>
      </p:sp>
      <p:sp>
        <p:nvSpPr>
          <p:cNvPr id="18" name="Text 16"/>
          <p:cNvSpPr/>
          <p:nvPr/>
        </p:nvSpPr>
        <p:spPr>
          <a:xfrm>
            <a:off x="749808" y="3429000"/>
            <a:ext cx="3474720" cy="685800"/>
          </a:xfrm>
          <a:prstGeom prst="rect">
            <a:avLst/>
          </a:prstGeom>
          <a:noFill/>
          <a:ln/>
        </p:spPr>
        <p:txBody>
          <a:bodyPr wrap="square" lIns="0" tIns="0" rIns="0" bIns="0" rtlCol="0" anchor="ctr"/>
          <a:lstStyle/>
          <a:p>
            <a:pPr marL="0" indent="0">
              <a:buNone/>
            </a:pPr>
            <a:r>
              <a:rPr lang="en-US" sz="1150">
                <a:solidFill>
                  <a:srgbClr val="5A6B7C"/>
                </a:solidFill>
                <a:latin typeface="Calibri" pitchFamily="34" charset="0"/>
                <a:ea typeface="Calibri" pitchFamily="34" charset="-122"/>
                <a:cs typeface="Calibri" pitchFamily="34" charset="-120"/>
              </a:rPr>
              <a:t>The daily columns record what sold, not what was on hand. The 68% of values that are zero are normal intermittent demand.</a:t>
            </a:r>
            <a:endParaRPr lang="en-US" sz="1150"/>
          </a:p>
        </p:txBody>
      </p:sp>
      <p:sp>
        <p:nvSpPr>
          <p:cNvPr id="19" name="Shape 17"/>
          <p:cNvSpPr/>
          <p:nvPr/>
        </p:nvSpPr>
        <p:spPr>
          <a:xfrm>
            <a:off x="4709160" y="2999232"/>
            <a:ext cx="3931920" cy="1207008"/>
          </a:xfrm>
          <a:prstGeom prst="roundRect">
            <a:avLst>
              <a:gd name="adj" fmla="val 4545"/>
            </a:avLst>
          </a:prstGeom>
          <a:solidFill>
            <a:srgbClr val="F4F7FA"/>
          </a:solidFill>
          <a:ln w="9525">
            <a:solidFill>
              <a:srgbClr val="D9E2EA"/>
            </a:solidFill>
            <a:prstDash val="solid"/>
          </a:ln>
        </p:spPr>
        <p:txBody>
          <a:bodyPr/>
          <a:lstStyle/>
          <a:p>
            <a:endParaRPr lang="en-US"/>
          </a:p>
        </p:txBody>
      </p:sp>
      <p:sp>
        <p:nvSpPr>
          <p:cNvPr id="20" name="Text 18"/>
          <p:cNvSpPr/>
          <p:nvPr/>
        </p:nvSpPr>
        <p:spPr>
          <a:xfrm>
            <a:off x="4956048" y="3145536"/>
            <a:ext cx="3474720" cy="256032"/>
          </a:xfrm>
          <a:prstGeom prst="rect">
            <a:avLst/>
          </a:prstGeom>
          <a:noFill/>
          <a:ln/>
        </p:spPr>
        <p:txBody>
          <a:bodyPr wrap="square" lIns="0" tIns="0" rIns="0" bIns="0" rtlCol="0" anchor="ctr"/>
          <a:lstStyle/>
          <a:p>
            <a:pPr marL="0" indent="0">
              <a:buNone/>
            </a:pPr>
            <a:r>
              <a:rPr lang="en-US" sz="1300" b="1">
                <a:solidFill>
                  <a:srgbClr val="2E86AB"/>
                </a:solidFill>
                <a:latin typeface="Calibri" pitchFamily="34" charset="0"/>
                <a:ea typeface="Calibri" pitchFamily="34" charset="-122"/>
                <a:cs typeface="Calibri" pitchFamily="34" charset="-120"/>
              </a:rPr>
              <a:t>The dataset covers 10 stores</a:t>
            </a:r>
            <a:endParaRPr lang="en-US" sz="1300"/>
          </a:p>
        </p:txBody>
      </p:sp>
      <p:sp>
        <p:nvSpPr>
          <p:cNvPr id="21" name="Text 19"/>
          <p:cNvSpPr/>
          <p:nvPr/>
        </p:nvSpPr>
        <p:spPr>
          <a:xfrm>
            <a:off x="4956048" y="3429000"/>
            <a:ext cx="3474720" cy="685800"/>
          </a:xfrm>
          <a:prstGeom prst="rect">
            <a:avLst/>
          </a:prstGeom>
          <a:noFill/>
          <a:ln/>
        </p:spPr>
        <p:txBody>
          <a:bodyPr wrap="square" lIns="0" tIns="0" rIns="0" bIns="0" rtlCol="0" anchor="ctr"/>
          <a:lstStyle/>
          <a:p>
            <a:pPr marL="0" indent="0">
              <a:buNone/>
            </a:pPr>
            <a:r>
              <a:rPr lang="en-US" sz="1150">
                <a:solidFill>
                  <a:srgbClr val="5A6B7C"/>
                </a:solidFill>
                <a:latin typeface="Calibri" pitchFamily="34" charset="0"/>
                <a:ea typeface="Calibri" pitchFamily="34" charset="-122"/>
                <a:cs typeface="Calibri" pitchFamily="34" charset="-120"/>
              </a:rPr>
              <a:t>CA 4, TX 3, WI 3. With 3,049 items that is 30,490 separate demand series to forecast.</a:t>
            </a:r>
            <a:endParaRPr lang="en-US" sz="1150"/>
          </a:p>
        </p:txBody>
      </p:sp>
      <p:sp>
        <p:nvSpPr>
          <p:cNvPr id="22" name="Text 20"/>
          <p:cNvSpPr/>
          <p:nvPr/>
        </p:nvSpPr>
        <p:spPr>
          <a:xfrm>
            <a:off x="502920" y="4718304"/>
            <a:ext cx="5486400" cy="228600"/>
          </a:xfrm>
          <a:prstGeom prst="rect">
            <a:avLst/>
          </a:prstGeom>
          <a:noFill/>
          <a:ln/>
        </p:spPr>
        <p:txBody>
          <a:bodyPr wrap="square" lIns="0" tIns="0" rIns="0" bIns="0" rtlCol="0" anchor="ctr"/>
          <a:lstStyle/>
          <a:p>
            <a:pPr marL="0" indent="0">
              <a:buNone/>
            </a:pPr>
            <a:r>
              <a:rPr lang="en-US" sz="850">
                <a:solidFill>
                  <a:srgbClr val="9AABB8"/>
                </a:solidFill>
                <a:latin typeface="Calibri" pitchFamily="34" charset="0"/>
                <a:ea typeface="Calibri" pitchFamily="34" charset="-122"/>
                <a:cs typeface="Calibri" pitchFamily="34" charset="-120"/>
              </a:rPr>
              <a:t>Group 5  ·  M5 Demand Forecasting on AWS</a:t>
            </a:r>
            <a:endParaRPr lang="en-US" sz="850"/>
          </a:p>
        </p:txBody>
      </p:sp>
      <p:sp>
        <p:nvSpPr>
          <p:cNvPr id="23" name="Text 21"/>
          <p:cNvSpPr/>
          <p:nvPr/>
        </p:nvSpPr>
        <p:spPr>
          <a:xfrm>
            <a:off x="8229600" y="4718304"/>
            <a:ext cx="411480" cy="228600"/>
          </a:xfrm>
          <a:prstGeom prst="rect">
            <a:avLst/>
          </a:prstGeom>
          <a:noFill/>
          <a:ln/>
        </p:spPr>
        <p:txBody>
          <a:bodyPr wrap="square" lIns="0" tIns="0" rIns="0" bIns="0" rtlCol="0" anchor="ctr"/>
          <a:lstStyle/>
          <a:p>
            <a:pPr marL="0" indent="0" algn="r">
              <a:buNone/>
            </a:pPr>
            <a:r>
              <a:rPr lang="en-US" sz="850">
                <a:solidFill>
                  <a:srgbClr val="9AABB8"/>
                </a:solidFill>
                <a:latin typeface="Calibri" pitchFamily="34" charset="0"/>
                <a:ea typeface="Calibri" pitchFamily="34" charset="-122"/>
                <a:cs typeface="Calibri" pitchFamily="34" charset="-120"/>
              </a:rPr>
              <a:t>3</a:t>
            </a:r>
            <a:endParaRPr lang="en-US" sz="850"/>
          </a:p>
        </p:txBody>
      </p:sp>
      <p:pic>
        <p:nvPicPr>
          <p:cNvPr id="35" name="Audio 34">
            <a:extLst>
              <a:ext uri="{FF2B5EF4-FFF2-40B4-BE49-F238E27FC236}">
                <a16:creationId xmlns:a16="http://schemas.microsoft.com/office/drawing/2014/main" id="{0B7F3E5E-7E79-DB33-647B-08A320216B15}"/>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78800" y="4178300"/>
            <a:ext cx="812800" cy="8128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45683"/>
    </mc:Choice>
    <mc:Fallback xmlns="">
      <p:transition spd="slow" advTm="4568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5"/>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1"/>
          <p:cNvSpPr/>
          <p:nvPr/>
        </p:nvSpPr>
        <p:spPr>
          <a:xfrm>
            <a:off x="502920" y="530352"/>
            <a:ext cx="8138160" cy="502920"/>
          </a:xfrm>
          <a:prstGeom prst="rect">
            <a:avLst/>
          </a:prstGeom>
          <a:noFill/>
          <a:ln/>
        </p:spPr>
        <p:txBody>
          <a:bodyPr wrap="square" lIns="0" tIns="0" rIns="0" bIns="0" rtlCol="0" anchor="ctr"/>
          <a:lstStyle/>
          <a:p>
            <a:pPr marL="0" indent="0">
              <a:buNone/>
            </a:pPr>
            <a:r>
              <a:rPr lang="en-US" sz="2800" b="1">
                <a:solidFill>
                  <a:srgbClr val="0F2942"/>
                </a:solidFill>
                <a:latin typeface="Cambria" pitchFamily="34" charset="0"/>
                <a:ea typeface="Cambria" pitchFamily="34" charset="-122"/>
                <a:cs typeface="Cambria" pitchFamily="34" charset="-120"/>
              </a:rPr>
              <a:t>Five layers, built on AWS with GCP equivalents</a:t>
            </a:r>
            <a:endParaRPr lang="en-US" sz="2800"/>
          </a:p>
        </p:txBody>
      </p:sp>
      <p:pic>
        <p:nvPicPr>
          <p:cNvPr id="6" name="Image 0" descr="pipeline_diagram.png"/>
          <p:cNvPicPr>
            <a:picLocks noChangeAspect="1"/>
          </p:cNvPicPr>
          <p:nvPr/>
        </p:nvPicPr>
        <p:blipFill>
          <a:blip r:embed="rId5"/>
          <a:stretch>
            <a:fillRect/>
          </a:stretch>
        </p:blipFill>
        <p:spPr>
          <a:xfrm>
            <a:off x="3021626" y="929852"/>
            <a:ext cx="4732020" cy="4017856"/>
          </a:xfrm>
          <a:prstGeom prst="rect">
            <a:avLst/>
          </a:prstGeom>
        </p:spPr>
      </p:pic>
      <p:sp>
        <p:nvSpPr>
          <p:cNvPr id="7" name="Text 4"/>
          <p:cNvSpPr/>
          <p:nvPr/>
        </p:nvSpPr>
        <p:spPr>
          <a:xfrm>
            <a:off x="502920" y="3913632"/>
            <a:ext cx="1874520" cy="658368"/>
          </a:xfrm>
          <a:prstGeom prst="rect">
            <a:avLst/>
          </a:prstGeom>
          <a:noFill/>
          <a:ln/>
        </p:spPr>
        <p:txBody>
          <a:bodyPr wrap="square" lIns="0" tIns="0" rIns="0" bIns="0" rtlCol="0" anchor="ctr"/>
          <a:lstStyle/>
          <a:p>
            <a:pPr marL="0" indent="0">
              <a:buNone/>
            </a:pPr>
            <a:r>
              <a:rPr lang="en-US" sz="950" i="1">
                <a:solidFill>
                  <a:srgbClr val="5A6B7C"/>
                </a:solidFill>
                <a:latin typeface="Calibri" pitchFamily="34" charset="0"/>
                <a:ea typeface="Calibri" pitchFamily="34" charset="-122"/>
                <a:cs typeface="Calibri" pitchFamily="34" charset="-120"/>
              </a:rPr>
              <a:t>A one-time CLI upload rather than a stream, because the dataset is fixed and never updates.</a:t>
            </a:r>
            <a:endParaRPr lang="en-US" sz="950"/>
          </a:p>
        </p:txBody>
      </p:sp>
      <p:sp>
        <p:nvSpPr>
          <p:cNvPr id="8" name="Shape 5"/>
          <p:cNvSpPr/>
          <p:nvPr/>
        </p:nvSpPr>
        <p:spPr>
          <a:xfrm>
            <a:off x="502920" y="1170432"/>
            <a:ext cx="310896" cy="310896"/>
          </a:xfrm>
          <a:prstGeom prst="ellipse">
            <a:avLst/>
          </a:prstGeom>
          <a:solidFill>
            <a:srgbClr val="2E86AB"/>
          </a:solidFill>
          <a:ln w="12700">
            <a:solidFill>
              <a:srgbClr val="2E86AB"/>
            </a:solidFill>
            <a:prstDash val="solid"/>
          </a:ln>
        </p:spPr>
        <p:txBody>
          <a:bodyPr/>
          <a:lstStyle/>
          <a:p>
            <a:endParaRPr lang="en-US"/>
          </a:p>
        </p:txBody>
      </p:sp>
      <p:sp>
        <p:nvSpPr>
          <p:cNvPr id="9" name="Text 6"/>
          <p:cNvSpPr/>
          <p:nvPr/>
        </p:nvSpPr>
        <p:spPr>
          <a:xfrm>
            <a:off x="502920" y="1170432"/>
            <a:ext cx="310896" cy="310896"/>
          </a:xfrm>
          <a:prstGeom prst="rect">
            <a:avLst/>
          </a:prstGeom>
          <a:noFill/>
          <a:ln/>
        </p:spPr>
        <p:txBody>
          <a:bodyPr wrap="square" lIns="0" tIns="0" rIns="0" bIns="0"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1</a:t>
            </a:r>
            <a:endParaRPr lang="en-US" sz="1100"/>
          </a:p>
        </p:txBody>
      </p:sp>
      <p:sp>
        <p:nvSpPr>
          <p:cNvPr id="10" name="Text 7"/>
          <p:cNvSpPr/>
          <p:nvPr/>
        </p:nvSpPr>
        <p:spPr>
          <a:xfrm>
            <a:off x="896112" y="1152144"/>
            <a:ext cx="1554480" cy="219456"/>
          </a:xfrm>
          <a:prstGeom prst="rect">
            <a:avLst/>
          </a:prstGeom>
          <a:noFill/>
          <a:ln/>
        </p:spPr>
        <p:txBody>
          <a:bodyPr wrap="square" lIns="0" tIns="0" rIns="0" bIns="0" rtlCol="0" anchor="ctr"/>
          <a:lstStyle/>
          <a:p>
            <a:pPr marL="0" indent="0">
              <a:buNone/>
            </a:pPr>
            <a:r>
              <a:rPr lang="en-US" sz="1150" b="1">
                <a:solidFill>
                  <a:srgbClr val="0F2942"/>
                </a:solidFill>
                <a:latin typeface="Calibri" pitchFamily="34" charset="0"/>
                <a:ea typeface="Calibri" pitchFamily="34" charset="-122"/>
                <a:cs typeface="Calibri" pitchFamily="34" charset="-120"/>
              </a:rPr>
              <a:t>Ingestion</a:t>
            </a:r>
            <a:endParaRPr lang="en-US" sz="1150"/>
          </a:p>
        </p:txBody>
      </p:sp>
      <p:sp>
        <p:nvSpPr>
          <p:cNvPr id="11" name="Text 8"/>
          <p:cNvSpPr/>
          <p:nvPr/>
        </p:nvSpPr>
        <p:spPr>
          <a:xfrm>
            <a:off x="896112" y="1353312"/>
            <a:ext cx="1600200" cy="320040"/>
          </a:xfrm>
          <a:prstGeom prst="rect">
            <a:avLst/>
          </a:prstGeom>
          <a:noFill/>
          <a:ln/>
        </p:spPr>
        <p:txBody>
          <a:bodyPr wrap="square" lIns="0" tIns="0" rIns="0" bIns="0" rtlCol="0" anchor="ctr"/>
          <a:lstStyle/>
          <a:p>
            <a:pPr marL="0" indent="0">
              <a:buNone/>
            </a:pPr>
            <a:r>
              <a:rPr lang="en-US" sz="900">
                <a:solidFill>
                  <a:srgbClr val="5A6B7C"/>
                </a:solidFill>
                <a:latin typeface="Calibri" pitchFamily="34" charset="0"/>
                <a:ea typeface="Calibri" pitchFamily="34" charset="-122"/>
                <a:cs typeface="Calibri" pitchFamily="34" charset="-120"/>
              </a:rPr>
              <a:t>CLI upload · 430 MB</a:t>
            </a:r>
            <a:endParaRPr lang="en-US" sz="900"/>
          </a:p>
        </p:txBody>
      </p:sp>
      <p:sp>
        <p:nvSpPr>
          <p:cNvPr id="12" name="Shape 9"/>
          <p:cNvSpPr/>
          <p:nvPr/>
        </p:nvSpPr>
        <p:spPr>
          <a:xfrm>
            <a:off x="502920" y="1737360"/>
            <a:ext cx="310896" cy="310896"/>
          </a:xfrm>
          <a:prstGeom prst="ellipse">
            <a:avLst/>
          </a:prstGeom>
          <a:solidFill>
            <a:srgbClr val="2E86AB"/>
          </a:solidFill>
          <a:ln w="12700">
            <a:solidFill>
              <a:srgbClr val="2E86AB"/>
            </a:solidFill>
            <a:prstDash val="solid"/>
          </a:ln>
        </p:spPr>
        <p:txBody>
          <a:bodyPr/>
          <a:lstStyle/>
          <a:p>
            <a:endParaRPr lang="en-US"/>
          </a:p>
        </p:txBody>
      </p:sp>
      <p:sp>
        <p:nvSpPr>
          <p:cNvPr id="13" name="Text 10"/>
          <p:cNvSpPr/>
          <p:nvPr/>
        </p:nvSpPr>
        <p:spPr>
          <a:xfrm>
            <a:off x="502920" y="1737360"/>
            <a:ext cx="310896" cy="310896"/>
          </a:xfrm>
          <a:prstGeom prst="rect">
            <a:avLst/>
          </a:prstGeom>
          <a:noFill/>
          <a:ln/>
        </p:spPr>
        <p:txBody>
          <a:bodyPr wrap="square" lIns="0" tIns="0" rIns="0" bIns="0"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2</a:t>
            </a:r>
            <a:endParaRPr lang="en-US" sz="1100"/>
          </a:p>
        </p:txBody>
      </p:sp>
      <p:sp>
        <p:nvSpPr>
          <p:cNvPr id="14" name="Text 11"/>
          <p:cNvSpPr/>
          <p:nvPr/>
        </p:nvSpPr>
        <p:spPr>
          <a:xfrm>
            <a:off x="896112" y="1719072"/>
            <a:ext cx="1554480" cy="219456"/>
          </a:xfrm>
          <a:prstGeom prst="rect">
            <a:avLst/>
          </a:prstGeom>
          <a:noFill/>
          <a:ln/>
        </p:spPr>
        <p:txBody>
          <a:bodyPr wrap="square" lIns="0" tIns="0" rIns="0" bIns="0" rtlCol="0" anchor="ctr"/>
          <a:lstStyle/>
          <a:p>
            <a:pPr marL="0" indent="0">
              <a:buNone/>
            </a:pPr>
            <a:r>
              <a:rPr lang="en-US" sz="1150" b="1">
                <a:solidFill>
                  <a:srgbClr val="0F2942"/>
                </a:solidFill>
                <a:latin typeface="Calibri" pitchFamily="34" charset="0"/>
                <a:ea typeface="Calibri" pitchFamily="34" charset="-122"/>
                <a:cs typeface="Calibri" pitchFamily="34" charset="-120"/>
              </a:rPr>
              <a:t>Storage</a:t>
            </a:r>
            <a:endParaRPr lang="en-US" sz="1150"/>
          </a:p>
        </p:txBody>
      </p:sp>
      <p:sp>
        <p:nvSpPr>
          <p:cNvPr id="15" name="Text 12"/>
          <p:cNvSpPr/>
          <p:nvPr/>
        </p:nvSpPr>
        <p:spPr>
          <a:xfrm>
            <a:off x="896112" y="1920240"/>
            <a:ext cx="1600200" cy="320040"/>
          </a:xfrm>
          <a:prstGeom prst="rect">
            <a:avLst/>
          </a:prstGeom>
          <a:noFill/>
          <a:ln/>
        </p:spPr>
        <p:txBody>
          <a:bodyPr wrap="square" lIns="0" tIns="0" rIns="0" bIns="0" rtlCol="0" anchor="ctr"/>
          <a:lstStyle/>
          <a:p>
            <a:pPr marL="0" indent="0">
              <a:buNone/>
            </a:pPr>
            <a:r>
              <a:rPr lang="en-US" sz="900">
                <a:solidFill>
                  <a:srgbClr val="5A6B7C"/>
                </a:solidFill>
                <a:latin typeface="Calibri" pitchFamily="34" charset="0"/>
                <a:ea typeface="Calibri" pitchFamily="34" charset="-122"/>
                <a:cs typeface="Calibri" pitchFamily="34" charset="-120"/>
              </a:rPr>
              <a:t>S3 raw / processed / curated</a:t>
            </a:r>
            <a:endParaRPr lang="en-US" sz="900"/>
          </a:p>
        </p:txBody>
      </p:sp>
      <p:sp>
        <p:nvSpPr>
          <p:cNvPr id="16" name="Shape 13"/>
          <p:cNvSpPr/>
          <p:nvPr/>
        </p:nvSpPr>
        <p:spPr>
          <a:xfrm>
            <a:off x="502920" y="2304288"/>
            <a:ext cx="310896" cy="310896"/>
          </a:xfrm>
          <a:prstGeom prst="ellipse">
            <a:avLst/>
          </a:prstGeom>
          <a:solidFill>
            <a:srgbClr val="2E86AB"/>
          </a:solidFill>
          <a:ln w="12700">
            <a:solidFill>
              <a:srgbClr val="2E86AB"/>
            </a:solidFill>
            <a:prstDash val="solid"/>
          </a:ln>
        </p:spPr>
        <p:txBody>
          <a:bodyPr/>
          <a:lstStyle/>
          <a:p>
            <a:endParaRPr lang="en-US"/>
          </a:p>
        </p:txBody>
      </p:sp>
      <p:sp>
        <p:nvSpPr>
          <p:cNvPr id="17" name="Text 14"/>
          <p:cNvSpPr/>
          <p:nvPr/>
        </p:nvSpPr>
        <p:spPr>
          <a:xfrm>
            <a:off x="502920" y="2304288"/>
            <a:ext cx="310896" cy="310896"/>
          </a:xfrm>
          <a:prstGeom prst="rect">
            <a:avLst/>
          </a:prstGeom>
          <a:noFill/>
          <a:ln/>
        </p:spPr>
        <p:txBody>
          <a:bodyPr wrap="square" lIns="0" tIns="0" rIns="0" bIns="0"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3</a:t>
            </a:r>
            <a:endParaRPr lang="en-US" sz="1100"/>
          </a:p>
        </p:txBody>
      </p:sp>
      <p:sp>
        <p:nvSpPr>
          <p:cNvPr id="18" name="Text 15"/>
          <p:cNvSpPr/>
          <p:nvPr/>
        </p:nvSpPr>
        <p:spPr>
          <a:xfrm>
            <a:off x="896112" y="2286000"/>
            <a:ext cx="1554480" cy="219456"/>
          </a:xfrm>
          <a:prstGeom prst="rect">
            <a:avLst/>
          </a:prstGeom>
          <a:noFill/>
          <a:ln/>
        </p:spPr>
        <p:txBody>
          <a:bodyPr wrap="square" lIns="0" tIns="0" rIns="0" bIns="0" rtlCol="0" anchor="ctr"/>
          <a:lstStyle/>
          <a:p>
            <a:pPr marL="0" indent="0">
              <a:buNone/>
            </a:pPr>
            <a:r>
              <a:rPr lang="en-US" sz="1150" b="1">
                <a:solidFill>
                  <a:srgbClr val="0F2942"/>
                </a:solidFill>
                <a:latin typeface="Calibri" pitchFamily="34" charset="0"/>
                <a:ea typeface="Calibri" pitchFamily="34" charset="-122"/>
                <a:cs typeface="Calibri" pitchFamily="34" charset="-120"/>
              </a:rPr>
              <a:t>Transformation</a:t>
            </a:r>
            <a:endParaRPr lang="en-US" sz="1150"/>
          </a:p>
        </p:txBody>
      </p:sp>
      <p:sp>
        <p:nvSpPr>
          <p:cNvPr id="19" name="Text 16"/>
          <p:cNvSpPr/>
          <p:nvPr/>
        </p:nvSpPr>
        <p:spPr>
          <a:xfrm>
            <a:off x="896112" y="2487168"/>
            <a:ext cx="1600200" cy="320040"/>
          </a:xfrm>
          <a:prstGeom prst="rect">
            <a:avLst/>
          </a:prstGeom>
          <a:noFill/>
          <a:ln/>
        </p:spPr>
        <p:txBody>
          <a:bodyPr wrap="square" lIns="0" tIns="0" rIns="0" bIns="0" rtlCol="0" anchor="ctr"/>
          <a:lstStyle/>
          <a:p>
            <a:pPr marL="0" indent="0">
              <a:buNone/>
            </a:pPr>
            <a:r>
              <a:rPr lang="en-US" sz="900">
                <a:solidFill>
                  <a:srgbClr val="5A6B7C"/>
                </a:solidFill>
                <a:latin typeface="Calibri" pitchFamily="34" charset="0"/>
                <a:ea typeface="Calibri" pitchFamily="34" charset="-122"/>
                <a:cs typeface="Calibri" pitchFamily="34" charset="-120"/>
              </a:rPr>
              <a:t>Local melt + Athena CTAS</a:t>
            </a:r>
            <a:endParaRPr lang="en-US" sz="900"/>
          </a:p>
        </p:txBody>
      </p:sp>
      <p:sp>
        <p:nvSpPr>
          <p:cNvPr id="20" name="Shape 17"/>
          <p:cNvSpPr/>
          <p:nvPr/>
        </p:nvSpPr>
        <p:spPr>
          <a:xfrm>
            <a:off x="502920" y="2871216"/>
            <a:ext cx="310896" cy="310896"/>
          </a:xfrm>
          <a:prstGeom prst="ellipse">
            <a:avLst/>
          </a:prstGeom>
          <a:solidFill>
            <a:srgbClr val="2E86AB"/>
          </a:solidFill>
          <a:ln w="12700">
            <a:solidFill>
              <a:srgbClr val="2E86AB"/>
            </a:solidFill>
            <a:prstDash val="solid"/>
          </a:ln>
        </p:spPr>
        <p:txBody>
          <a:bodyPr/>
          <a:lstStyle/>
          <a:p>
            <a:endParaRPr lang="en-US"/>
          </a:p>
        </p:txBody>
      </p:sp>
      <p:sp>
        <p:nvSpPr>
          <p:cNvPr id="21" name="Text 18"/>
          <p:cNvSpPr/>
          <p:nvPr/>
        </p:nvSpPr>
        <p:spPr>
          <a:xfrm>
            <a:off x="502920" y="2871216"/>
            <a:ext cx="310896" cy="310896"/>
          </a:xfrm>
          <a:prstGeom prst="rect">
            <a:avLst/>
          </a:prstGeom>
          <a:noFill/>
          <a:ln/>
        </p:spPr>
        <p:txBody>
          <a:bodyPr wrap="square" lIns="0" tIns="0" rIns="0" bIns="0"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4</a:t>
            </a:r>
            <a:endParaRPr lang="en-US" sz="1100"/>
          </a:p>
        </p:txBody>
      </p:sp>
      <p:sp>
        <p:nvSpPr>
          <p:cNvPr id="22" name="Text 19"/>
          <p:cNvSpPr/>
          <p:nvPr/>
        </p:nvSpPr>
        <p:spPr>
          <a:xfrm>
            <a:off x="896112" y="2852928"/>
            <a:ext cx="1554480" cy="219456"/>
          </a:xfrm>
          <a:prstGeom prst="rect">
            <a:avLst/>
          </a:prstGeom>
          <a:noFill/>
          <a:ln/>
        </p:spPr>
        <p:txBody>
          <a:bodyPr wrap="square" lIns="0" tIns="0" rIns="0" bIns="0" rtlCol="0" anchor="ctr"/>
          <a:lstStyle/>
          <a:p>
            <a:pPr marL="0" indent="0">
              <a:buNone/>
            </a:pPr>
            <a:r>
              <a:rPr lang="en-US" sz="1150" b="1">
                <a:solidFill>
                  <a:srgbClr val="0F2942"/>
                </a:solidFill>
                <a:latin typeface="Calibri" pitchFamily="34" charset="0"/>
                <a:ea typeface="Calibri" pitchFamily="34" charset="-122"/>
                <a:cs typeface="Calibri" pitchFamily="34" charset="-120"/>
              </a:rPr>
              <a:t>Query</a:t>
            </a:r>
            <a:endParaRPr lang="en-US" sz="1150"/>
          </a:p>
        </p:txBody>
      </p:sp>
      <p:sp>
        <p:nvSpPr>
          <p:cNvPr id="23" name="Text 20"/>
          <p:cNvSpPr/>
          <p:nvPr/>
        </p:nvSpPr>
        <p:spPr>
          <a:xfrm>
            <a:off x="896112" y="3054096"/>
            <a:ext cx="1600200" cy="320040"/>
          </a:xfrm>
          <a:prstGeom prst="rect">
            <a:avLst/>
          </a:prstGeom>
          <a:noFill/>
          <a:ln/>
        </p:spPr>
        <p:txBody>
          <a:bodyPr wrap="square" lIns="0" tIns="0" rIns="0" bIns="0" rtlCol="0" anchor="ctr"/>
          <a:lstStyle/>
          <a:p>
            <a:pPr marL="0" indent="0">
              <a:buNone/>
            </a:pPr>
            <a:r>
              <a:rPr lang="en-US" sz="900">
                <a:solidFill>
                  <a:srgbClr val="5A6B7C"/>
                </a:solidFill>
                <a:latin typeface="Calibri" pitchFamily="34" charset="0"/>
                <a:ea typeface="Calibri" pitchFamily="34" charset="-122"/>
                <a:cs typeface="Calibri" pitchFamily="34" charset="-120"/>
              </a:rPr>
              <a:t>Glue Catalog + Athena + notebook</a:t>
            </a:r>
            <a:endParaRPr lang="en-US" sz="900"/>
          </a:p>
        </p:txBody>
      </p:sp>
      <p:sp>
        <p:nvSpPr>
          <p:cNvPr id="24" name="Shape 21"/>
          <p:cNvSpPr/>
          <p:nvPr/>
        </p:nvSpPr>
        <p:spPr>
          <a:xfrm>
            <a:off x="502920" y="3438144"/>
            <a:ext cx="310896" cy="310896"/>
          </a:xfrm>
          <a:prstGeom prst="ellipse">
            <a:avLst/>
          </a:prstGeom>
          <a:solidFill>
            <a:srgbClr val="2E86AB"/>
          </a:solidFill>
          <a:ln w="12700">
            <a:solidFill>
              <a:srgbClr val="2E86AB"/>
            </a:solidFill>
            <a:prstDash val="solid"/>
          </a:ln>
        </p:spPr>
        <p:txBody>
          <a:bodyPr/>
          <a:lstStyle/>
          <a:p>
            <a:endParaRPr lang="en-US"/>
          </a:p>
        </p:txBody>
      </p:sp>
      <p:sp>
        <p:nvSpPr>
          <p:cNvPr id="25" name="Text 22"/>
          <p:cNvSpPr/>
          <p:nvPr/>
        </p:nvSpPr>
        <p:spPr>
          <a:xfrm>
            <a:off x="502920" y="3438144"/>
            <a:ext cx="310896" cy="310896"/>
          </a:xfrm>
          <a:prstGeom prst="rect">
            <a:avLst/>
          </a:prstGeom>
          <a:noFill/>
          <a:ln/>
        </p:spPr>
        <p:txBody>
          <a:bodyPr wrap="square" lIns="0" tIns="0" rIns="0" bIns="0"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5</a:t>
            </a:r>
            <a:endParaRPr lang="en-US" sz="1100"/>
          </a:p>
        </p:txBody>
      </p:sp>
      <p:sp>
        <p:nvSpPr>
          <p:cNvPr id="26" name="Text 23"/>
          <p:cNvSpPr/>
          <p:nvPr/>
        </p:nvSpPr>
        <p:spPr>
          <a:xfrm>
            <a:off x="896112" y="3419856"/>
            <a:ext cx="1554480" cy="219456"/>
          </a:xfrm>
          <a:prstGeom prst="rect">
            <a:avLst/>
          </a:prstGeom>
          <a:noFill/>
          <a:ln/>
        </p:spPr>
        <p:txBody>
          <a:bodyPr wrap="square" lIns="0" tIns="0" rIns="0" bIns="0" rtlCol="0" anchor="ctr"/>
          <a:lstStyle/>
          <a:p>
            <a:pPr marL="0" indent="0">
              <a:buNone/>
            </a:pPr>
            <a:r>
              <a:rPr lang="en-US" sz="1150" b="1">
                <a:solidFill>
                  <a:srgbClr val="0F2942"/>
                </a:solidFill>
                <a:latin typeface="Calibri" pitchFamily="34" charset="0"/>
                <a:ea typeface="Calibri" pitchFamily="34" charset="-122"/>
                <a:cs typeface="Calibri" pitchFamily="34" charset="-120"/>
              </a:rPr>
              <a:t>Output</a:t>
            </a:r>
            <a:endParaRPr lang="en-US" sz="1150"/>
          </a:p>
        </p:txBody>
      </p:sp>
      <p:sp>
        <p:nvSpPr>
          <p:cNvPr id="27" name="Text 24"/>
          <p:cNvSpPr/>
          <p:nvPr/>
        </p:nvSpPr>
        <p:spPr>
          <a:xfrm>
            <a:off x="896112" y="3621024"/>
            <a:ext cx="1600200" cy="320040"/>
          </a:xfrm>
          <a:prstGeom prst="rect">
            <a:avLst/>
          </a:prstGeom>
          <a:noFill/>
          <a:ln/>
        </p:spPr>
        <p:txBody>
          <a:bodyPr wrap="square" lIns="0" tIns="0" rIns="0" bIns="0" rtlCol="0" anchor="ctr"/>
          <a:lstStyle/>
          <a:p>
            <a:pPr marL="0" indent="0">
              <a:buNone/>
            </a:pPr>
            <a:r>
              <a:rPr lang="en-US" sz="900">
                <a:solidFill>
                  <a:srgbClr val="5A6B7C"/>
                </a:solidFill>
                <a:latin typeface="Calibri" pitchFamily="34" charset="0"/>
                <a:ea typeface="Calibri" pitchFamily="34" charset="-122"/>
                <a:cs typeface="Calibri" pitchFamily="34" charset="-120"/>
              </a:rPr>
              <a:t>QuickSight dashboard</a:t>
            </a:r>
            <a:endParaRPr lang="en-US" sz="900"/>
          </a:p>
        </p:txBody>
      </p:sp>
      <p:sp>
        <p:nvSpPr>
          <p:cNvPr id="28" name="Text 25"/>
          <p:cNvSpPr/>
          <p:nvPr/>
        </p:nvSpPr>
        <p:spPr>
          <a:xfrm>
            <a:off x="502920" y="4718304"/>
            <a:ext cx="5486400" cy="228600"/>
          </a:xfrm>
          <a:prstGeom prst="rect">
            <a:avLst/>
          </a:prstGeom>
          <a:noFill/>
          <a:ln/>
        </p:spPr>
        <p:txBody>
          <a:bodyPr wrap="square" lIns="0" tIns="0" rIns="0" bIns="0" rtlCol="0" anchor="ctr"/>
          <a:lstStyle/>
          <a:p>
            <a:pPr marL="0" indent="0">
              <a:buNone/>
            </a:pPr>
            <a:r>
              <a:rPr lang="en-US" sz="850">
                <a:solidFill>
                  <a:srgbClr val="9AABB8"/>
                </a:solidFill>
                <a:latin typeface="Calibri" pitchFamily="34" charset="0"/>
                <a:ea typeface="Calibri" pitchFamily="34" charset="-122"/>
                <a:cs typeface="Calibri" pitchFamily="34" charset="-120"/>
              </a:rPr>
              <a:t>Group 5  ·  M5 Demand Forecasting on AWS</a:t>
            </a:r>
            <a:endParaRPr lang="en-US" sz="850"/>
          </a:p>
        </p:txBody>
      </p:sp>
      <p:sp>
        <p:nvSpPr>
          <p:cNvPr id="29" name="Text 26"/>
          <p:cNvSpPr/>
          <p:nvPr/>
        </p:nvSpPr>
        <p:spPr>
          <a:xfrm>
            <a:off x="8229600" y="4718304"/>
            <a:ext cx="411480" cy="228600"/>
          </a:xfrm>
          <a:prstGeom prst="rect">
            <a:avLst/>
          </a:prstGeom>
          <a:noFill/>
          <a:ln/>
        </p:spPr>
        <p:txBody>
          <a:bodyPr wrap="square" lIns="0" tIns="0" rIns="0" bIns="0" rtlCol="0" anchor="ctr"/>
          <a:lstStyle/>
          <a:p>
            <a:pPr marL="0" indent="0" algn="r">
              <a:buNone/>
            </a:pPr>
            <a:r>
              <a:rPr lang="en-US" sz="850">
                <a:solidFill>
                  <a:srgbClr val="9AABB8"/>
                </a:solidFill>
                <a:latin typeface="Calibri" pitchFamily="34" charset="0"/>
                <a:ea typeface="Calibri" pitchFamily="34" charset="-122"/>
                <a:cs typeface="Calibri" pitchFamily="34" charset="-120"/>
              </a:rPr>
              <a:t>4</a:t>
            </a:r>
            <a:endParaRPr lang="en-US" sz="850"/>
          </a:p>
        </p:txBody>
      </p:sp>
      <p:pic>
        <p:nvPicPr>
          <p:cNvPr id="34" name="Audio 33">
            <a:extLst>
              <a:ext uri="{FF2B5EF4-FFF2-40B4-BE49-F238E27FC236}">
                <a16:creationId xmlns:a16="http://schemas.microsoft.com/office/drawing/2014/main" id="{C3589582-77BA-4D39-2F8F-F2159832010C}"/>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78800" y="4178300"/>
            <a:ext cx="812800" cy="8128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44182"/>
    </mc:Choice>
    <mc:Fallback xmlns="">
      <p:transition spd="slow" advTm="4418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4"/>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2920" y="292608"/>
            <a:ext cx="8138160" cy="219456"/>
          </a:xfrm>
          <a:prstGeom prst="rect">
            <a:avLst/>
          </a:prstGeom>
          <a:noFill/>
          <a:ln/>
        </p:spPr>
        <p:txBody>
          <a:bodyPr wrap="square" lIns="0" tIns="0" rIns="0" bIns="0" rtlCol="0" anchor="ctr"/>
          <a:lstStyle/>
          <a:p>
            <a:pPr marL="0" indent="0">
              <a:buNone/>
            </a:pPr>
            <a:r>
              <a:rPr lang="en-US" sz="1100" b="1" kern="0" spc="160">
                <a:solidFill>
                  <a:srgbClr val="2E86AB"/>
                </a:solidFill>
                <a:latin typeface="Calibri" pitchFamily="34" charset="0"/>
                <a:ea typeface="Calibri" pitchFamily="34" charset="-122"/>
                <a:cs typeface="Calibri" pitchFamily="34" charset="-120"/>
              </a:rPr>
              <a:t>IMPLEMENTATION EVIDENCE</a:t>
            </a:r>
            <a:endParaRPr lang="en-US" sz="1100"/>
          </a:p>
        </p:txBody>
      </p:sp>
      <p:sp>
        <p:nvSpPr>
          <p:cNvPr id="3" name="Text 1"/>
          <p:cNvSpPr/>
          <p:nvPr/>
        </p:nvSpPr>
        <p:spPr>
          <a:xfrm>
            <a:off x="502920" y="530352"/>
            <a:ext cx="8138160" cy="502920"/>
          </a:xfrm>
          <a:prstGeom prst="rect">
            <a:avLst/>
          </a:prstGeom>
          <a:noFill/>
          <a:ln/>
        </p:spPr>
        <p:txBody>
          <a:bodyPr wrap="square" lIns="0" tIns="0" rIns="0" bIns="0" rtlCol="0" anchor="ctr"/>
          <a:lstStyle/>
          <a:p>
            <a:pPr marL="0" indent="0">
              <a:buNone/>
            </a:pPr>
            <a:r>
              <a:rPr lang="en-US" sz="2800" b="1">
                <a:solidFill>
                  <a:srgbClr val="0F2942"/>
                </a:solidFill>
                <a:latin typeface="Cambria" pitchFamily="34" charset="0"/>
                <a:ea typeface="Cambria" pitchFamily="34" charset="-122"/>
                <a:cs typeface="Cambria" pitchFamily="34" charset="-120"/>
              </a:rPr>
              <a:t>S3 storage zones and the raw upload</a:t>
            </a:r>
            <a:endParaRPr lang="en-US" sz="2800"/>
          </a:p>
        </p:txBody>
      </p:sp>
      <p:pic>
        <p:nvPicPr>
          <p:cNvPr id="6" name="Image 0" descr="storage_s3-zones.png"/>
          <p:cNvPicPr>
            <a:picLocks noChangeAspect="1"/>
          </p:cNvPicPr>
          <p:nvPr/>
        </p:nvPicPr>
        <p:blipFill>
          <a:blip r:embed="rId5"/>
          <a:stretch>
            <a:fillRect/>
          </a:stretch>
        </p:blipFill>
        <p:spPr>
          <a:xfrm>
            <a:off x="502920" y="1207008"/>
            <a:ext cx="5257800" cy="2322576"/>
          </a:xfrm>
          <a:prstGeom prst="rect">
            <a:avLst/>
          </a:prstGeom>
        </p:spPr>
      </p:pic>
      <p:sp>
        <p:nvSpPr>
          <p:cNvPr id="7" name="Shape 4"/>
          <p:cNvSpPr/>
          <p:nvPr/>
        </p:nvSpPr>
        <p:spPr>
          <a:xfrm>
            <a:off x="5989320" y="1207008"/>
            <a:ext cx="2651760" cy="2322576"/>
          </a:xfrm>
          <a:prstGeom prst="roundRect">
            <a:avLst>
              <a:gd name="adj" fmla="val 2362"/>
            </a:avLst>
          </a:prstGeom>
          <a:solidFill>
            <a:srgbClr val="F4F7FA"/>
          </a:solidFill>
          <a:ln w="9525">
            <a:solidFill>
              <a:srgbClr val="D9E2EA"/>
            </a:solidFill>
            <a:prstDash val="solid"/>
          </a:ln>
        </p:spPr>
        <p:txBody>
          <a:bodyPr/>
          <a:lstStyle/>
          <a:p>
            <a:endParaRPr lang="en-US"/>
          </a:p>
        </p:txBody>
      </p:sp>
      <p:sp>
        <p:nvSpPr>
          <p:cNvPr id="8" name="Text 5"/>
          <p:cNvSpPr/>
          <p:nvPr/>
        </p:nvSpPr>
        <p:spPr>
          <a:xfrm>
            <a:off x="6199632" y="1371600"/>
            <a:ext cx="2286000" cy="219456"/>
          </a:xfrm>
          <a:prstGeom prst="rect">
            <a:avLst/>
          </a:prstGeom>
          <a:noFill/>
          <a:ln/>
        </p:spPr>
        <p:txBody>
          <a:bodyPr wrap="square" lIns="0" tIns="0" rIns="0" bIns="0" rtlCol="0" anchor="ctr"/>
          <a:lstStyle/>
          <a:p>
            <a:pPr marL="0" indent="0">
              <a:buNone/>
            </a:pPr>
            <a:r>
              <a:rPr lang="en-US" sz="1150" b="1">
                <a:solidFill>
                  <a:srgbClr val="2E86AB"/>
                </a:solidFill>
                <a:latin typeface="Courier New" pitchFamily="34" charset="0"/>
                <a:ea typeface="Courier New" pitchFamily="34" charset="-122"/>
                <a:cs typeface="Courier New" pitchFamily="34" charset="-120"/>
              </a:rPr>
              <a:t>raw/</a:t>
            </a:r>
            <a:endParaRPr lang="en-US" sz="1150"/>
          </a:p>
        </p:txBody>
      </p:sp>
      <p:sp>
        <p:nvSpPr>
          <p:cNvPr id="9" name="Text 6"/>
          <p:cNvSpPr/>
          <p:nvPr/>
        </p:nvSpPr>
        <p:spPr>
          <a:xfrm>
            <a:off x="6199632" y="1581912"/>
            <a:ext cx="2240280" cy="329184"/>
          </a:xfrm>
          <a:prstGeom prst="rect">
            <a:avLst/>
          </a:prstGeom>
          <a:noFill/>
          <a:ln/>
        </p:spPr>
        <p:txBody>
          <a:bodyPr wrap="square" lIns="0" tIns="0" rIns="0" bIns="0" rtlCol="0" anchor="ctr"/>
          <a:lstStyle/>
          <a:p>
            <a:pPr marL="0" indent="0">
              <a:buNone/>
            </a:pPr>
            <a:r>
              <a:rPr lang="en-US" sz="950">
                <a:solidFill>
                  <a:srgbClr val="5A6B7C"/>
                </a:solidFill>
                <a:latin typeface="Calibri" pitchFamily="34" charset="0"/>
                <a:ea typeface="Calibri" pitchFamily="34" charset="-122"/>
                <a:cs typeface="Calibri" pitchFamily="34" charset="-120"/>
              </a:rPr>
              <a:t>Five original CSVs, untouched</a:t>
            </a:r>
            <a:endParaRPr lang="en-US" sz="950"/>
          </a:p>
        </p:txBody>
      </p:sp>
      <p:sp>
        <p:nvSpPr>
          <p:cNvPr id="10" name="Text 7"/>
          <p:cNvSpPr/>
          <p:nvPr/>
        </p:nvSpPr>
        <p:spPr>
          <a:xfrm>
            <a:off x="6199632" y="1920240"/>
            <a:ext cx="2286000" cy="219456"/>
          </a:xfrm>
          <a:prstGeom prst="rect">
            <a:avLst/>
          </a:prstGeom>
          <a:noFill/>
          <a:ln/>
        </p:spPr>
        <p:txBody>
          <a:bodyPr wrap="square" lIns="0" tIns="0" rIns="0" bIns="0" rtlCol="0" anchor="ctr"/>
          <a:lstStyle/>
          <a:p>
            <a:pPr marL="0" indent="0">
              <a:buNone/>
            </a:pPr>
            <a:r>
              <a:rPr lang="en-US" sz="1150" b="1">
                <a:solidFill>
                  <a:srgbClr val="2E86AB"/>
                </a:solidFill>
                <a:latin typeface="Courier New" pitchFamily="34" charset="0"/>
                <a:ea typeface="Courier New" pitchFamily="34" charset="-122"/>
                <a:cs typeface="Courier New" pitchFamily="34" charset="-120"/>
              </a:rPr>
              <a:t>processed/</a:t>
            </a:r>
            <a:endParaRPr lang="en-US" sz="1150"/>
          </a:p>
        </p:txBody>
      </p:sp>
      <p:sp>
        <p:nvSpPr>
          <p:cNvPr id="11" name="Text 8"/>
          <p:cNvSpPr/>
          <p:nvPr/>
        </p:nvSpPr>
        <p:spPr>
          <a:xfrm>
            <a:off x="6199632" y="2130552"/>
            <a:ext cx="2240280" cy="329184"/>
          </a:xfrm>
          <a:prstGeom prst="rect">
            <a:avLst/>
          </a:prstGeom>
          <a:noFill/>
          <a:ln/>
        </p:spPr>
        <p:txBody>
          <a:bodyPr wrap="square" lIns="0" tIns="0" rIns="0" bIns="0" rtlCol="0" anchor="ctr"/>
          <a:lstStyle/>
          <a:p>
            <a:pPr marL="0" indent="0">
              <a:buNone/>
            </a:pPr>
            <a:r>
              <a:rPr lang="en-US" sz="950">
                <a:solidFill>
                  <a:srgbClr val="5A6B7C"/>
                </a:solidFill>
                <a:latin typeface="Calibri" pitchFamily="34" charset="0"/>
                <a:ea typeface="Calibri" pitchFamily="34" charset="-122"/>
                <a:cs typeface="Calibri" pitchFamily="34" charset="-120"/>
              </a:rPr>
              <a:t>Snappy Parquet, partitioned by state</a:t>
            </a:r>
            <a:endParaRPr lang="en-US" sz="950"/>
          </a:p>
        </p:txBody>
      </p:sp>
      <p:sp>
        <p:nvSpPr>
          <p:cNvPr id="12" name="Text 9"/>
          <p:cNvSpPr/>
          <p:nvPr/>
        </p:nvSpPr>
        <p:spPr>
          <a:xfrm>
            <a:off x="6199632" y="2468880"/>
            <a:ext cx="2286000" cy="219456"/>
          </a:xfrm>
          <a:prstGeom prst="rect">
            <a:avLst/>
          </a:prstGeom>
          <a:noFill/>
          <a:ln/>
        </p:spPr>
        <p:txBody>
          <a:bodyPr wrap="square" lIns="0" tIns="0" rIns="0" bIns="0" rtlCol="0" anchor="ctr"/>
          <a:lstStyle/>
          <a:p>
            <a:pPr marL="0" indent="0">
              <a:buNone/>
            </a:pPr>
            <a:r>
              <a:rPr lang="en-US" sz="1150" b="1">
                <a:solidFill>
                  <a:srgbClr val="2E86AB"/>
                </a:solidFill>
                <a:latin typeface="Courier New" pitchFamily="34" charset="0"/>
                <a:ea typeface="Courier New" pitchFamily="34" charset="-122"/>
                <a:cs typeface="Courier New" pitchFamily="34" charset="-120"/>
              </a:rPr>
              <a:t>curated/</a:t>
            </a:r>
            <a:endParaRPr lang="en-US" sz="1150"/>
          </a:p>
        </p:txBody>
      </p:sp>
      <p:sp>
        <p:nvSpPr>
          <p:cNvPr id="13" name="Text 10"/>
          <p:cNvSpPr/>
          <p:nvPr/>
        </p:nvSpPr>
        <p:spPr>
          <a:xfrm>
            <a:off x="6199632" y="2679192"/>
            <a:ext cx="2240280" cy="329184"/>
          </a:xfrm>
          <a:prstGeom prst="rect">
            <a:avLst/>
          </a:prstGeom>
          <a:noFill/>
          <a:ln/>
        </p:spPr>
        <p:txBody>
          <a:bodyPr wrap="square" lIns="0" tIns="0" rIns="0" bIns="0" rtlCol="0" anchor="ctr"/>
          <a:lstStyle/>
          <a:p>
            <a:pPr marL="0" indent="0">
              <a:buNone/>
            </a:pPr>
            <a:r>
              <a:rPr lang="en-US" sz="950">
                <a:solidFill>
                  <a:srgbClr val="5A6B7C"/>
                </a:solidFill>
                <a:latin typeface="Calibri" pitchFamily="34" charset="0"/>
                <a:ea typeface="Calibri" pitchFamily="34" charset="-122"/>
                <a:cs typeface="Calibri" pitchFamily="34" charset="-120"/>
              </a:rPr>
              <a:t>Serving tables for the dashboard</a:t>
            </a:r>
            <a:endParaRPr lang="en-US" sz="950"/>
          </a:p>
        </p:txBody>
      </p:sp>
      <p:sp>
        <p:nvSpPr>
          <p:cNvPr id="14" name="Text 11"/>
          <p:cNvSpPr/>
          <p:nvPr/>
        </p:nvSpPr>
        <p:spPr>
          <a:xfrm>
            <a:off x="6199632" y="3017520"/>
            <a:ext cx="2286000" cy="219456"/>
          </a:xfrm>
          <a:prstGeom prst="rect">
            <a:avLst/>
          </a:prstGeom>
          <a:noFill/>
          <a:ln/>
        </p:spPr>
        <p:txBody>
          <a:bodyPr wrap="square" lIns="0" tIns="0" rIns="0" bIns="0" rtlCol="0" anchor="ctr"/>
          <a:lstStyle/>
          <a:p>
            <a:pPr marL="0" indent="0">
              <a:buNone/>
            </a:pPr>
            <a:r>
              <a:rPr lang="en-US" sz="1150" b="1">
                <a:solidFill>
                  <a:srgbClr val="2E86AB"/>
                </a:solidFill>
                <a:latin typeface="Courier New" pitchFamily="34" charset="0"/>
                <a:ea typeface="Courier New" pitchFamily="34" charset="-122"/>
                <a:cs typeface="Courier New" pitchFamily="34" charset="-120"/>
              </a:rPr>
              <a:t>athena-results/</a:t>
            </a:r>
            <a:endParaRPr lang="en-US" sz="1150"/>
          </a:p>
        </p:txBody>
      </p:sp>
      <p:sp>
        <p:nvSpPr>
          <p:cNvPr id="15" name="Text 12"/>
          <p:cNvSpPr/>
          <p:nvPr/>
        </p:nvSpPr>
        <p:spPr>
          <a:xfrm>
            <a:off x="6199632" y="3227832"/>
            <a:ext cx="2240280" cy="329184"/>
          </a:xfrm>
          <a:prstGeom prst="rect">
            <a:avLst/>
          </a:prstGeom>
          <a:noFill/>
          <a:ln/>
        </p:spPr>
        <p:txBody>
          <a:bodyPr wrap="square" lIns="0" tIns="0" rIns="0" bIns="0" rtlCol="0" anchor="ctr"/>
          <a:lstStyle/>
          <a:p>
            <a:pPr marL="0" indent="0">
              <a:buNone/>
            </a:pPr>
            <a:r>
              <a:rPr lang="en-US" sz="950">
                <a:solidFill>
                  <a:srgbClr val="5A6B7C"/>
                </a:solidFill>
                <a:latin typeface="Calibri" pitchFamily="34" charset="0"/>
                <a:ea typeface="Calibri" pitchFamily="34" charset="-122"/>
                <a:cs typeface="Calibri" pitchFamily="34" charset="-120"/>
              </a:rPr>
              <a:t>Query output location</a:t>
            </a:r>
            <a:endParaRPr lang="en-US" sz="950"/>
          </a:p>
        </p:txBody>
      </p:sp>
      <p:sp>
        <p:nvSpPr>
          <p:cNvPr id="16" name="Shape 13"/>
          <p:cNvSpPr/>
          <p:nvPr/>
        </p:nvSpPr>
        <p:spPr>
          <a:xfrm>
            <a:off x="502920" y="3703320"/>
            <a:ext cx="8138160" cy="713232"/>
          </a:xfrm>
          <a:prstGeom prst="roundRect">
            <a:avLst>
              <a:gd name="adj" fmla="val 7692"/>
            </a:avLst>
          </a:prstGeom>
          <a:solidFill>
            <a:srgbClr val="F4F7FA"/>
          </a:solidFill>
          <a:ln w="9525">
            <a:solidFill>
              <a:srgbClr val="D9E2EA"/>
            </a:solidFill>
            <a:prstDash val="solid"/>
          </a:ln>
        </p:spPr>
        <p:txBody>
          <a:bodyPr/>
          <a:lstStyle/>
          <a:p>
            <a:endParaRPr lang="en-US"/>
          </a:p>
        </p:txBody>
      </p:sp>
      <p:sp>
        <p:nvSpPr>
          <p:cNvPr id="17" name="Text 14"/>
          <p:cNvSpPr/>
          <p:nvPr/>
        </p:nvSpPr>
        <p:spPr>
          <a:xfrm>
            <a:off x="749808" y="3794760"/>
            <a:ext cx="7680960" cy="530352"/>
          </a:xfrm>
          <a:prstGeom prst="rect">
            <a:avLst/>
          </a:prstGeom>
          <a:noFill/>
          <a:ln/>
        </p:spPr>
        <p:txBody>
          <a:bodyPr wrap="square" lIns="0" tIns="0" rIns="0" bIns="0" rtlCol="0" anchor="ctr"/>
          <a:lstStyle/>
          <a:p>
            <a:pPr marL="0" indent="0">
              <a:buNone/>
            </a:pPr>
            <a:r>
              <a:rPr lang="en-US" sz="1200" b="1">
                <a:solidFill>
                  <a:srgbClr val="0F2942"/>
                </a:solidFill>
                <a:latin typeface="Calibri" pitchFamily="34" charset="0"/>
                <a:ea typeface="Calibri" pitchFamily="34" charset="-122"/>
                <a:cs typeface="Calibri" pitchFamily="34" charset="-120"/>
              </a:rPr>
              <a:t>Why we keep the raw files unchanged: </a:t>
            </a:r>
            <a:r>
              <a:rPr lang="en-US" sz="1200">
                <a:solidFill>
                  <a:srgbClr val="1B2B3A"/>
                </a:solidFill>
                <a:latin typeface="Calibri" pitchFamily="34" charset="0"/>
                <a:ea typeface="Calibri" pitchFamily="34" charset="-122"/>
                <a:cs typeface="Calibri" pitchFamily="34" charset="-120"/>
              </a:rPr>
              <a:t>if the transform is wrong we can start again from the original files, without downloading 430 MB from Kaggle a second time.</a:t>
            </a:r>
            <a:endParaRPr lang="en-US" sz="1200"/>
          </a:p>
        </p:txBody>
      </p:sp>
      <p:sp>
        <p:nvSpPr>
          <p:cNvPr id="18" name="Text 15"/>
          <p:cNvSpPr/>
          <p:nvPr/>
        </p:nvSpPr>
        <p:spPr>
          <a:xfrm>
            <a:off x="502920" y="4718304"/>
            <a:ext cx="5486400" cy="228600"/>
          </a:xfrm>
          <a:prstGeom prst="rect">
            <a:avLst/>
          </a:prstGeom>
          <a:noFill/>
          <a:ln/>
        </p:spPr>
        <p:txBody>
          <a:bodyPr wrap="square" lIns="0" tIns="0" rIns="0" bIns="0" rtlCol="0" anchor="ctr"/>
          <a:lstStyle/>
          <a:p>
            <a:pPr marL="0" indent="0">
              <a:buNone/>
            </a:pPr>
            <a:r>
              <a:rPr lang="en-US" sz="850">
                <a:solidFill>
                  <a:srgbClr val="9AABB8"/>
                </a:solidFill>
                <a:latin typeface="Calibri" pitchFamily="34" charset="0"/>
                <a:ea typeface="Calibri" pitchFamily="34" charset="-122"/>
                <a:cs typeface="Calibri" pitchFamily="34" charset="-120"/>
              </a:rPr>
              <a:t>Group 5  ·  M5 Demand Forecasting on AWS</a:t>
            </a:r>
            <a:endParaRPr lang="en-US" sz="850"/>
          </a:p>
        </p:txBody>
      </p:sp>
      <p:sp>
        <p:nvSpPr>
          <p:cNvPr id="19" name="Text 16"/>
          <p:cNvSpPr/>
          <p:nvPr/>
        </p:nvSpPr>
        <p:spPr>
          <a:xfrm>
            <a:off x="8229600" y="4718304"/>
            <a:ext cx="411480" cy="228600"/>
          </a:xfrm>
          <a:prstGeom prst="rect">
            <a:avLst/>
          </a:prstGeom>
          <a:noFill/>
          <a:ln/>
        </p:spPr>
        <p:txBody>
          <a:bodyPr wrap="square" lIns="0" tIns="0" rIns="0" bIns="0" rtlCol="0" anchor="ctr"/>
          <a:lstStyle/>
          <a:p>
            <a:pPr marL="0" indent="0" algn="r">
              <a:buNone/>
            </a:pPr>
            <a:r>
              <a:rPr lang="en-US" sz="850">
                <a:solidFill>
                  <a:srgbClr val="9AABB8"/>
                </a:solidFill>
                <a:latin typeface="Calibri" pitchFamily="34" charset="0"/>
                <a:ea typeface="Calibri" pitchFamily="34" charset="-122"/>
                <a:cs typeface="Calibri" pitchFamily="34" charset="-120"/>
              </a:rPr>
              <a:t>5</a:t>
            </a:r>
            <a:endParaRPr lang="en-US" sz="850"/>
          </a:p>
        </p:txBody>
      </p:sp>
      <p:pic>
        <p:nvPicPr>
          <p:cNvPr id="23" name="Audio 22">
            <a:extLst>
              <a:ext uri="{FF2B5EF4-FFF2-40B4-BE49-F238E27FC236}">
                <a16:creationId xmlns:a16="http://schemas.microsoft.com/office/drawing/2014/main" id="{C7FDF263-126F-7C65-CD34-9755822BCF38}"/>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78800" y="4178300"/>
            <a:ext cx="812800" cy="8128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2440"/>
    </mc:Choice>
    <mc:Fallback xmlns="">
      <p:transition spd="slow" advTm="324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3"/>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2920" y="292608"/>
            <a:ext cx="8138160" cy="219456"/>
          </a:xfrm>
          <a:prstGeom prst="rect">
            <a:avLst/>
          </a:prstGeom>
          <a:noFill/>
          <a:ln/>
        </p:spPr>
        <p:txBody>
          <a:bodyPr wrap="square" lIns="0" tIns="0" rIns="0" bIns="0" rtlCol="0" anchor="ctr"/>
          <a:lstStyle/>
          <a:p>
            <a:pPr marL="0" indent="0">
              <a:buNone/>
            </a:pPr>
            <a:r>
              <a:rPr lang="en-US" sz="1100" b="1" kern="0" spc="160">
                <a:solidFill>
                  <a:srgbClr val="2E86AB"/>
                </a:solidFill>
                <a:latin typeface="Calibri" pitchFamily="34" charset="0"/>
                <a:ea typeface="Calibri" pitchFamily="34" charset="-122"/>
                <a:cs typeface="Calibri" pitchFamily="34" charset="-120"/>
              </a:rPr>
              <a:t>TRANSFORMATION</a:t>
            </a:r>
            <a:endParaRPr lang="en-US" sz="1100"/>
          </a:p>
        </p:txBody>
      </p:sp>
      <p:sp>
        <p:nvSpPr>
          <p:cNvPr id="3" name="Text 1"/>
          <p:cNvSpPr/>
          <p:nvPr/>
        </p:nvSpPr>
        <p:spPr>
          <a:xfrm>
            <a:off x="502920" y="530352"/>
            <a:ext cx="8138160" cy="502920"/>
          </a:xfrm>
          <a:prstGeom prst="rect">
            <a:avLst/>
          </a:prstGeom>
          <a:noFill/>
          <a:ln/>
        </p:spPr>
        <p:txBody>
          <a:bodyPr wrap="square" lIns="0" tIns="0" rIns="0" bIns="0" rtlCol="0" anchor="ctr"/>
          <a:lstStyle/>
          <a:p>
            <a:pPr marL="0" indent="0">
              <a:buNone/>
            </a:pPr>
            <a:r>
              <a:rPr lang="en-US" sz="2800" b="1">
                <a:solidFill>
                  <a:srgbClr val="0F2942"/>
                </a:solidFill>
                <a:latin typeface="Cambria" pitchFamily="34" charset="0"/>
                <a:ea typeface="Cambria" pitchFamily="34" charset="-122"/>
                <a:cs typeface="Cambria" pitchFamily="34" charset="-120"/>
              </a:rPr>
              <a:t>Why we moved the transform off the critical path</a:t>
            </a:r>
            <a:endParaRPr lang="en-US" sz="2800"/>
          </a:p>
        </p:txBody>
      </p:sp>
      <p:sp>
        <p:nvSpPr>
          <p:cNvPr id="4" name="Shape 2"/>
          <p:cNvSpPr/>
          <p:nvPr/>
        </p:nvSpPr>
        <p:spPr>
          <a:xfrm>
            <a:off x="7882128" y="274320"/>
            <a:ext cx="804672" cy="256032"/>
          </a:xfrm>
          <a:prstGeom prst="roundRect">
            <a:avLst>
              <a:gd name="adj" fmla="val 50000"/>
            </a:avLst>
          </a:prstGeom>
          <a:solidFill>
            <a:srgbClr val="F4F7FA"/>
          </a:solidFill>
          <a:ln w="9525">
            <a:solidFill>
              <a:srgbClr val="D9E2EA"/>
            </a:solidFill>
            <a:prstDash val="solid"/>
          </a:ln>
        </p:spPr>
        <p:txBody>
          <a:bodyPr/>
          <a:lstStyle/>
          <a:p>
            <a:endParaRPr lang="en-US"/>
          </a:p>
        </p:txBody>
      </p:sp>
      <p:sp>
        <p:nvSpPr>
          <p:cNvPr id="5" name="Text 3"/>
          <p:cNvSpPr/>
          <p:nvPr/>
        </p:nvSpPr>
        <p:spPr>
          <a:xfrm>
            <a:off x="7882128" y="274320"/>
            <a:ext cx="804672" cy="256032"/>
          </a:xfrm>
          <a:prstGeom prst="rect">
            <a:avLst/>
          </a:prstGeom>
          <a:noFill/>
          <a:ln/>
        </p:spPr>
        <p:txBody>
          <a:bodyPr wrap="square" lIns="0" tIns="0" rIns="0" bIns="0" rtlCol="0" anchor="ctr"/>
          <a:lstStyle/>
          <a:p>
            <a:pPr marL="0" indent="0" algn="ctr">
              <a:buNone/>
            </a:pPr>
            <a:r>
              <a:rPr lang="en-US" sz="950" b="1">
                <a:solidFill>
                  <a:srgbClr val="5A6B7C"/>
                </a:solidFill>
                <a:latin typeface="Calibri" pitchFamily="34" charset="0"/>
                <a:ea typeface="Calibri" pitchFamily="34" charset="-122"/>
                <a:cs typeface="Calibri" pitchFamily="34" charset="-120"/>
              </a:rPr>
              <a:t>JAEWON</a:t>
            </a:r>
            <a:endParaRPr lang="en-US" sz="950"/>
          </a:p>
        </p:txBody>
      </p:sp>
      <p:sp>
        <p:nvSpPr>
          <p:cNvPr id="6" name="Shape 4"/>
          <p:cNvSpPr/>
          <p:nvPr/>
        </p:nvSpPr>
        <p:spPr>
          <a:xfrm>
            <a:off x="502920" y="1188720"/>
            <a:ext cx="3794760" cy="1371600"/>
          </a:xfrm>
          <a:prstGeom prst="roundRect">
            <a:avLst>
              <a:gd name="adj" fmla="val 4000"/>
            </a:avLst>
          </a:prstGeom>
          <a:solidFill>
            <a:srgbClr val="FBEDED"/>
          </a:solidFill>
          <a:ln w="9525">
            <a:solidFill>
              <a:srgbClr val="D9E2EA"/>
            </a:solidFill>
            <a:prstDash val="solid"/>
          </a:ln>
        </p:spPr>
        <p:txBody>
          <a:bodyPr/>
          <a:lstStyle/>
          <a:p>
            <a:endParaRPr lang="en-US"/>
          </a:p>
        </p:txBody>
      </p:sp>
      <p:sp>
        <p:nvSpPr>
          <p:cNvPr id="7" name="Text 5"/>
          <p:cNvSpPr/>
          <p:nvPr/>
        </p:nvSpPr>
        <p:spPr>
          <a:xfrm>
            <a:off x="749808" y="1316736"/>
            <a:ext cx="3291840" cy="237744"/>
          </a:xfrm>
          <a:prstGeom prst="rect">
            <a:avLst/>
          </a:prstGeom>
          <a:noFill/>
          <a:ln/>
        </p:spPr>
        <p:txBody>
          <a:bodyPr wrap="square" lIns="0" tIns="0" rIns="0" bIns="0" rtlCol="0" anchor="ctr"/>
          <a:lstStyle/>
          <a:p>
            <a:pPr marL="0" indent="0">
              <a:buNone/>
            </a:pPr>
            <a:r>
              <a:rPr lang="en-US" sz="1100" b="1" kern="0" spc="120">
                <a:solidFill>
                  <a:srgbClr val="A34747"/>
                </a:solidFill>
                <a:latin typeface="Calibri" pitchFamily="34" charset="0"/>
                <a:ea typeface="Calibri" pitchFamily="34" charset="-122"/>
                <a:cs typeface="Calibri" pitchFamily="34" charset="-120"/>
              </a:rPr>
              <a:t>Proposed</a:t>
            </a:r>
            <a:endParaRPr lang="en-US" sz="1100"/>
          </a:p>
        </p:txBody>
      </p:sp>
      <p:sp>
        <p:nvSpPr>
          <p:cNvPr id="8" name="Text 6"/>
          <p:cNvSpPr/>
          <p:nvPr/>
        </p:nvSpPr>
        <p:spPr>
          <a:xfrm>
            <a:off x="749808" y="1591056"/>
            <a:ext cx="3291840" cy="822960"/>
          </a:xfrm>
          <a:prstGeom prst="rect">
            <a:avLst/>
          </a:prstGeom>
          <a:noFill/>
          <a:ln/>
        </p:spPr>
        <p:txBody>
          <a:bodyPr wrap="square" lIns="0" tIns="0" rIns="0" bIns="0" rtlCol="0" anchor="ctr"/>
          <a:lstStyle/>
          <a:p>
            <a:pPr marL="0" indent="0">
              <a:buNone/>
            </a:pPr>
            <a:r>
              <a:rPr lang="en-US" sz="1200">
                <a:solidFill>
                  <a:srgbClr val="1B2B3A"/>
                </a:solidFill>
                <a:latin typeface="Calibri" pitchFamily="34" charset="0"/>
                <a:ea typeface="Calibri" pitchFamily="34" charset="-122"/>
                <a:cs typeface="Calibri" pitchFamily="34" charset="-120"/>
              </a:rPr>
              <a:t>Glue Spark job on the critical path, so every downstream step was blocked until it succeeded.</a:t>
            </a:r>
            <a:endParaRPr lang="en-US" sz="1200"/>
          </a:p>
        </p:txBody>
      </p:sp>
      <p:sp>
        <p:nvSpPr>
          <p:cNvPr id="9" name="Shape 7"/>
          <p:cNvSpPr/>
          <p:nvPr/>
        </p:nvSpPr>
        <p:spPr>
          <a:xfrm>
            <a:off x="4846320" y="1188720"/>
            <a:ext cx="3794760" cy="1371600"/>
          </a:xfrm>
          <a:prstGeom prst="roundRect">
            <a:avLst>
              <a:gd name="adj" fmla="val 4000"/>
            </a:avLst>
          </a:prstGeom>
          <a:solidFill>
            <a:srgbClr val="EAF3EC"/>
          </a:solidFill>
          <a:ln w="9525">
            <a:solidFill>
              <a:srgbClr val="D9E2EA"/>
            </a:solidFill>
            <a:prstDash val="solid"/>
          </a:ln>
        </p:spPr>
        <p:txBody>
          <a:bodyPr/>
          <a:lstStyle/>
          <a:p>
            <a:endParaRPr lang="en-US"/>
          </a:p>
        </p:txBody>
      </p:sp>
      <p:sp>
        <p:nvSpPr>
          <p:cNvPr id="10" name="Text 8"/>
          <p:cNvSpPr/>
          <p:nvPr/>
        </p:nvSpPr>
        <p:spPr>
          <a:xfrm>
            <a:off x="5093208" y="1316736"/>
            <a:ext cx="3291840" cy="237744"/>
          </a:xfrm>
          <a:prstGeom prst="rect">
            <a:avLst/>
          </a:prstGeom>
          <a:noFill/>
          <a:ln/>
        </p:spPr>
        <p:txBody>
          <a:bodyPr wrap="square" lIns="0" tIns="0" rIns="0" bIns="0" rtlCol="0" anchor="ctr"/>
          <a:lstStyle/>
          <a:p>
            <a:pPr marL="0" indent="0">
              <a:buNone/>
            </a:pPr>
            <a:r>
              <a:rPr lang="en-US" sz="1100" b="1" kern="0" spc="120">
                <a:solidFill>
                  <a:srgbClr val="3D8A5F"/>
                </a:solidFill>
                <a:latin typeface="Calibri" pitchFamily="34" charset="0"/>
                <a:ea typeface="Calibri" pitchFamily="34" charset="-122"/>
                <a:cs typeface="Calibri" pitchFamily="34" charset="-120"/>
              </a:rPr>
              <a:t>Built</a:t>
            </a:r>
            <a:endParaRPr lang="en-US" sz="1100"/>
          </a:p>
        </p:txBody>
      </p:sp>
      <p:sp>
        <p:nvSpPr>
          <p:cNvPr id="11" name="Text 9"/>
          <p:cNvSpPr/>
          <p:nvPr/>
        </p:nvSpPr>
        <p:spPr>
          <a:xfrm>
            <a:off x="5093208" y="1591056"/>
            <a:ext cx="3291840" cy="822960"/>
          </a:xfrm>
          <a:prstGeom prst="rect">
            <a:avLst/>
          </a:prstGeom>
          <a:noFill/>
          <a:ln/>
        </p:spPr>
        <p:txBody>
          <a:bodyPr wrap="square" lIns="0" tIns="0" rIns="0" bIns="0" rtlCol="0" anchor="ctr"/>
          <a:lstStyle/>
          <a:p>
            <a:pPr marL="0" indent="0">
              <a:buNone/>
            </a:pPr>
            <a:r>
              <a:rPr lang="en-US" sz="1200">
                <a:solidFill>
                  <a:srgbClr val="1B2B3A"/>
                </a:solidFill>
                <a:latin typeface="Calibri" pitchFamily="34" charset="0"/>
                <a:ea typeface="Calibri" pitchFamily="34" charset="-122"/>
                <a:cs typeface="Calibri" pitchFamily="34" charset="-120"/>
              </a:rPr>
              <a:t>Local reshape, then S3, crawler and Athena CTAS. Glue writes to a separate prefix as evidence.</a:t>
            </a:r>
            <a:endParaRPr lang="en-US" sz="1200"/>
          </a:p>
        </p:txBody>
      </p:sp>
      <p:sp>
        <p:nvSpPr>
          <p:cNvPr id="12" name="Text 10"/>
          <p:cNvSpPr/>
          <p:nvPr/>
        </p:nvSpPr>
        <p:spPr>
          <a:xfrm>
            <a:off x="502920" y="2670048"/>
            <a:ext cx="8138160" cy="411480"/>
          </a:xfrm>
          <a:prstGeom prst="rect">
            <a:avLst/>
          </a:prstGeom>
          <a:noFill/>
          <a:ln/>
        </p:spPr>
        <p:txBody>
          <a:bodyPr wrap="square" lIns="0" tIns="0" rIns="0" bIns="0" rtlCol="0" anchor="ctr"/>
          <a:lstStyle/>
          <a:p>
            <a:pPr marL="0" indent="0">
              <a:buNone/>
            </a:pPr>
            <a:r>
              <a:rPr lang="en-US" sz="1100" i="1">
                <a:solidFill>
                  <a:srgbClr val="5A6B7C"/>
                </a:solidFill>
                <a:latin typeface="Calibri" pitchFamily="34" charset="0"/>
                <a:ea typeface="Calibri" pitchFamily="34" charset="-122"/>
                <a:cs typeface="Calibri" pitchFamily="34" charset="-120"/>
              </a:rPr>
              <a:t>The transform is a wide-to-long reshape of a 120 MB CSV and runs locally in 12 seconds. Glue takes the same setup at any data size, and it was the step most likely to fail. Athena CTAS is a cloud transformation, so the layer does not depend on Glue.</a:t>
            </a:r>
            <a:endParaRPr lang="en-US" sz="1100"/>
          </a:p>
        </p:txBody>
      </p:sp>
      <p:sp>
        <p:nvSpPr>
          <p:cNvPr id="13" name="Text 11"/>
          <p:cNvSpPr/>
          <p:nvPr/>
        </p:nvSpPr>
        <p:spPr>
          <a:xfrm>
            <a:off x="502920" y="3200400"/>
            <a:ext cx="8138160" cy="256032"/>
          </a:xfrm>
          <a:prstGeom prst="rect">
            <a:avLst/>
          </a:prstGeom>
          <a:noFill/>
          <a:ln/>
        </p:spPr>
        <p:txBody>
          <a:bodyPr wrap="square" lIns="0" tIns="0" rIns="0" bIns="0" rtlCol="0" anchor="ctr"/>
          <a:lstStyle/>
          <a:p>
            <a:pPr marL="0" indent="0">
              <a:buNone/>
            </a:pPr>
            <a:r>
              <a:rPr lang="en-US" sz="1250" b="1">
                <a:solidFill>
                  <a:srgbClr val="0F2942"/>
                </a:solidFill>
                <a:latin typeface="Calibri" pitchFamily="34" charset="0"/>
                <a:ea typeface="Calibri" pitchFamily="34" charset="-122"/>
                <a:cs typeface="Calibri" pitchFamily="34" charset="-120"/>
              </a:rPr>
              <a:t>The transform will not write output unless these checks pass</a:t>
            </a:r>
            <a:endParaRPr lang="en-US" sz="1250"/>
          </a:p>
        </p:txBody>
      </p:sp>
      <p:pic>
        <p:nvPicPr>
          <p:cNvPr id="14" name="Image 0" descr="validation_crop.png"/>
          <p:cNvPicPr>
            <a:picLocks noChangeAspect="1"/>
          </p:cNvPicPr>
          <p:nvPr/>
        </p:nvPicPr>
        <p:blipFill>
          <a:blip r:embed="rId3"/>
          <a:stretch>
            <a:fillRect/>
          </a:stretch>
        </p:blipFill>
        <p:spPr>
          <a:xfrm>
            <a:off x="502920" y="3493008"/>
            <a:ext cx="4434840" cy="1143000"/>
          </a:xfrm>
          <a:prstGeom prst="rect">
            <a:avLst/>
          </a:prstGeom>
        </p:spPr>
      </p:pic>
      <p:sp>
        <p:nvSpPr>
          <p:cNvPr id="15" name="Text 12"/>
          <p:cNvSpPr/>
          <p:nvPr/>
        </p:nvSpPr>
        <p:spPr>
          <a:xfrm>
            <a:off x="5212080" y="3703320"/>
            <a:ext cx="3429000" cy="777240"/>
          </a:xfrm>
          <a:prstGeom prst="rect">
            <a:avLst/>
          </a:prstGeom>
          <a:noFill/>
          <a:ln/>
        </p:spPr>
        <p:txBody>
          <a:bodyPr wrap="square" lIns="0" tIns="0" rIns="0" bIns="0" rtlCol="0" anchor="ctr"/>
          <a:lstStyle/>
          <a:p>
            <a:pPr marL="0" indent="0">
              <a:buNone/>
            </a:pPr>
            <a:r>
              <a:rPr lang="en-US" sz="1050" i="1">
                <a:solidFill>
                  <a:srgbClr val="5A6B7C"/>
                </a:solidFill>
                <a:latin typeface="Calibri" pitchFamily="34" charset="0"/>
                <a:ea typeface="Calibri" pitchFamily="34" charset="-122"/>
                <a:cs typeface="Calibri" pitchFamily="34" charset="-120"/>
              </a:rPr>
              <a:t>This is the single-store run. The same checks run on all ten stores before anything is written to S3.</a:t>
            </a:r>
            <a:endParaRPr lang="en-US" sz="1050"/>
          </a:p>
        </p:txBody>
      </p:sp>
      <p:sp>
        <p:nvSpPr>
          <p:cNvPr id="16" name="Text 13"/>
          <p:cNvSpPr/>
          <p:nvPr/>
        </p:nvSpPr>
        <p:spPr>
          <a:xfrm>
            <a:off x="502920" y="4718304"/>
            <a:ext cx="5486400" cy="228600"/>
          </a:xfrm>
          <a:prstGeom prst="rect">
            <a:avLst/>
          </a:prstGeom>
          <a:noFill/>
          <a:ln/>
        </p:spPr>
        <p:txBody>
          <a:bodyPr wrap="square" lIns="0" tIns="0" rIns="0" bIns="0" rtlCol="0" anchor="ctr"/>
          <a:lstStyle/>
          <a:p>
            <a:pPr marL="0" indent="0">
              <a:buNone/>
            </a:pPr>
            <a:r>
              <a:rPr lang="en-US" sz="850">
                <a:solidFill>
                  <a:srgbClr val="9AABB8"/>
                </a:solidFill>
                <a:latin typeface="Calibri" pitchFamily="34" charset="0"/>
                <a:ea typeface="Calibri" pitchFamily="34" charset="-122"/>
                <a:cs typeface="Calibri" pitchFamily="34" charset="-120"/>
              </a:rPr>
              <a:t>Group 5  ·  M5 Demand Forecasting on AWS</a:t>
            </a:r>
            <a:endParaRPr lang="en-US" sz="850"/>
          </a:p>
        </p:txBody>
      </p:sp>
      <p:sp>
        <p:nvSpPr>
          <p:cNvPr id="17" name="Text 14"/>
          <p:cNvSpPr/>
          <p:nvPr/>
        </p:nvSpPr>
        <p:spPr>
          <a:xfrm>
            <a:off x="8229600" y="4718304"/>
            <a:ext cx="411480" cy="228600"/>
          </a:xfrm>
          <a:prstGeom prst="rect">
            <a:avLst/>
          </a:prstGeom>
          <a:noFill/>
          <a:ln/>
        </p:spPr>
        <p:txBody>
          <a:bodyPr wrap="square" lIns="0" tIns="0" rIns="0" bIns="0" rtlCol="0" anchor="ctr"/>
          <a:lstStyle/>
          <a:p>
            <a:pPr marL="0" indent="0" algn="r">
              <a:buNone/>
            </a:pPr>
            <a:r>
              <a:rPr lang="en-US" sz="850">
                <a:solidFill>
                  <a:srgbClr val="9AABB8"/>
                </a:solidFill>
                <a:latin typeface="Calibri" pitchFamily="34" charset="0"/>
                <a:ea typeface="Calibri" pitchFamily="34" charset="-122"/>
                <a:cs typeface="Calibri" pitchFamily="34" charset="-120"/>
              </a:rPr>
              <a:t>6</a:t>
            </a:r>
            <a:endParaRPr lang="en-US" sz="85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02920" y="292608"/>
            <a:ext cx="8138160" cy="219456"/>
          </a:xfrm>
          <a:prstGeom prst="rect">
            <a:avLst/>
          </a:prstGeom>
          <a:noFill/>
          <a:ln/>
        </p:spPr>
        <p:txBody>
          <a:bodyPr wrap="square" lIns="0" tIns="0" rIns="0" bIns="0" rtlCol="0" anchor="ctr"/>
          <a:lstStyle/>
          <a:p>
            <a:pPr marL="0" indent="0">
              <a:buNone/>
            </a:pPr>
            <a:r>
              <a:rPr lang="en-US" sz="1100" b="1" kern="0" spc="160">
                <a:solidFill>
                  <a:srgbClr val="2E86AB"/>
                </a:solidFill>
                <a:latin typeface="Calibri" pitchFamily="34" charset="0"/>
                <a:ea typeface="Calibri" pitchFamily="34" charset="-122"/>
                <a:cs typeface="Calibri" pitchFamily="34" charset="-120"/>
              </a:rPr>
              <a:t>DATA MODEL</a:t>
            </a:r>
            <a:endParaRPr lang="en-US" sz="1100"/>
          </a:p>
        </p:txBody>
      </p:sp>
      <p:sp>
        <p:nvSpPr>
          <p:cNvPr id="3" name="Text 1"/>
          <p:cNvSpPr/>
          <p:nvPr/>
        </p:nvSpPr>
        <p:spPr>
          <a:xfrm>
            <a:off x="502920" y="530352"/>
            <a:ext cx="8138160" cy="502920"/>
          </a:xfrm>
          <a:prstGeom prst="rect">
            <a:avLst/>
          </a:prstGeom>
          <a:noFill/>
          <a:ln/>
        </p:spPr>
        <p:txBody>
          <a:bodyPr wrap="square" lIns="0" tIns="0" rIns="0" bIns="0" rtlCol="0" anchor="ctr"/>
          <a:lstStyle/>
          <a:p>
            <a:pPr marL="0" indent="0">
              <a:buNone/>
            </a:pPr>
            <a:r>
              <a:rPr lang="en-US" sz="2800" b="1">
                <a:solidFill>
                  <a:srgbClr val="0F2942"/>
                </a:solidFill>
                <a:latin typeface="Cambria" pitchFamily="34" charset="0"/>
                <a:ea typeface="Cambria" pitchFamily="34" charset="-122"/>
                <a:cs typeface="Cambria" pitchFamily="34" charset="-120"/>
              </a:rPr>
              <a:t>One fact table at item × store × day</a:t>
            </a:r>
            <a:endParaRPr lang="en-US" sz="2800"/>
          </a:p>
        </p:txBody>
      </p:sp>
      <p:sp>
        <p:nvSpPr>
          <p:cNvPr id="4" name="Shape 2"/>
          <p:cNvSpPr/>
          <p:nvPr/>
        </p:nvSpPr>
        <p:spPr>
          <a:xfrm>
            <a:off x="7882128" y="274320"/>
            <a:ext cx="804672" cy="256032"/>
          </a:xfrm>
          <a:prstGeom prst="roundRect">
            <a:avLst>
              <a:gd name="adj" fmla="val 50000"/>
            </a:avLst>
          </a:prstGeom>
          <a:solidFill>
            <a:srgbClr val="F4F7FA"/>
          </a:solidFill>
          <a:ln w="9525">
            <a:solidFill>
              <a:srgbClr val="D9E2EA"/>
            </a:solidFill>
            <a:prstDash val="solid"/>
          </a:ln>
        </p:spPr>
        <p:txBody>
          <a:bodyPr/>
          <a:lstStyle/>
          <a:p>
            <a:endParaRPr lang="en-US"/>
          </a:p>
        </p:txBody>
      </p:sp>
      <p:sp>
        <p:nvSpPr>
          <p:cNvPr id="5" name="Text 3"/>
          <p:cNvSpPr/>
          <p:nvPr/>
        </p:nvSpPr>
        <p:spPr>
          <a:xfrm>
            <a:off x="7882128" y="274320"/>
            <a:ext cx="804672" cy="256032"/>
          </a:xfrm>
          <a:prstGeom prst="rect">
            <a:avLst/>
          </a:prstGeom>
          <a:noFill/>
          <a:ln/>
        </p:spPr>
        <p:txBody>
          <a:bodyPr wrap="square" lIns="0" tIns="0" rIns="0" bIns="0" rtlCol="0" anchor="ctr"/>
          <a:lstStyle/>
          <a:p>
            <a:pPr marL="0" indent="0" algn="ctr">
              <a:buNone/>
            </a:pPr>
            <a:r>
              <a:rPr lang="en-US" sz="950" b="1">
                <a:solidFill>
                  <a:srgbClr val="5A6B7C"/>
                </a:solidFill>
                <a:latin typeface="Calibri" pitchFamily="34" charset="0"/>
                <a:ea typeface="Calibri" pitchFamily="34" charset="-122"/>
                <a:cs typeface="Calibri" pitchFamily="34" charset="-120"/>
              </a:rPr>
              <a:t>JAEWON</a:t>
            </a:r>
            <a:endParaRPr lang="en-US" sz="95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02920" y="1207008"/>
          <a:ext cx="8138160" cy="1920240"/>
        </p:xfrm>
        <a:graphic>
          <a:graphicData uri="http://schemas.openxmlformats.org/drawingml/2006/table">
            <a:tbl>
              <a:tblPr/>
              <a:tblGrid>
                <a:gridCol w="1600200">
                  <a:extLst>
                    <a:ext uri="{9D8B030D-6E8A-4147-A177-3AD203B41FA5}">
                      <a16:colId xmlns:a16="http://schemas.microsoft.com/office/drawing/2014/main" val="20000"/>
                    </a:ext>
                  </a:extLst>
                </a:gridCol>
                <a:gridCol w="6537960">
                  <a:extLst>
                    <a:ext uri="{9D8B030D-6E8A-4147-A177-3AD203B41FA5}">
                      <a16:colId xmlns:a16="http://schemas.microsoft.com/office/drawing/2014/main" val="20001"/>
                    </a:ext>
                  </a:extLst>
                </a:gridCol>
              </a:tblGrid>
              <a:tr h="384048">
                <a:tc>
                  <a:txBody>
                    <a:bodyPr/>
                    <a:lstStyle/>
                    <a:p>
                      <a:pPr marL="0" indent="0">
                        <a:buNone/>
                      </a:pPr>
                      <a:r>
                        <a:rPr lang="en-US" sz="1150" b="1">
                          <a:solidFill>
                            <a:srgbClr val="FFFFFF"/>
                          </a:solidFill>
                          <a:latin typeface="Calibri" pitchFamily="34" charset="0"/>
                          <a:ea typeface="Calibri" pitchFamily="34" charset="-122"/>
                          <a:cs typeface="Calibri" pitchFamily="34" charset="-120"/>
                        </a:rPr>
                        <a:t>Property</a:t>
                      </a:r>
                      <a:endParaRPr lang="en-US" sz="1150">
                        <a:latin typeface="Calibri" charset="0"/>
                        <a:ea typeface="Calibri" charset="0"/>
                        <a:cs typeface="Calibri" charset="0"/>
                      </a:endParaRPr>
                    </a:p>
                  </a:txBody>
                  <a:tcPr marL="109728" marR="109728" marT="54864" marB="54864"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0F2942"/>
                    </a:solidFill>
                  </a:tcPr>
                </a:tc>
                <a:tc>
                  <a:txBody>
                    <a:bodyPr/>
                    <a:lstStyle/>
                    <a:p>
                      <a:pPr marL="0" indent="0">
                        <a:buNone/>
                      </a:pPr>
                      <a:r>
                        <a:rPr lang="en-US" sz="1150" b="1">
                          <a:solidFill>
                            <a:srgbClr val="FFFFFF"/>
                          </a:solidFill>
                          <a:latin typeface="Calibri" pitchFamily="34" charset="0"/>
                          <a:ea typeface="Calibri" pitchFamily="34" charset="-122"/>
                          <a:cs typeface="Calibri" pitchFamily="34" charset="-120"/>
                        </a:rPr>
                        <a:t>Decision</a:t>
                      </a:r>
                      <a:endParaRPr lang="en-US" sz="1150">
                        <a:latin typeface="Calibri" charset="0"/>
                        <a:ea typeface="Calibri" charset="0"/>
                        <a:cs typeface="Calibri" charset="0"/>
                      </a:endParaRPr>
                    </a:p>
                  </a:txBody>
                  <a:tcPr marL="109728" marR="109728" marT="54864" marB="54864"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0F2942"/>
                    </a:solidFill>
                  </a:tcPr>
                </a:tc>
                <a:extLst>
                  <a:ext uri="{0D108BD9-81ED-4DB2-BD59-A6C34878D82A}">
                    <a16:rowId xmlns:a16="http://schemas.microsoft.com/office/drawing/2014/main" val="10000"/>
                  </a:ext>
                </a:extLst>
              </a:tr>
              <a:tr h="384048">
                <a:tc>
                  <a:txBody>
                    <a:bodyPr/>
                    <a:lstStyle/>
                    <a:p>
                      <a:pPr marL="0" indent="0">
                        <a:buNone/>
                      </a:pPr>
                      <a:r>
                        <a:rPr lang="en-US" sz="1100" b="1">
                          <a:solidFill>
                            <a:srgbClr val="0F2942"/>
                          </a:solidFill>
                          <a:latin typeface="Calibri" pitchFamily="34" charset="0"/>
                          <a:ea typeface="Calibri" pitchFamily="34" charset="-122"/>
                          <a:cs typeface="Calibri" pitchFamily="34" charset="-120"/>
                        </a:rPr>
                        <a:t>Grain</a:t>
                      </a:r>
                      <a:endParaRPr lang="en-US" sz="1100">
                        <a:latin typeface="Calibri" charset="0"/>
                        <a:ea typeface="Calibri" charset="0"/>
                        <a:cs typeface="Calibri" charset="0"/>
                      </a:endParaRPr>
                    </a:p>
                  </a:txBody>
                  <a:tcPr marL="109728" marR="109728" marT="54864" marB="54864"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tcPr>
                </a:tc>
                <a:tc>
                  <a:txBody>
                    <a:bodyPr/>
                    <a:lstStyle/>
                    <a:p>
                      <a:pPr marL="0" indent="0">
                        <a:buNone/>
                      </a:pPr>
                      <a:r>
                        <a:rPr lang="en-US" sz="1100">
                          <a:solidFill>
                            <a:srgbClr val="1B2B3A"/>
                          </a:solidFill>
                          <a:latin typeface="Calibri" pitchFamily="34" charset="0"/>
                          <a:ea typeface="Calibri" pitchFamily="34" charset="-122"/>
                          <a:cs typeface="Calibri" pitchFamily="34" charset="-120"/>
                        </a:rPr>
                        <a:t>One row per item, per store, per day. 59,181,090 rows</a:t>
                      </a:r>
                      <a:endParaRPr lang="en-US" sz="1100">
                        <a:latin typeface="Calibri" charset="0"/>
                        <a:ea typeface="Calibri" charset="0"/>
                        <a:cs typeface="Calibri" charset="0"/>
                      </a:endParaRPr>
                    </a:p>
                  </a:txBody>
                  <a:tcPr marL="109728" marR="109728" marT="54864" marB="54864"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100" b="1">
                          <a:solidFill>
                            <a:srgbClr val="0F2942"/>
                          </a:solidFill>
                          <a:latin typeface="Calibri" pitchFamily="34" charset="0"/>
                          <a:ea typeface="Calibri" pitchFamily="34" charset="-122"/>
                          <a:cs typeface="Calibri" pitchFamily="34" charset="-120"/>
                        </a:rPr>
                        <a:t>Primary key</a:t>
                      </a:r>
                      <a:endParaRPr lang="en-US" sz="1100">
                        <a:latin typeface="Calibri" charset="0"/>
                        <a:ea typeface="Calibri" charset="0"/>
                        <a:cs typeface="Calibri" charset="0"/>
                      </a:endParaRPr>
                    </a:p>
                  </a:txBody>
                  <a:tcPr marL="109728" marR="109728" marT="54864" marB="54864"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tcPr>
                </a:tc>
                <a:tc>
                  <a:txBody>
                    <a:bodyPr/>
                    <a:lstStyle/>
                    <a:p>
                      <a:pPr marL="0" indent="0">
                        <a:buNone/>
                      </a:pPr>
                      <a:r>
                        <a:rPr lang="en-US" sz="1100">
                          <a:solidFill>
                            <a:srgbClr val="1B2B3A"/>
                          </a:solidFill>
                          <a:latin typeface="Calibri" pitchFamily="34" charset="0"/>
                          <a:ea typeface="Calibri" pitchFamily="34" charset="-122"/>
                          <a:cs typeface="Calibri" pitchFamily="34" charset="-120"/>
                        </a:rPr>
                        <a:t>(item_id, store_id, d). Three columns, not the two our proposal implied</a:t>
                      </a:r>
                      <a:endParaRPr lang="en-US" sz="1100">
                        <a:latin typeface="Calibri" charset="0"/>
                        <a:ea typeface="Calibri" charset="0"/>
                        <a:cs typeface="Calibri" charset="0"/>
                      </a:endParaRPr>
                    </a:p>
                  </a:txBody>
                  <a:tcPr marL="109728" marR="109728" marT="54864" marB="54864"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1100" b="1">
                          <a:solidFill>
                            <a:srgbClr val="0F2942"/>
                          </a:solidFill>
                          <a:latin typeface="Calibri" pitchFamily="34" charset="0"/>
                          <a:ea typeface="Calibri" pitchFamily="34" charset="-122"/>
                          <a:cs typeface="Calibri" pitchFamily="34" charset="-120"/>
                        </a:rPr>
                        <a:t>Format</a:t>
                      </a:r>
                      <a:endParaRPr lang="en-US" sz="1100">
                        <a:latin typeface="Calibri" charset="0"/>
                        <a:ea typeface="Calibri" charset="0"/>
                        <a:cs typeface="Calibri" charset="0"/>
                      </a:endParaRPr>
                    </a:p>
                  </a:txBody>
                  <a:tcPr marL="109728" marR="109728" marT="54864" marB="54864"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tcPr>
                </a:tc>
                <a:tc>
                  <a:txBody>
                    <a:bodyPr/>
                    <a:lstStyle/>
                    <a:p>
                      <a:pPr marL="0" indent="0">
                        <a:buNone/>
                      </a:pPr>
                      <a:r>
                        <a:rPr lang="en-US" sz="1100">
                          <a:solidFill>
                            <a:srgbClr val="1B2B3A"/>
                          </a:solidFill>
                          <a:latin typeface="Calibri" pitchFamily="34" charset="0"/>
                          <a:ea typeface="Calibri" pitchFamily="34" charset="-122"/>
                          <a:cs typeface="Calibri" pitchFamily="34" charset="-120"/>
                        </a:rPr>
                        <a:t>Snappy Parquet, partitioned by state_id (CA / TX / WI)</a:t>
                      </a:r>
                      <a:endParaRPr lang="en-US" sz="1100">
                        <a:latin typeface="Calibri" charset="0"/>
                        <a:ea typeface="Calibri" charset="0"/>
                        <a:cs typeface="Calibri" charset="0"/>
                      </a:endParaRPr>
                    </a:p>
                  </a:txBody>
                  <a:tcPr marL="109728" marR="109728" marT="54864" marB="54864"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buNone/>
                      </a:pPr>
                      <a:r>
                        <a:rPr lang="en-US" sz="1100" b="1">
                          <a:solidFill>
                            <a:srgbClr val="0F2942"/>
                          </a:solidFill>
                          <a:latin typeface="Calibri" pitchFamily="34" charset="0"/>
                          <a:ea typeface="Calibri" pitchFamily="34" charset="-122"/>
                          <a:cs typeface="Calibri" pitchFamily="34" charset="-120"/>
                        </a:rPr>
                        <a:t>Price join</a:t>
                      </a:r>
                      <a:endParaRPr lang="en-US" sz="1100">
                        <a:latin typeface="Calibri" charset="0"/>
                        <a:ea typeface="Calibri" charset="0"/>
                        <a:cs typeface="Calibri" charset="0"/>
                      </a:endParaRPr>
                    </a:p>
                  </a:txBody>
                  <a:tcPr marL="109728" marR="109728" marT="54864" marB="54864"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tcPr>
                </a:tc>
                <a:tc>
                  <a:txBody>
                    <a:bodyPr/>
                    <a:lstStyle/>
                    <a:p>
                      <a:pPr marL="0" indent="0">
                        <a:buNone/>
                      </a:pPr>
                      <a:r>
                        <a:rPr lang="en-US" sz="1100">
                          <a:solidFill>
                            <a:srgbClr val="1B2B3A"/>
                          </a:solidFill>
                          <a:latin typeface="Calibri" pitchFamily="34" charset="0"/>
                          <a:ea typeface="Calibri" pitchFamily="34" charset="-122"/>
                          <a:cs typeface="Calibri" pitchFamily="34" charset="-120"/>
                        </a:rPr>
                        <a:t>LEFT. The nulls mean the item was not being carried in that store yet.</a:t>
                      </a:r>
                      <a:endParaRPr lang="en-US" sz="1100">
                        <a:latin typeface="Calibri" charset="0"/>
                        <a:ea typeface="Calibri" charset="0"/>
                        <a:cs typeface="Calibri" charset="0"/>
                      </a:endParaRPr>
                    </a:p>
                  </a:txBody>
                  <a:tcPr marL="109728" marR="109728" marT="54864" marB="54864"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7" name="Shape 4"/>
          <p:cNvSpPr/>
          <p:nvPr/>
        </p:nvSpPr>
        <p:spPr>
          <a:xfrm>
            <a:off x="502920" y="3310128"/>
            <a:ext cx="8138160" cy="1051560"/>
          </a:xfrm>
          <a:prstGeom prst="roundRect">
            <a:avLst>
              <a:gd name="adj" fmla="val 5217"/>
            </a:avLst>
          </a:prstGeom>
          <a:solidFill>
            <a:srgbClr val="FDF4E6"/>
          </a:solidFill>
          <a:ln w="12700">
            <a:solidFill>
              <a:srgbClr val="E8A33D"/>
            </a:solidFill>
            <a:prstDash val="solid"/>
          </a:ln>
        </p:spPr>
        <p:txBody>
          <a:bodyPr/>
          <a:lstStyle/>
          <a:p>
            <a:endParaRPr lang="en-US"/>
          </a:p>
        </p:txBody>
      </p:sp>
      <p:sp>
        <p:nvSpPr>
          <p:cNvPr id="6" name="Text 5"/>
          <p:cNvSpPr/>
          <p:nvPr/>
        </p:nvSpPr>
        <p:spPr>
          <a:xfrm>
            <a:off x="777240" y="3419856"/>
            <a:ext cx="7589520" cy="237744"/>
          </a:xfrm>
          <a:prstGeom prst="rect">
            <a:avLst/>
          </a:prstGeom>
          <a:noFill/>
          <a:ln/>
        </p:spPr>
        <p:txBody>
          <a:bodyPr wrap="square" lIns="0" tIns="0" rIns="0" bIns="0" rtlCol="0" anchor="ctr"/>
          <a:lstStyle/>
          <a:p>
            <a:pPr marL="0" indent="0">
              <a:buNone/>
            </a:pPr>
            <a:r>
              <a:rPr lang="en-US" sz="1200" b="1">
                <a:solidFill>
                  <a:srgbClr val="0F2942"/>
                </a:solidFill>
                <a:latin typeface="Calibri" pitchFamily="34" charset="0"/>
                <a:ea typeface="Calibri" pitchFamily="34" charset="-122"/>
                <a:cs typeface="Calibri" pitchFamily="34" charset="-120"/>
              </a:rPr>
              <a:t>A note on partitioning</a:t>
            </a:r>
            <a:endParaRPr lang="en-US" sz="1200"/>
          </a:p>
        </p:txBody>
      </p:sp>
      <p:sp>
        <p:nvSpPr>
          <p:cNvPr id="9" name="Text 6"/>
          <p:cNvSpPr/>
          <p:nvPr/>
        </p:nvSpPr>
        <p:spPr>
          <a:xfrm>
            <a:off x="777240" y="3675888"/>
            <a:ext cx="7589520" cy="621792"/>
          </a:xfrm>
          <a:prstGeom prst="rect">
            <a:avLst/>
          </a:prstGeom>
          <a:noFill/>
          <a:ln/>
        </p:spPr>
        <p:txBody>
          <a:bodyPr wrap="square" lIns="0" tIns="0" rIns="0" bIns="0" rtlCol="0" anchor="ctr"/>
          <a:lstStyle/>
          <a:p>
            <a:pPr marL="0" indent="0">
              <a:buNone/>
            </a:pPr>
            <a:r>
              <a:rPr lang="en-US" sz="1050">
                <a:solidFill>
                  <a:srgbClr val="1B2B3A"/>
                </a:solidFill>
                <a:latin typeface="Calibri" pitchFamily="34" charset="0"/>
                <a:ea typeface="Calibri" pitchFamily="34" charset="-122"/>
                <a:cs typeface="Calibri" pitchFamily="34" charset="-120"/>
              </a:rPr>
              <a:t>Most of our queries aggregate across all three states, so partition pruning is not where the saving comes from. The cost reduction comes from columnar projection and compression, because a query that reads four of the sixteen columns only scans those four. Partitioning still helps the state-filtered queries.</a:t>
            </a:r>
            <a:endParaRPr lang="en-US" sz="1050"/>
          </a:p>
        </p:txBody>
      </p:sp>
      <p:sp>
        <p:nvSpPr>
          <p:cNvPr id="10" name="Text 7"/>
          <p:cNvSpPr/>
          <p:nvPr/>
        </p:nvSpPr>
        <p:spPr>
          <a:xfrm>
            <a:off x="502920" y="4443984"/>
            <a:ext cx="8138160" cy="237744"/>
          </a:xfrm>
          <a:prstGeom prst="rect">
            <a:avLst/>
          </a:prstGeom>
          <a:noFill/>
          <a:ln/>
        </p:spPr>
        <p:txBody>
          <a:bodyPr wrap="square" lIns="0" tIns="0" rIns="0" bIns="0" rtlCol="0" anchor="ctr"/>
          <a:lstStyle/>
          <a:p>
            <a:pPr marL="0" indent="0">
              <a:buNone/>
            </a:pPr>
            <a:r>
              <a:rPr lang="en-US" sz="950" i="1">
                <a:solidFill>
                  <a:srgbClr val="5A6B7C"/>
                </a:solidFill>
                <a:latin typeface="Calibri" pitchFamily="34" charset="0"/>
                <a:ea typeface="Calibri" pitchFamily="34" charset="-122"/>
                <a:cs typeface="Calibri" pitchFamily="34" charset="-120"/>
              </a:rPr>
              <a:t>Curated serving tables:  daily_sales_agg  ·  weekly_item_agg  ·  forecast_vs_actual  ·  data_quality_summary</a:t>
            </a:r>
            <a:endParaRPr lang="en-US" sz="950"/>
          </a:p>
        </p:txBody>
      </p:sp>
      <p:sp>
        <p:nvSpPr>
          <p:cNvPr id="11" name="Text 8"/>
          <p:cNvSpPr/>
          <p:nvPr/>
        </p:nvSpPr>
        <p:spPr>
          <a:xfrm>
            <a:off x="502920" y="4718304"/>
            <a:ext cx="5486400" cy="228600"/>
          </a:xfrm>
          <a:prstGeom prst="rect">
            <a:avLst/>
          </a:prstGeom>
          <a:noFill/>
          <a:ln/>
        </p:spPr>
        <p:txBody>
          <a:bodyPr wrap="square" lIns="0" tIns="0" rIns="0" bIns="0" rtlCol="0" anchor="ctr"/>
          <a:lstStyle/>
          <a:p>
            <a:pPr marL="0" indent="0">
              <a:buNone/>
            </a:pPr>
            <a:r>
              <a:rPr lang="en-US" sz="850">
                <a:solidFill>
                  <a:srgbClr val="9AABB8"/>
                </a:solidFill>
                <a:latin typeface="Calibri" pitchFamily="34" charset="0"/>
                <a:ea typeface="Calibri" pitchFamily="34" charset="-122"/>
                <a:cs typeface="Calibri" pitchFamily="34" charset="-120"/>
              </a:rPr>
              <a:t>Group 5  ·  M5 Demand Forecasting on AWS</a:t>
            </a:r>
            <a:endParaRPr lang="en-US" sz="850"/>
          </a:p>
        </p:txBody>
      </p:sp>
      <p:sp>
        <p:nvSpPr>
          <p:cNvPr id="12" name="Text 9"/>
          <p:cNvSpPr/>
          <p:nvPr/>
        </p:nvSpPr>
        <p:spPr>
          <a:xfrm>
            <a:off x="8229600" y="4718304"/>
            <a:ext cx="411480" cy="228600"/>
          </a:xfrm>
          <a:prstGeom prst="rect">
            <a:avLst/>
          </a:prstGeom>
          <a:noFill/>
          <a:ln/>
        </p:spPr>
        <p:txBody>
          <a:bodyPr wrap="square" lIns="0" tIns="0" rIns="0" bIns="0" rtlCol="0" anchor="ctr"/>
          <a:lstStyle/>
          <a:p>
            <a:pPr marL="0" indent="0" algn="r">
              <a:buNone/>
            </a:pPr>
            <a:r>
              <a:rPr lang="en-US" sz="850">
                <a:solidFill>
                  <a:srgbClr val="9AABB8"/>
                </a:solidFill>
                <a:latin typeface="Calibri" pitchFamily="34" charset="0"/>
                <a:ea typeface="Calibri" pitchFamily="34" charset="-122"/>
                <a:cs typeface="Calibri" pitchFamily="34" charset="-120"/>
              </a:rPr>
              <a:t>7</a:t>
            </a:r>
            <a:endParaRPr lang="en-US" sz="85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02920" y="292608"/>
            <a:ext cx="8138160" cy="219456"/>
          </a:xfrm>
          <a:prstGeom prst="rect">
            <a:avLst/>
          </a:prstGeom>
          <a:noFill/>
          <a:ln/>
        </p:spPr>
        <p:txBody>
          <a:bodyPr wrap="square" lIns="0" tIns="0" rIns="0" bIns="0" rtlCol="0" anchor="ctr"/>
          <a:lstStyle/>
          <a:p>
            <a:pPr marL="0" indent="0">
              <a:buNone/>
            </a:pPr>
            <a:r>
              <a:rPr lang="en-US" sz="1100" b="1" kern="0" spc="160">
                <a:solidFill>
                  <a:srgbClr val="2E86AB"/>
                </a:solidFill>
                <a:latin typeface="Calibri" pitchFamily="34" charset="0"/>
                <a:ea typeface="Calibri" pitchFamily="34" charset="-122"/>
                <a:cs typeface="Calibri" pitchFamily="34" charset="-120"/>
              </a:rPr>
              <a:t>DATA QUALITY</a:t>
            </a:r>
            <a:endParaRPr lang="en-US" sz="1100"/>
          </a:p>
        </p:txBody>
      </p:sp>
      <p:sp>
        <p:nvSpPr>
          <p:cNvPr id="3" name="Text 1"/>
          <p:cNvSpPr/>
          <p:nvPr/>
        </p:nvSpPr>
        <p:spPr>
          <a:xfrm>
            <a:off x="502920" y="530352"/>
            <a:ext cx="8138160" cy="502920"/>
          </a:xfrm>
          <a:prstGeom prst="rect">
            <a:avLst/>
          </a:prstGeom>
          <a:noFill/>
          <a:ln/>
        </p:spPr>
        <p:txBody>
          <a:bodyPr wrap="square" lIns="0" tIns="0" rIns="0" bIns="0" rtlCol="0" anchor="ctr"/>
          <a:lstStyle/>
          <a:p>
            <a:pPr marL="0" indent="0">
              <a:buNone/>
            </a:pPr>
            <a:r>
              <a:rPr lang="en-US" sz="2800" b="1">
                <a:solidFill>
                  <a:srgbClr val="0F2942"/>
                </a:solidFill>
                <a:latin typeface="Cambria" pitchFamily="34" charset="0"/>
                <a:ea typeface="Cambria" pitchFamily="34" charset="-122"/>
                <a:cs typeface="Cambria" pitchFamily="34" charset="-120"/>
              </a:rPr>
              <a:t>Data quality checks run against the table</a:t>
            </a:r>
            <a:endParaRPr lang="en-US" sz="2800"/>
          </a:p>
        </p:txBody>
      </p:sp>
      <p:sp>
        <p:nvSpPr>
          <p:cNvPr id="4" name="Shape 2"/>
          <p:cNvSpPr/>
          <p:nvPr/>
        </p:nvSpPr>
        <p:spPr>
          <a:xfrm>
            <a:off x="7882128" y="274320"/>
            <a:ext cx="804672" cy="256032"/>
          </a:xfrm>
          <a:prstGeom prst="roundRect">
            <a:avLst>
              <a:gd name="adj" fmla="val 50000"/>
            </a:avLst>
          </a:prstGeom>
          <a:solidFill>
            <a:srgbClr val="F4F7FA"/>
          </a:solidFill>
          <a:ln w="9525">
            <a:solidFill>
              <a:srgbClr val="D9E2EA"/>
            </a:solidFill>
            <a:prstDash val="solid"/>
          </a:ln>
        </p:spPr>
        <p:txBody>
          <a:bodyPr/>
          <a:lstStyle/>
          <a:p>
            <a:endParaRPr lang="en-US"/>
          </a:p>
        </p:txBody>
      </p:sp>
      <p:sp>
        <p:nvSpPr>
          <p:cNvPr id="5" name="Text 3"/>
          <p:cNvSpPr/>
          <p:nvPr/>
        </p:nvSpPr>
        <p:spPr>
          <a:xfrm>
            <a:off x="7882128" y="274320"/>
            <a:ext cx="804672" cy="256032"/>
          </a:xfrm>
          <a:prstGeom prst="rect">
            <a:avLst/>
          </a:prstGeom>
          <a:noFill/>
          <a:ln/>
        </p:spPr>
        <p:txBody>
          <a:bodyPr wrap="square" lIns="0" tIns="0" rIns="0" bIns="0" rtlCol="0" anchor="ctr"/>
          <a:lstStyle/>
          <a:p>
            <a:pPr marL="0" indent="0" algn="ctr">
              <a:buNone/>
            </a:pPr>
            <a:r>
              <a:rPr lang="en-US" sz="950" b="1">
                <a:solidFill>
                  <a:srgbClr val="5A6B7C"/>
                </a:solidFill>
                <a:latin typeface="Calibri" pitchFamily="34" charset="0"/>
                <a:ea typeface="Calibri" pitchFamily="34" charset="-122"/>
                <a:cs typeface="Calibri" pitchFamily="34" charset="-120"/>
              </a:rPr>
              <a:t>JAEWON</a:t>
            </a:r>
            <a:endParaRPr lang="en-US" sz="950"/>
          </a:p>
        </p:txBody>
      </p:sp>
      <p:pic>
        <p:nvPicPr>
          <p:cNvPr id="6" name="Image 0" descr="transform_ctas-curated.png"/>
          <p:cNvPicPr>
            <a:picLocks noChangeAspect="1"/>
          </p:cNvPicPr>
          <p:nvPr/>
        </p:nvPicPr>
        <p:blipFill>
          <a:blip r:embed="rId3"/>
          <a:stretch>
            <a:fillRect/>
          </a:stretch>
        </p:blipFill>
        <p:spPr>
          <a:xfrm>
            <a:off x="502920" y="1188720"/>
            <a:ext cx="5029200" cy="2432304"/>
          </a:xfrm>
          <a:prstGeom prst="rect">
            <a:avLst/>
          </a:prstGeom>
        </p:spPr>
      </p:pic>
      <p:sp>
        <p:nvSpPr>
          <p:cNvPr id="7" name="Text 4"/>
          <p:cNvSpPr/>
          <p:nvPr/>
        </p:nvSpPr>
        <p:spPr>
          <a:xfrm>
            <a:off x="5806440" y="1225296"/>
            <a:ext cx="1371600" cy="256032"/>
          </a:xfrm>
          <a:prstGeom prst="rect">
            <a:avLst/>
          </a:prstGeom>
          <a:noFill/>
          <a:ln/>
        </p:spPr>
        <p:txBody>
          <a:bodyPr wrap="square" lIns="0" tIns="0" rIns="0" bIns="0" rtlCol="0" anchor="ctr"/>
          <a:lstStyle/>
          <a:p>
            <a:pPr marL="0" indent="0">
              <a:buNone/>
            </a:pPr>
            <a:r>
              <a:rPr lang="en-US" sz="1500" b="1">
                <a:solidFill>
                  <a:srgbClr val="3D8A5F"/>
                </a:solidFill>
                <a:latin typeface="Cambria" pitchFamily="34" charset="0"/>
                <a:ea typeface="Cambria" pitchFamily="34" charset="-122"/>
                <a:cs typeface="Cambria" pitchFamily="34" charset="-120"/>
              </a:rPr>
              <a:t>59,181,090</a:t>
            </a:r>
            <a:endParaRPr lang="en-US" sz="1500"/>
          </a:p>
        </p:txBody>
      </p:sp>
      <p:sp>
        <p:nvSpPr>
          <p:cNvPr id="8" name="Text 5"/>
          <p:cNvSpPr/>
          <p:nvPr/>
        </p:nvSpPr>
        <p:spPr>
          <a:xfrm>
            <a:off x="5806440" y="1463040"/>
            <a:ext cx="2834640" cy="237744"/>
          </a:xfrm>
          <a:prstGeom prst="rect">
            <a:avLst/>
          </a:prstGeom>
          <a:noFill/>
          <a:ln/>
        </p:spPr>
        <p:txBody>
          <a:bodyPr wrap="square" lIns="0" tIns="0" rIns="0" bIns="0" rtlCol="0" anchor="ctr"/>
          <a:lstStyle/>
          <a:p>
            <a:pPr marL="0" indent="0">
              <a:buNone/>
            </a:pPr>
            <a:r>
              <a:rPr lang="en-US" sz="950">
                <a:solidFill>
                  <a:srgbClr val="5A6B7C"/>
                </a:solidFill>
                <a:latin typeface="Calibri" pitchFamily="34" charset="0"/>
                <a:ea typeface="Calibri" pitchFamily="34" charset="-122"/>
                <a:cs typeface="Calibri" pitchFamily="34" charset="-120"/>
              </a:rPr>
              <a:t>rows, matching the expected count</a:t>
            </a:r>
            <a:endParaRPr lang="en-US" sz="950"/>
          </a:p>
        </p:txBody>
      </p:sp>
      <p:sp>
        <p:nvSpPr>
          <p:cNvPr id="9" name="Text 6"/>
          <p:cNvSpPr/>
          <p:nvPr/>
        </p:nvSpPr>
        <p:spPr>
          <a:xfrm>
            <a:off x="5806440" y="1709928"/>
            <a:ext cx="1371600" cy="256032"/>
          </a:xfrm>
          <a:prstGeom prst="rect">
            <a:avLst/>
          </a:prstGeom>
          <a:noFill/>
          <a:ln/>
        </p:spPr>
        <p:txBody>
          <a:bodyPr wrap="square" lIns="0" tIns="0" rIns="0" bIns="0" rtlCol="0" anchor="ctr"/>
          <a:lstStyle/>
          <a:p>
            <a:pPr marL="0" indent="0">
              <a:buNone/>
            </a:pPr>
            <a:r>
              <a:rPr lang="en-US" sz="1500" b="1">
                <a:solidFill>
                  <a:srgbClr val="3D8A5F"/>
                </a:solidFill>
                <a:latin typeface="Cambria" pitchFamily="34" charset="0"/>
                <a:ea typeface="Cambria" pitchFamily="34" charset="-122"/>
                <a:cs typeface="Cambria" pitchFamily="34" charset="-120"/>
              </a:rPr>
              <a:t>30,490</a:t>
            </a:r>
            <a:endParaRPr lang="en-US" sz="1500"/>
          </a:p>
        </p:txBody>
      </p:sp>
      <p:sp>
        <p:nvSpPr>
          <p:cNvPr id="10" name="Text 7"/>
          <p:cNvSpPr/>
          <p:nvPr/>
        </p:nvSpPr>
        <p:spPr>
          <a:xfrm>
            <a:off x="5806440" y="1947672"/>
            <a:ext cx="2834640" cy="237744"/>
          </a:xfrm>
          <a:prstGeom prst="rect">
            <a:avLst/>
          </a:prstGeom>
          <a:noFill/>
          <a:ln/>
        </p:spPr>
        <p:txBody>
          <a:bodyPr wrap="square" lIns="0" tIns="0" rIns="0" bIns="0" rtlCol="0" anchor="ctr"/>
          <a:lstStyle/>
          <a:p>
            <a:pPr marL="0" indent="0">
              <a:buNone/>
            </a:pPr>
            <a:r>
              <a:rPr lang="en-US" sz="950">
                <a:solidFill>
                  <a:srgbClr val="5A6B7C"/>
                </a:solidFill>
                <a:latin typeface="Calibri" pitchFamily="34" charset="0"/>
                <a:ea typeface="Calibri" pitchFamily="34" charset="-122"/>
                <a:cs typeface="Calibri" pitchFamily="34" charset="-120"/>
              </a:rPr>
              <a:t>distinct item-store series</a:t>
            </a:r>
            <a:endParaRPr lang="en-US" sz="950"/>
          </a:p>
        </p:txBody>
      </p:sp>
      <p:sp>
        <p:nvSpPr>
          <p:cNvPr id="11" name="Text 8"/>
          <p:cNvSpPr/>
          <p:nvPr/>
        </p:nvSpPr>
        <p:spPr>
          <a:xfrm>
            <a:off x="5806440" y="2194560"/>
            <a:ext cx="1371600" cy="256032"/>
          </a:xfrm>
          <a:prstGeom prst="rect">
            <a:avLst/>
          </a:prstGeom>
          <a:noFill/>
          <a:ln/>
        </p:spPr>
        <p:txBody>
          <a:bodyPr wrap="square" lIns="0" tIns="0" rIns="0" bIns="0" rtlCol="0" anchor="ctr"/>
          <a:lstStyle/>
          <a:p>
            <a:pPr marL="0" indent="0">
              <a:buNone/>
            </a:pPr>
            <a:r>
              <a:rPr lang="en-US" sz="1500" b="1">
                <a:solidFill>
                  <a:srgbClr val="3D8A5F"/>
                </a:solidFill>
                <a:latin typeface="Cambria" pitchFamily="34" charset="0"/>
                <a:ea typeface="Cambria" pitchFamily="34" charset="-122"/>
                <a:cs typeface="Cambria" pitchFamily="34" charset="-120"/>
              </a:rPr>
              <a:t>0</a:t>
            </a:r>
            <a:endParaRPr lang="en-US" sz="1500"/>
          </a:p>
        </p:txBody>
      </p:sp>
      <p:sp>
        <p:nvSpPr>
          <p:cNvPr id="12" name="Text 9"/>
          <p:cNvSpPr/>
          <p:nvPr/>
        </p:nvSpPr>
        <p:spPr>
          <a:xfrm>
            <a:off x="5806440" y="2432304"/>
            <a:ext cx="2834640" cy="237744"/>
          </a:xfrm>
          <a:prstGeom prst="rect">
            <a:avLst/>
          </a:prstGeom>
          <a:noFill/>
          <a:ln/>
        </p:spPr>
        <p:txBody>
          <a:bodyPr wrap="square" lIns="0" tIns="0" rIns="0" bIns="0" rtlCol="0" anchor="ctr"/>
          <a:lstStyle/>
          <a:p>
            <a:pPr marL="0" indent="0">
              <a:buNone/>
            </a:pPr>
            <a:r>
              <a:rPr lang="en-US" sz="950">
                <a:solidFill>
                  <a:srgbClr val="5A6B7C"/>
                </a:solidFill>
                <a:latin typeface="Calibri" pitchFamily="34" charset="0"/>
                <a:ea typeface="Calibri" pitchFamily="34" charset="-122"/>
                <a:cs typeface="Calibri" pitchFamily="34" charset="-120"/>
              </a:rPr>
              <a:t>negative unit values</a:t>
            </a:r>
            <a:endParaRPr lang="en-US" sz="950"/>
          </a:p>
        </p:txBody>
      </p:sp>
      <p:sp>
        <p:nvSpPr>
          <p:cNvPr id="13" name="Text 10"/>
          <p:cNvSpPr/>
          <p:nvPr/>
        </p:nvSpPr>
        <p:spPr>
          <a:xfrm>
            <a:off x="5806440" y="2679192"/>
            <a:ext cx="1371600" cy="256032"/>
          </a:xfrm>
          <a:prstGeom prst="rect">
            <a:avLst/>
          </a:prstGeom>
          <a:noFill/>
          <a:ln/>
        </p:spPr>
        <p:txBody>
          <a:bodyPr wrap="square" lIns="0" tIns="0" rIns="0" bIns="0" rtlCol="0" anchor="ctr"/>
          <a:lstStyle/>
          <a:p>
            <a:pPr marL="0" indent="0">
              <a:buNone/>
            </a:pPr>
            <a:r>
              <a:rPr lang="en-US" sz="1500" b="1">
                <a:solidFill>
                  <a:srgbClr val="E8A33D"/>
                </a:solidFill>
                <a:latin typeface="Cambria" pitchFamily="34" charset="0"/>
                <a:ea typeface="Cambria" pitchFamily="34" charset="-122"/>
                <a:cs typeface="Cambria" pitchFamily="34" charset="-120"/>
              </a:rPr>
              <a:t>68.0%</a:t>
            </a:r>
            <a:endParaRPr lang="en-US" sz="1500"/>
          </a:p>
        </p:txBody>
      </p:sp>
      <p:sp>
        <p:nvSpPr>
          <p:cNvPr id="14" name="Text 11"/>
          <p:cNvSpPr/>
          <p:nvPr/>
        </p:nvSpPr>
        <p:spPr>
          <a:xfrm>
            <a:off x="5806440" y="2916936"/>
            <a:ext cx="2834640" cy="237744"/>
          </a:xfrm>
          <a:prstGeom prst="rect">
            <a:avLst/>
          </a:prstGeom>
          <a:noFill/>
          <a:ln/>
        </p:spPr>
        <p:txBody>
          <a:bodyPr wrap="square" lIns="0" tIns="0" rIns="0" bIns="0" rtlCol="0" anchor="ctr"/>
          <a:lstStyle/>
          <a:p>
            <a:pPr marL="0" indent="0">
              <a:buNone/>
            </a:pPr>
            <a:r>
              <a:rPr lang="en-US" sz="950">
                <a:solidFill>
                  <a:srgbClr val="5A6B7C"/>
                </a:solidFill>
                <a:latin typeface="Calibri" pitchFamily="34" charset="0"/>
                <a:ea typeface="Calibri" pitchFamily="34" charset="-122"/>
                <a:cs typeface="Calibri" pitchFamily="34" charset="-120"/>
              </a:rPr>
              <a:t>zero-sales item-days, as expected</a:t>
            </a:r>
            <a:endParaRPr lang="en-US" sz="950"/>
          </a:p>
        </p:txBody>
      </p:sp>
      <p:sp>
        <p:nvSpPr>
          <p:cNvPr id="15" name="Text 12"/>
          <p:cNvSpPr/>
          <p:nvPr/>
        </p:nvSpPr>
        <p:spPr>
          <a:xfrm>
            <a:off x="5806440" y="3163824"/>
            <a:ext cx="1371600" cy="256032"/>
          </a:xfrm>
          <a:prstGeom prst="rect">
            <a:avLst/>
          </a:prstGeom>
          <a:noFill/>
          <a:ln/>
        </p:spPr>
        <p:txBody>
          <a:bodyPr wrap="square" lIns="0" tIns="0" rIns="0" bIns="0" rtlCol="0" anchor="ctr"/>
          <a:lstStyle/>
          <a:p>
            <a:pPr marL="0" indent="0">
              <a:buNone/>
            </a:pPr>
            <a:r>
              <a:rPr lang="en-US" sz="1500" b="1">
                <a:solidFill>
                  <a:srgbClr val="E8A33D"/>
                </a:solidFill>
                <a:latin typeface="Cambria" pitchFamily="34" charset="0"/>
                <a:ea typeface="Cambria" pitchFamily="34" charset="-122"/>
                <a:cs typeface="Cambria" pitchFamily="34" charset="-120"/>
              </a:rPr>
              <a:t>20.8%</a:t>
            </a:r>
            <a:endParaRPr lang="en-US" sz="1500"/>
          </a:p>
        </p:txBody>
      </p:sp>
      <p:sp>
        <p:nvSpPr>
          <p:cNvPr id="16" name="Text 13"/>
          <p:cNvSpPr/>
          <p:nvPr/>
        </p:nvSpPr>
        <p:spPr>
          <a:xfrm>
            <a:off x="5806440" y="3401568"/>
            <a:ext cx="2834640" cy="237744"/>
          </a:xfrm>
          <a:prstGeom prst="rect">
            <a:avLst/>
          </a:prstGeom>
          <a:noFill/>
          <a:ln/>
        </p:spPr>
        <p:txBody>
          <a:bodyPr wrap="square" lIns="0" tIns="0" rIns="0" bIns="0" rtlCol="0" anchor="ctr"/>
          <a:lstStyle/>
          <a:p>
            <a:pPr marL="0" indent="0">
              <a:buNone/>
            </a:pPr>
            <a:r>
              <a:rPr lang="en-US" sz="950">
                <a:solidFill>
                  <a:srgbClr val="5A6B7C"/>
                </a:solidFill>
                <a:latin typeface="Calibri" pitchFamily="34" charset="0"/>
                <a:ea typeface="Calibri" pitchFamily="34" charset="-122"/>
                <a:cs typeface="Calibri" pitchFamily="34" charset="-120"/>
              </a:rPr>
              <a:t>null sell_price, item not yet carried</a:t>
            </a:r>
            <a:endParaRPr lang="en-US" sz="950"/>
          </a:p>
        </p:txBody>
      </p:sp>
      <p:sp>
        <p:nvSpPr>
          <p:cNvPr id="17" name="Text 14"/>
          <p:cNvSpPr/>
          <p:nvPr/>
        </p:nvSpPr>
        <p:spPr>
          <a:xfrm>
            <a:off x="502920" y="3822192"/>
            <a:ext cx="8138160" cy="548640"/>
          </a:xfrm>
          <a:prstGeom prst="rect">
            <a:avLst/>
          </a:prstGeom>
          <a:noFill/>
          <a:ln/>
        </p:spPr>
        <p:txBody>
          <a:bodyPr wrap="square" lIns="0" tIns="0" rIns="0" bIns="0" rtlCol="0" anchor="ctr"/>
          <a:lstStyle/>
          <a:p>
            <a:pPr marL="0" indent="0">
              <a:buNone/>
            </a:pPr>
            <a:r>
              <a:rPr lang="en-US" sz="1150" i="1">
                <a:solidFill>
                  <a:srgbClr val="5A6B7C"/>
                </a:solidFill>
                <a:latin typeface="Calibri" pitchFamily="34" charset="0"/>
                <a:ea typeface="Calibri" pitchFamily="34" charset="-122"/>
                <a:cs typeface="Calibri" pitchFamily="34" charset="-120"/>
              </a:rPr>
              <a:t>The last two are flagged as informational rather than as failures. Both are expected for this kind of retail data, and we would rather report them than leave them out.</a:t>
            </a:r>
            <a:endParaRPr lang="en-US" sz="1150"/>
          </a:p>
        </p:txBody>
      </p:sp>
      <p:sp>
        <p:nvSpPr>
          <p:cNvPr id="18" name="Text 15"/>
          <p:cNvSpPr/>
          <p:nvPr/>
        </p:nvSpPr>
        <p:spPr>
          <a:xfrm>
            <a:off x="502920" y="4718304"/>
            <a:ext cx="5486400" cy="228600"/>
          </a:xfrm>
          <a:prstGeom prst="rect">
            <a:avLst/>
          </a:prstGeom>
          <a:noFill/>
          <a:ln/>
        </p:spPr>
        <p:txBody>
          <a:bodyPr wrap="square" lIns="0" tIns="0" rIns="0" bIns="0" rtlCol="0" anchor="ctr"/>
          <a:lstStyle/>
          <a:p>
            <a:pPr marL="0" indent="0">
              <a:buNone/>
            </a:pPr>
            <a:r>
              <a:rPr lang="en-US" sz="850">
                <a:solidFill>
                  <a:srgbClr val="9AABB8"/>
                </a:solidFill>
                <a:latin typeface="Calibri" pitchFamily="34" charset="0"/>
                <a:ea typeface="Calibri" pitchFamily="34" charset="-122"/>
                <a:cs typeface="Calibri" pitchFamily="34" charset="-120"/>
              </a:rPr>
              <a:t>Group 5  ·  M5 Demand Forecasting on AWS</a:t>
            </a:r>
            <a:endParaRPr lang="en-US" sz="850"/>
          </a:p>
        </p:txBody>
      </p:sp>
      <p:sp>
        <p:nvSpPr>
          <p:cNvPr id="19" name="Text 16"/>
          <p:cNvSpPr/>
          <p:nvPr/>
        </p:nvSpPr>
        <p:spPr>
          <a:xfrm>
            <a:off x="8229600" y="4718304"/>
            <a:ext cx="411480" cy="228600"/>
          </a:xfrm>
          <a:prstGeom prst="rect">
            <a:avLst/>
          </a:prstGeom>
          <a:noFill/>
          <a:ln/>
        </p:spPr>
        <p:txBody>
          <a:bodyPr wrap="square" lIns="0" tIns="0" rIns="0" bIns="0" rtlCol="0" anchor="ctr"/>
          <a:lstStyle/>
          <a:p>
            <a:pPr marL="0" indent="0" algn="r">
              <a:buNone/>
            </a:pPr>
            <a:r>
              <a:rPr lang="en-US" sz="850">
                <a:solidFill>
                  <a:srgbClr val="9AABB8"/>
                </a:solidFill>
                <a:latin typeface="Calibri" pitchFamily="34" charset="0"/>
                <a:ea typeface="Calibri" pitchFamily="34" charset="-122"/>
                <a:cs typeface="Calibri" pitchFamily="34" charset="-120"/>
              </a:rPr>
              <a:t>8</a:t>
            </a:r>
            <a:endParaRPr lang="en-US" sz="85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02920" y="292608"/>
            <a:ext cx="8138160" cy="219456"/>
          </a:xfrm>
          <a:prstGeom prst="rect">
            <a:avLst/>
          </a:prstGeom>
          <a:noFill/>
          <a:ln/>
        </p:spPr>
        <p:txBody>
          <a:bodyPr wrap="square" lIns="0" tIns="0" rIns="0" bIns="0" rtlCol="0" anchor="ctr"/>
          <a:lstStyle/>
          <a:p>
            <a:pPr marL="0" indent="0">
              <a:buNone/>
            </a:pPr>
            <a:r>
              <a:rPr lang="en-US" sz="1100" b="1" kern="0" spc="160">
                <a:solidFill>
                  <a:srgbClr val="2E86AB"/>
                </a:solidFill>
                <a:latin typeface="Calibri" pitchFamily="34" charset="0"/>
                <a:ea typeface="Calibri" pitchFamily="34" charset="-122"/>
                <a:cs typeface="Calibri" pitchFamily="34" charset="-120"/>
              </a:rPr>
              <a:t>ANALYTICS</a:t>
            </a:r>
            <a:endParaRPr lang="en-US" sz="1100"/>
          </a:p>
        </p:txBody>
      </p:sp>
      <p:sp>
        <p:nvSpPr>
          <p:cNvPr id="3" name="Text 1"/>
          <p:cNvSpPr/>
          <p:nvPr/>
        </p:nvSpPr>
        <p:spPr>
          <a:xfrm>
            <a:off x="502920" y="530352"/>
            <a:ext cx="8138160" cy="502920"/>
          </a:xfrm>
          <a:prstGeom prst="rect">
            <a:avLst/>
          </a:prstGeom>
          <a:noFill/>
          <a:ln/>
        </p:spPr>
        <p:txBody>
          <a:bodyPr wrap="square" lIns="0" tIns="0" rIns="0" bIns="0" rtlCol="0" anchor="ctr"/>
          <a:lstStyle/>
          <a:p>
            <a:pPr marL="0" indent="0">
              <a:buNone/>
            </a:pPr>
            <a:r>
              <a:rPr lang="en-US" sz="2800" b="1">
                <a:solidFill>
                  <a:srgbClr val="0F2942"/>
                </a:solidFill>
                <a:latin typeface="Cambria" pitchFamily="34" charset="0"/>
                <a:ea typeface="Cambria" pitchFamily="34" charset="-122"/>
                <a:cs typeface="Cambria" pitchFamily="34" charset="-120"/>
              </a:rPr>
              <a:t>Category volume and price sensitivity</a:t>
            </a:r>
            <a:endParaRPr lang="en-US" sz="2800"/>
          </a:p>
        </p:txBody>
      </p:sp>
      <p:sp>
        <p:nvSpPr>
          <p:cNvPr id="4" name="Shape 2"/>
          <p:cNvSpPr/>
          <p:nvPr/>
        </p:nvSpPr>
        <p:spPr>
          <a:xfrm>
            <a:off x="7882128" y="274320"/>
            <a:ext cx="804672" cy="256032"/>
          </a:xfrm>
          <a:prstGeom prst="roundRect">
            <a:avLst>
              <a:gd name="adj" fmla="val 50000"/>
            </a:avLst>
          </a:prstGeom>
          <a:solidFill>
            <a:srgbClr val="F4F7FA"/>
          </a:solidFill>
          <a:ln w="9525">
            <a:solidFill>
              <a:srgbClr val="D9E2EA"/>
            </a:solidFill>
            <a:prstDash val="solid"/>
          </a:ln>
        </p:spPr>
        <p:txBody>
          <a:bodyPr/>
          <a:lstStyle/>
          <a:p>
            <a:endParaRPr lang="en-US"/>
          </a:p>
        </p:txBody>
      </p:sp>
      <p:sp>
        <p:nvSpPr>
          <p:cNvPr id="5" name="Text 3"/>
          <p:cNvSpPr/>
          <p:nvPr/>
        </p:nvSpPr>
        <p:spPr>
          <a:xfrm>
            <a:off x="7882128" y="274320"/>
            <a:ext cx="804672" cy="256032"/>
          </a:xfrm>
          <a:prstGeom prst="rect">
            <a:avLst/>
          </a:prstGeom>
          <a:noFill/>
          <a:ln/>
        </p:spPr>
        <p:txBody>
          <a:bodyPr wrap="square" lIns="0" tIns="0" rIns="0" bIns="0" rtlCol="0" anchor="ctr"/>
          <a:lstStyle/>
          <a:p>
            <a:pPr marL="0" indent="0" algn="ctr">
              <a:buNone/>
            </a:pPr>
            <a:r>
              <a:rPr lang="en-US" sz="950" b="1">
                <a:solidFill>
                  <a:srgbClr val="5A6B7C"/>
                </a:solidFill>
                <a:latin typeface="Calibri" pitchFamily="34" charset="0"/>
                <a:ea typeface="Calibri" pitchFamily="34" charset="-122"/>
                <a:cs typeface="Calibri" pitchFamily="34" charset="-120"/>
              </a:rPr>
              <a:t>JAEWON</a:t>
            </a:r>
            <a:endParaRPr lang="en-US" sz="950"/>
          </a:p>
        </p:txBody>
      </p:sp>
      <p:sp>
        <p:nvSpPr>
          <p:cNvPr id="6" name="Text 4"/>
          <p:cNvSpPr/>
          <p:nvPr/>
        </p:nvSpPr>
        <p:spPr>
          <a:xfrm>
            <a:off x="502920" y="1188720"/>
            <a:ext cx="3931920" cy="237744"/>
          </a:xfrm>
          <a:prstGeom prst="rect">
            <a:avLst/>
          </a:prstGeom>
          <a:noFill/>
          <a:ln/>
        </p:spPr>
        <p:txBody>
          <a:bodyPr wrap="square" lIns="0" tIns="0" rIns="0" bIns="0" rtlCol="0" anchor="ctr"/>
          <a:lstStyle/>
          <a:p>
            <a:pPr marL="0" indent="0">
              <a:buNone/>
            </a:pPr>
            <a:r>
              <a:rPr lang="en-US" sz="1250" b="1">
                <a:solidFill>
                  <a:srgbClr val="0F2942"/>
                </a:solidFill>
                <a:latin typeface="Calibri" pitchFamily="34" charset="0"/>
                <a:ea typeface="Calibri" pitchFamily="34" charset="-122"/>
                <a:cs typeface="Calibri" pitchFamily="34" charset="-120"/>
              </a:rPr>
              <a:t>Volume concentrates in FOODS</a:t>
            </a:r>
            <a:endParaRPr lang="en-US" sz="1250"/>
          </a:p>
        </p:txBody>
      </p:sp>
      <p:graphicFrame>
        <p:nvGraphicFramePr>
          <p:cNvPr id="7" name="Chart 0"/>
          <p:cNvGraphicFramePr/>
          <p:nvPr/>
        </p:nvGraphicFramePr>
        <p:xfrm>
          <a:off x="457200" y="1463040"/>
          <a:ext cx="4069080" cy="214884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 5"/>
          <p:cNvSpPr/>
          <p:nvPr/>
        </p:nvSpPr>
        <p:spPr>
          <a:xfrm>
            <a:off x="4709160" y="1188720"/>
            <a:ext cx="3931920" cy="237744"/>
          </a:xfrm>
          <a:prstGeom prst="rect">
            <a:avLst/>
          </a:prstGeom>
          <a:noFill/>
          <a:ln/>
        </p:spPr>
        <p:txBody>
          <a:bodyPr wrap="square" lIns="0" tIns="0" rIns="0" bIns="0" rtlCol="0" anchor="ctr"/>
          <a:lstStyle/>
          <a:p>
            <a:pPr marL="0" indent="0">
              <a:buNone/>
            </a:pPr>
            <a:r>
              <a:rPr lang="en-US" sz="1250" b="1">
                <a:solidFill>
                  <a:srgbClr val="0F2942"/>
                </a:solidFill>
                <a:latin typeface="Calibri" pitchFamily="34" charset="0"/>
                <a:ea typeface="Calibri" pitchFamily="34" charset="-122"/>
                <a:cs typeface="Calibri" pitchFamily="34" charset="-120"/>
              </a:rPr>
              <a:t>Demand falls slowly as price rises</a:t>
            </a:r>
            <a:endParaRPr lang="en-US" sz="1250"/>
          </a:p>
        </p:txBody>
      </p:sp>
      <p:graphicFrame>
        <p:nvGraphicFramePr>
          <p:cNvPr id="9" name="Chart 1"/>
          <p:cNvGraphicFramePr/>
          <p:nvPr/>
        </p:nvGraphicFramePr>
        <p:xfrm>
          <a:off x="4663440" y="1463040"/>
          <a:ext cx="4069080" cy="2148840"/>
        </p:xfrm>
        <a:graphic>
          <a:graphicData uri="http://schemas.openxmlformats.org/drawingml/2006/chart">
            <c:chart xmlns:c="http://schemas.openxmlformats.org/drawingml/2006/chart" xmlns:r="http://schemas.openxmlformats.org/officeDocument/2006/relationships" r:id="rId4"/>
          </a:graphicData>
        </a:graphic>
      </p:graphicFrame>
      <p:sp>
        <p:nvSpPr>
          <p:cNvPr id="10" name="Shape 6"/>
          <p:cNvSpPr/>
          <p:nvPr/>
        </p:nvSpPr>
        <p:spPr>
          <a:xfrm>
            <a:off x="502920" y="3767328"/>
            <a:ext cx="8138160" cy="749808"/>
          </a:xfrm>
          <a:prstGeom prst="roundRect">
            <a:avLst>
              <a:gd name="adj" fmla="val 7317"/>
            </a:avLst>
          </a:prstGeom>
          <a:solidFill>
            <a:srgbClr val="F4F7FA"/>
          </a:solidFill>
          <a:ln w="9525">
            <a:solidFill>
              <a:srgbClr val="D9E2EA"/>
            </a:solidFill>
            <a:prstDash val="solid"/>
          </a:ln>
        </p:spPr>
        <p:txBody>
          <a:bodyPr/>
          <a:lstStyle/>
          <a:p>
            <a:endParaRPr lang="en-US"/>
          </a:p>
        </p:txBody>
      </p:sp>
      <p:sp>
        <p:nvSpPr>
          <p:cNvPr id="11" name="Text 7"/>
          <p:cNvSpPr/>
          <p:nvPr/>
        </p:nvSpPr>
        <p:spPr>
          <a:xfrm>
            <a:off x="749808" y="3858768"/>
            <a:ext cx="7680960" cy="566928"/>
          </a:xfrm>
          <a:prstGeom prst="rect">
            <a:avLst/>
          </a:prstGeom>
          <a:noFill/>
          <a:ln/>
        </p:spPr>
        <p:txBody>
          <a:bodyPr wrap="square" lIns="0" tIns="0" rIns="0" bIns="0" rtlCol="0" anchor="ctr"/>
          <a:lstStyle/>
          <a:p>
            <a:pPr marL="0" indent="0">
              <a:buNone/>
            </a:pPr>
            <a:r>
              <a:rPr lang="en-US" sz="1150" b="1">
                <a:solidFill>
                  <a:srgbClr val="0F2942"/>
                </a:solidFill>
                <a:latin typeface="Calibri" pitchFamily="34" charset="0"/>
                <a:ea typeface="Calibri" pitchFamily="34" charset="-122"/>
                <a:cs typeface="Calibri" pitchFamily="34" charset="-120"/>
              </a:rPr>
              <a:t>FOODS is 68.6% of units but only 58% of revenue</a:t>
            </a:r>
            <a:r>
              <a:rPr lang="en-US" sz="1150">
                <a:solidFill>
                  <a:srgbClr val="1B2B3A"/>
                </a:solidFill>
                <a:latin typeface="Calibri" pitchFamily="34" charset="0"/>
                <a:ea typeface="Calibri" pitchFamily="34" charset="-122"/>
                <a:cs typeface="Calibri" pitchFamily="34" charset="-120"/>
              </a:rPr>
              <a:t>, so HOUSEHOLD is earning more per unit sold. Average daily units peak around the fourth decile and fall to 1.48 at the top, which is about 8% across the range, on nearly 1.85M observations per decile.</a:t>
            </a:r>
            <a:endParaRPr lang="en-US" sz="1150"/>
          </a:p>
        </p:txBody>
      </p:sp>
      <p:sp>
        <p:nvSpPr>
          <p:cNvPr id="12" name="Text 8"/>
          <p:cNvSpPr/>
          <p:nvPr/>
        </p:nvSpPr>
        <p:spPr>
          <a:xfrm>
            <a:off x="502920" y="4718304"/>
            <a:ext cx="5486400" cy="228600"/>
          </a:xfrm>
          <a:prstGeom prst="rect">
            <a:avLst/>
          </a:prstGeom>
          <a:noFill/>
          <a:ln/>
        </p:spPr>
        <p:txBody>
          <a:bodyPr wrap="square" lIns="0" tIns="0" rIns="0" bIns="0" rtlCol="0" anchor="ctr"/>
          <a:lstStyle/>
          <a:p>
            <a:pPr marL="0" indent="0">
              <a:buNone/>
            </a:pPr>
            <a:r>
              <a:rPr lang="en-US" sz="850">
                <a:solidFill>
                  <a:srgbClr val="9AABB8"/>
                </a:solidFill>
                <a:latin typeface="Calibri" pitchFamily="34" charset="0"/>
                <a:ea typeface="Calibri" pitchFamily="34" charset="-122"/>
                <a:cs typeface="Calibri" pitchFamily="34" charset="-120"/>
              </a:rPr>
              <a:t>Group 5  ·  M5 Demand Forecasting on AWS</a:t>
            </a:r>
            <a:endParaRPr lang="en-US" sz="850"/>
          </a:p>
        </p:txBody>
      </p:sp>
      <p:sp>
        <p:nvSpPr>
          <p:cNvPr id="13" name="Text 9"/>
          <p:cNvSpPr/>
          <p:nvPr/>
        </p:nvSpPr>
        <p:spPr>
          <a:xfrm>
            <a:off x="8229600" y="4718304"/>
            <a:ext cx="411480" cy="228600"/>
          </a:xfrm>
          <a:prstGeom prst="rect">
            <a:avLst/>
          </a:prstGeom>
          <a:noFill/>
          <a:ln/>
        </p:spPr>
        <p:txBody>
          <a:bodyPr wrap="square" lIns="0" tIns="0" rIns="0" bIns="0" rtlCol="0" anchor="ctr"/>
          <a:lstStyle/>
          <a:p>
            <a:pPr marL="0" indent="0" algn="r">
              <a:buNone/>
            </a:pPr>
            <a:r>
              <a:rPr lang="en-US" sz="850">
                <a:solidFill>
                  <a:srgbClr val="9AABB8"/>
                </a:solidFill>
                <a:latin typeface="Calibri" pitchFamily="34" charset="0"/>
                <a:ea typeface="Calibri" pitchFamily="34" charset="-122"/>
                <a:cs typeface="Calibri" pitchFamily="34" charset="-120"/>
              </a:rPr>
              <a:t>9</a:t>
            </a:r>
            <a:endParaRPr lang="en-US" sz="85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02920" y="292608"/>
            <a:ext cx="8138160" cy="219456"/>
          </a:xfrm>
          <a:prstGeom prst="rect">
            <a:avLst/>
          </a:prstGeom>
          <a:noFill/>
          <a:ln/>
        </p:spPr>
        <p:txBody>
          <a:bodyPr wrap="square" lIns="0" tIns="0" rIns="0" bIns="0" rtlCol="0" anchor="ctr"/>
          <a:lstStyle/>
          <a:p>
            <a:pPr marL="0" indent="0">
              <a:buNone/>
            </a:pPr>
            <a:r>
              <a:rPr lang="en-US" sz="1100" b="1" kern="0" spc="160">
                <a:solidFill>
                  <a:srgbClr val="2E86AB"/>
                </a:solidFill>
                <a:latin typeface="Calibri" pitchFamily="34" charset="0"/>
                <a:ea typeface="Calibri" pitchFamily="34" charset="-122"/>
                <a:cs typeface="Calibri" pitchFamily="34" charset="-120"/>
              </a:rPr>
              <a:t>KEY FINDING</a:t>
            </a:r>
            <a:endParaRPr lang="en-US" sz="1100"/>
          </a:p>
        </p:txBody>
      </p:sp>
      <p:sp>
        <p:nvSpPr>
          <p:cNvPr id="3" name="Text 1"/>
          <p:cNvSpPr/>
          <p:nvPr/>
        </p:nvSpPr>
        <p:spPr>
          <a:xfrm>
            <a:off x="502920" y="530352"/>
            <a:ext cx="8138160" cy="502920"/>
          </a:xfrm>
          <a:prstGeom prst="rect">
            <a:avLst/>
          </a:prstGeom>
          <a:noFill/>
          <a:ln/>
        </p:spPr>
        <p:txBody>
          <a:bodyPr wrap="square" lIns="0" tIns="0" rIns="0" bIns="0" rtlCol="0" anchor="ctr"/>
          <a:lstStyle/>
          <a:p>
            <a:pPr marL="0" indent="0">
              <a:buNone/>
            </a:pPr>
            <a:r>
              <a:rPr lang="en-US" sz="2800" b="1">
                <a:solidFill>
                  <a:srgbClr val="0F2942"/>
                </a:solidFill>
                <a:latin typeface="Cambria" pitchFamily="34" charset="0"/>
                <a:ea typeface="Cambria" pitchFamily="34" charset="-122"/>
                <a:cs typeface="Cambria" pitchFamily="34" charset="-120"/>
              </a:rPr>
              <a:t>SNAP benefit days lift FOODS demand</a:t>
            </a:r>
            <a:endParaRPr lang="en-US" sz="2800"/>
          </a:p>
        </p:txBody>
      </p:sp>
      <p:sp>
        <p:nvSpPr>
          <p:cNvPr id="4" name="Shape 2"/>
          <p:cNvSpPr/>
          <p:nvPr/>
        </p:nvSpPr>
        <p:spPr>
          <a:xfrm>
            <a:off x="7882128" y="274320"/>
            <a:ext cx="804672" cy="256032"/>
          </a:xfrm>
          <a:prstGeom prst="roundRect">
            <a:avLst>
              <a:gd name="adj" fmla="val 50000"/>
            </a:avLst>
          </a:prstGeom>
          <a:solidFill>
            <a:srgbClr val="F4F7FA"/>
          </a:solidFill>
          <a:ln w="9525">
            <a:solidFill>
              <a:srgbClr val="D9E2EA"/>
            </a:solidFill>
            <a:prstDash val="solid"/>
          </a:ln>
        </p:spPr>
        <p:txBody>
          <a:bodyPr/>
          <a:lstStyle/>
          <a:p>
            <a:endParaRPr lang="en-US"/>
          </a:p>
        </p:txBody>
      </p:sp>
      <p:sp>
        <p:nvSpPr>
          <p:cNvPr id="5" name="Text 3"/>
          <p:cNvSpPr/>
          <p:nvPr/>
        </p:nvSpPr>
        <p:spPr>
          <a:xfrm>
            <a:off x="7882128" y="274320"/>
            <a:ext cx="804672" cy="256032"/>
          </a:xfrm>
          <a:prstGeom prst="rect">
            <a:avLst/>
          </a:prstGeom>
          <a:noFill/>
          <a:ln/>
        </p:spPr>
        <p:txBody>
          <a:bodyPr wrap="square" lIns="0" tIns="0" rIns="0" bIns="0" rtlCol="0" anchor="ctr"/>
          <a:lstStyle/>
          <a:p>
            <a:pPr marL="0" indent="0" algn="ctr">
              <a:buNone/>
            </a:pPr>
            <a:r>
              <a:rPr lang="en-US" sz="950" b="1">
                <a:solidFill>
                  <a:srgbClr val="5A6B7C"/>
                </a:solidFill>
                <a:latin typeface="Calibri" pitchFamily="34" charset="0"/>
                <a:ea typeface="Calibri" pitchFamily="34" charset="-122"/>
                <a:cs typeface="Calibri" pitchFamily="34" charset="-120"/>
              </a:rPr>
              <a:t>JAEWON</a:t>
            </a:r>
            <a:endParaRPr lang="en-US" sz="950"/>
          </a:p>
        </p:txBody>
      </p:sp>
      <p:graphicFrame>
        <p:nvGraphicFramePr>
          <p:cNvPr id="6" name="Chart 0"/>
          <p:cNvGraphicFramePr/>
          <p:nvPr/>
        </p:nvGraphicFramePr>
        <p:xfrm>
          <a:off x="457200" y="1188720"/>
          <a:ext cx="5349240" cy="278892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4"/>
          <p:cNvSpPr/>
          <p:nvPr/>
        </p:nvSpPr>
        <p:spPr>
          <a:xfrm>
            <a:off x="502920" y="4005072"/>
            <a:ext cx="5303520" cy="219456"/>
          </a:xfrm>
          <a:prstGeom prst="rect">
            <a:avLst/>
          </a:prstGeom>
          <a:noFill/>
          <a:ln/>
        </p:spPr>
        <p:txBody>
          <a:bodyPr wrap="square" lIns="0" tIns="0" rIns="0" bIns="0" rtlCol="0" anchor="ctr"/>
          <a:lstStyle/>
          <a:p>
            <a:pPr marL="0" indent="0">
              <a:buNone/>
            </a:pPr>
            <a:r>
              <a:rPr lang="en-US" sz="900" i="1">
                <a:solidFill>
                  <a:srgbClr val="5A6B7C"/>
                </a:solidFill>
                <a:latin typeface="Calibri" pitchFamily="34" charset="0"/>
                <a:ea typeface="Calibri" pitchFamily="34" charset="-122"/>
                <a:cs typeface="Calibri" pitchFamily="34" charset="-120"/>
              </a:rPr>
              <a:t>% lift in average daily units on SNAP days vs. normal days</a:t>
            </a:r>
            <a:endParaRPr lang="en-US" sz="900"/>
          </a:p>
        </p:txBody>
      </p:sp>
      <p:sp>
        <p:nvSpPr>
          <p:cNvPr id="8" name="Shape 5"/>
          <p:cNvSpPr/>
          <p:nvPr/>
        </p:nvSpPr>
        <p:spPr>
          <a:xfrm>
            <a:off x="6035040" y="1188720"/>
            <a:ext cx="2606040" cy="2788920"/>
          </a:xfrm>
          <a:prstGeom prst="roundRect">
            <a:avLst>
              <a:gd name="adj" fmla="val 2105"/>
            </a:avLst>
          </a:prstGeom>
          <a:solidFill>
            <a:srgbClr val="F4F7FA"/>
          </a:solidFill>
          <a:ln w="9525">
            <a:solidFill>
              <a:srgbClr val="D9E2EA"/>
            </a:solidFill>
            <a:prstDash val="solid"/>
          </a:ln>
        </p:spPr>
        <p:txBody>
          <a:bodyPr/>
          <a:lstStyle/>
          <a:p>
            <a:endParaRPr lang="en-US"/>
          </a:p>
        </p:txBody>
      </p:sp>
      <p:sp>
        <p:nvSpPr>
          <p:cNvPr id="9" name="Text 6"/>
          <p:cNvSpPr/>
          <p:nvPr/>
        </p:nvSpPr>
        <p:spPr>
          <a:xfrm>
            <a:off x="6263640" y="1353312"/>
            <a:ext cx="2194560" cy="237744"/>
          </a:xfrm>
          <a:prstGeom prst="rect">
            <a:avLst/>
          </a:prstGeom>
          <a:noFill/>
          <a:ln/>
        </p:spPr>
        <p:txBody>
          <a:bodyPr wrap="square" lIns="0" tIns="0" rIns="0" bIns="0" rtlCol="0" anchor="ctr"/>
          <a:lstStyle/>
          <a:p>
            <a:pPr marL="0" indent="0">
              <a:buNone/>
            </a:pPr>
            <a:r>
              <a:rPr lang="en-US" sz="1250" b="1">
                <a:solidFill>
                  <a:srgbClr val="0F2942"/>
                </a:solidFill>
                <a:latin typeface="Calibri" pitchFamily="34" charset="0"/>
                <a:ea typeface="Calibri" pitchFamily="34" charset="-122"/>
                <a:cs typeface="Calibri" pitchFamily="34" charset="-120"/>
              </a:rPr>
              <a:t>Why we think the effect is real</a:t>
            </a:r>
            <a:endParaRPr lang="en-US" sz="1250"/>
          </a:p>
        </p:txBody>
      </p:sp>
      <p:sp>
        <p:nvSpPr>
          <p:cNvPr id="10" name="Text 7"/>
          <p:cNvSpPr/>
          <p:nvPr/>
        </p:nvSpPr>
        <p:spPr>
          <a:xfrm>
            <a:off x="6263640" y="1645920"/>
            <a:ext cx="2194560" cy="731520"/>
          </a:xfrm>
          <a:prstGeom prst="rect">
            <a:avLst/>
          </a:prstGeom>
          <a:noFill/>
          <a:ln/>
        </p:spPr>
        <p:txBody>
          <a:bodyPr wrap="square" lIns="0" tIns="0" rIns="0" bIns="0" rtlCol="0" anchor="ctr"/>
          <a:lstStyle/>
          <a:p>
            <a:pPr marL="0" indent="0">
              <a:buNone/>
            </a:pPr>
            <a:r>
              <a:rPr lang="en-US" sz="1100">
                <a:solidFill>
                  <a:srgbClr val="1B2B3A"/>
                </a:solidFill>
                <a:latin typeface="Calibri" pitchFamily="34" charset="0"/>
                <a:ea typeface="Calibri" pitchFamily="34" charset="-122"/>
                <a:cs typeface="Calibri" pitchFamily="34" charset="-120"/>
              </a:rPr>
              <a:t>If this were just a busier day overall, all three categories would rise together.</a:t>
            </a:r>
            <a:endParaRPr lang="en-US" sz="1100"/>
          </a:p>
        </p:txBody>
      </p:sp>
      <p:sp>
        <p:nvSpPr>
          <p:cNvPr id="11" name="Text 8"/>
          <p:cNvSpPr/>
          <p:nvPr/>
        </p:nvSpPr>
        <p:spPr>
          <a:xfrm>
            <a:off x="6263640" y="2377440"/>
            <a:ext cx="2194560" cy="640080"/>
          </a:xfrm>
          <a:prstGeom prst="rect">
            <a:avLst/>
          </a:prstGeom>
          <a:noFill/>
          <a:ln/>
        </p:spPr>
        <p:txBody>
          <a:bodyPr wrap="square" lIns="0" tIns="0" rIns="0" bIns="0" rtlCol="0" anchor="ctr"/>
          <a:lstStyle/>
          <a:p>
            <a:pPr marL="0" indent="0">
              <a:buNone/>
            </a:pPr>
            <a:r>
              <a:rPr lang="en-US" sz="1100">
                <a:solidFill>
                  <a:srgbClr val="1B2B3A"/>
                </a:solidFill>
                <a:latin typeface="Calibri" pitchFamily="34" charset="0"/>
                <a:ea typeface="Calibri" pitchFamily="34" charset="-122"/>
                <a:cs typeface="Calibri" pitchFamily="34" charset="-120"/>
              </a:rPr>
              <a:t>They do not. FOODS moves 10 to 30%, while the others move very little.</a:t>
            </a:r>
            <a:endParaRPr lang="en-US" sz="1100"/>
          </a:p>
        </p:txBody>
      </p:sp>
      <p:sp>
        <p:nvSpPr>
          <p:cNvPr id="12" name="Shape 9"/>
          <p:cNvSpPr/>
          <p:nvPr/>
        </p:nvSpPr>
        <p:spPr>
          <a:xfrm>
            <a:off x="6263640" y="3072384"/>
            <a:ext cx="2148840" cy="13716"/>
          </a:xfrm>
          <a:prstGeom prst="rect">
            <a:avLst/>
          </a:prstGeom>
          <a:solidFill>
            <a:srgbClr val="D9E2EA"/>
          </a:solidFill>
          <a:ln w="12700">
            <a:solidFill>
              <a:srgbClr val="D9E2EA"/>
            </a:solidFill>
            <a:prstDash val="solid"/>
          </a:ln>
        </p:spPr>
        <p:txBody>
          <a:bodyPr/>
          <a:lstStyle/>
          <a:p>
            <a:endParaRPr lang="en-US"/>
          </a:p>
        </p:txBody>
      </p:sp>
      <p:sp>
        <p:nvSpPr>
          <p:cNvPr id="13" name="Text 10"/>
          <p:cNvSpPr/>
          <p:nvPr/>
        </p:nvSpPr>
        <p:spPr>
          <a:xfrm>
            <a:off x="6263640" y="3200400"/>
            <a:ext cx="2194560" cy="658368"/>
          </a:xfrm>
          <a:prstGeom prst="rect">
            <a:avLst/>
          </a:prstGeom>
          <a:noFill/>
          <a:ln/>
        </p:spPr>
        <p:txBody>
          <a:bodyPr wrap="square" lIns="0" tIns="0" rIns="0" bIns="0" rtlCol="0" anchor="ctr"/>
          <a:lstStyle/>
          <a:p>
            <a:pPr marL="0" indent="0">
              <a:buNone/>
            </a:pPr>
            <a:r>
              <a:rPr lang="en-US" sz="1100" b="1">
                <a:solidFill>
                  <a:srgbClr val="2E86AB"/>
                </a:solidFill>
                <a:latin typeface="Calibri" pitchFamily="34" charset="0"/>
                <a:ea typeface="Calibri" pitchFamily="34" charset="-122"/>
                <a:cs typeface="Calibri" pitchFamily="34" charset="-120"/>
              </a:rPr>
              <a:t>SNAP dates are published in advance, so we can use this as a feature in the forecast.</a:t>
            </a:r>
            <a:endParaRPr lang="en-US" sz="1100"/>
          </a:p>
        </p:txBody>
      </p:sp>
      <p:sp>
        <p:nvSpPr>
          <p:cNvPr id="14" name="Text 11"/>
          <p:cNvSpPr/>
          <p:nvPr/>
        </p:nvSpPr>
        <p:spPr>
          <a:xfrm>
            <a:off x="502920" y="4718304"/>
            <a:ext cx="5486400" cy="228600"/>
          </a:xfrm>
          <a:prstGeom prst="rect">
            <a:avLst/>
          </a:prstGeom>
          <a:noFill/>
          <a:ln/>
        </p:spPr>
        <p:txBody>
          <a:bodyPr wrap="square" lIns="0" tIns="0" rIns="0" bIns="0" rtlCol="0" anchor="ctr"/>
          <a:lstStyle/>
          <a:p>
            <a:pPr marL="0" indent="0">
              <a:buNone/>
            </a:pPr>
            <a:r>
              <a:rPr lang="en-US" sz="850">
                <a:solidFill>
                  <a:srgbClr val="9AABB8"/>
                </a:solidFill>
                <a:latin typeface="Calibri" pitchFamily="34" charset="0"/>
                <a:ea typeface="Calibri" pitchFamily="34" charset="-122"/>
                <a:cs typeface="Calibri" pitchFamily="34" charset="-120"/>
              </a:rPr>
              <a:t>Group 5  ·  M5 Demand Forecasting on AWS</a:t>
            </a:r>
            <a:endParaRPr lang="en-US" sz="850"/>
          </a:p>
        </p:txBody>
      </p:sp>
      <p:sp>
        <p:nvSpPr>
          <p:cNvPr id="15" name="Text 12"/>
          <p:cNvSpPr/>
          <p:nvPr/>
        </p:nvSpPr>
        <p:spPr>
          <a:xfrm>
            <a:off x="8229600" y="4718304"/>
            <a:ext cx="411480" cy="228600"/>
          </a:xfrm>
          <a:prstGeom prst="rect">
            <a:avLst/>
          </a:prstGeom>
          <a:noFill/>
          <a:ln/>
        </p:spPr>
        <p:txBody>
          <a:bodyPr wrap="square" lIns="0" tIns="0" rIns="0" bIns="0" rtlCol="0" anchor="ctr"/>
          <a:lstStyle/>
          <a:p>
            <a:pPr marL="0" indent="0" algn="r">
              <a:buNone/>
            </a:pPr>
            <a:r>
              <a:rPr lang="en-US" sz="850">
                <a:solidFill>
                  <a:srgbClr val="9AABB8"/>
                </a:solidFill>
                <a:latin typeface="Calibri" pitchFamily="34" charset="0"/>
                <a:ea typeface="Calibri" pitchFamily="34" charset="-122"/>
                <a:cs typeface="Calibri" pitchFamily="34" charset="-120"/>
              </a:rPr>
              <a:t>10</a:t>
            </a:r>
            <a:endParaRPr lang="en-US" sz="85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02920" y="292608"/>
            <a:ext cx="8138160" cy="219456"/>
          </a:xfrm>
          <a:prstGeom prst="rect">
            <a:avLst/>
          </a:prstGeom>
          <a:noFill/>
          <a:ln/>
        </p:spPr>
        <p:txBody>
          <a:bodyPr wrap="square" lIns="0" tIns="0" rIns="0" bIns="0" rtlCol="0" anchor="ctr"/>
          <a:lstStyle/>
          <a:p>
            <a:pPr marL="0" indent="0">
              <a:buNone/>
            </a:pPr>
            <a:r>
              <a:rPr lang="en-US" sz="1100" b="1" kern="0" spc="160">
                <a:solidFill>
                  <a:srgbClr val="2E86AB"/>
                </a:solidFill>
                <a:latin typeface="Calibri" pitchFamily="34" charset="0"/>
                <a:ea typeface="Calibri" pitchFamily="34" charset="-122"/>
                <a:cs typeface="Calibri" pitchFamily="34" charset="-120"/>
              </a:rPr>
              <a:t>FORECASTING</a:t>
            </a:r>
            <a:endParaRPr lang="en-US" sz="1100"/>
          </a:p>
        </p:txBody>
      </p:sp>
      <p:sp>
        <p:nvSpPr>
          <p:cNvPr id="3" name="Text 1"/>
          <p:cNvSpPr/>
          <p:nvPr/>
        </p:nvSpPr>
        <p:spPr>
          <a:xfrm>
            <a:off x="502920" y="530352"/>
            <a:ext cx="8138160" cy="502920"/>
          </a:xfrm>
          <a:prstGeom prst="rect">
            <a:avLst/>
          </a:prstGeom>
          <a:noFill/>
          <a:ln/>
        </p:spPr>
        <p:txBody>
          <a:bodyPr wrap="square" lIns="0" tIns="0" rIns="0" bIns="0" rtlCol="0" anchor="ctr"/>
          <a:lstStyle/>
          <a:p>
            <a:pPr marL="0" indent="0">
              <a:buNone/>
            </a:pPr>
            <a:r>
              <a:rPr lang="en-US" sz="2800" b="1">
                <a:solidFill>
                  <a:srgbClr val="0F2942"/>
                </a:solidFill>
                <a:latin typeface="Cambria" pitchFamily="34" charset="0"/>
                <a:ea typeface="Cambria" pitchFamily="34" charset="-122"/>
                <a:cs typeface="Cambria" pitchFamily="34" charset="-120"/>
              </a:rPr>
              <a:t>Four models on a common 28-day holdout</a:t>
            </a:r>
            <a:endParaRPr lang="en-US" sz="2800"/>
          </a:p>
        </p:txBody>
      </p:sp>
      <p:sp>
        <p:nvSpPr>
          <p:cNvPr id="4" name="Shape 2"/>
          <p:cNvSpPr/>
          <p:nvPr/>
        </p:nvSpPr>
        <p:spPr>
          <a:xfrm>
            <a:off x="7882128" y="274320"/>
            <a:ext cx="804672" cy="256032"/>
          </a:xfrm>
          <a:prstGeom prst="roundRect">
            <a:avLst>
              <a:gd name="adj" fmla="val 50000"/>
            </a:avLst>
          </a:prstGeom>
          <a:solidFill>
            <a:srgbClr val="F4F7FA"/>
          </a:solidFill>
          <a:ln w="9525">
            <a:solidFill>
              <a:srgbClr val="D9E2EA"/>
            </a:solidFill>
            <a:prstDash val="solid"/>
          </a:ln>
        </p:spPr>
        <p:txBody>
          <a:bodyPr/>
          <a:lstStyle/>
          <a:p>
            <a:endParaRPr lang="en-US"/>
          </a:p>
        </p:txBody>
      </p:sp>
      <p:sp>
        <p:nvSpPr>
          <p:cNvPr id="5" name="Text 3"/>
          <p:cNvSpPr/>
          <p:nvPr/>
        </p:nvSpPr>
        <p:spPr>
          <a:xfrm>
            <a:off x="7882128" y="274320"/>
            <a:ext cx="804672" cy="256032"/>
          </a:xfrm>
          <a:prstGeom prst="rect">
            <a:avLst/>
          </a:prstGeom>
          <a:noFill/>
          <a:ln/>
        </p:spPr>
        <p:txBody>
          <a:bodyPr wrap="square" lIns="0" tIns="0" rIns="0" bIns="0" rtlCol="0" anchor="ctr"/>
          <a:lstStyle/>
          <a:p>
            <a:pPr marL="0" indent="0" algn="ctr">
              <a:buNone/>
            </a:pPr>
            <a:r>
              <a:rPr lang="en-US" sz="950" b="1">
                <a:solidFill>
                  <a:srgbClr val="5A6B7C"/>
                </a:solidFill>
                <a:latin typeface="Calibri" pitchFamily="34" charset="0"/>
                <a:ea typeface="Calibri" pitchFamily="34" charset="-122"/>
                <a:cs typeface="Calibri" pitchFamily="34" charset="-120"/>
              </a:rPr>
              <a:t>ROSS</a:t>
            </a:r>
            <a:endParaRPr lang="en-US" sz="950"/>
          </a:p>
        </p:txBody>
      </p:sp>
      <p:sp>
        <p:nvSpPr>
          <p:cNvPr id="6" name="Shape 4"/>
          <p:cNvSpPr/>
          <p:nvPr/>
        </p:nvSpPr>
        <p:spPr>
          <a:xfrm>
            <a:off x="502920" y="1188720"/>
            <a:ext cx="5074920" cy="512064"/>
          </a:xfrm>
          <a:prstGeom prst="roundRect">
            <a:avLst>
              <a:gd name="adj" fmla="val 10714"/>
            </a:avLst>
          </a:prstGeom>
          <a:solidFill>
            <a:srgbClr val="F4F7FA"/>
          </a:solidFill>
          <a:ln w="9525">
            <a:solidFill>
              <a:srgbClr val="D9E2EA"/>
            </a:solidFill>
            <a:prstDash val="solid"/>
          </a:ln>
        </p:spPr>
        <p:txBody>
          <a:bodyPr/>
          <a:lstStyle/>
          <a:p>
            <a:endParaRPr lang="en-US"/>
          </a:p>
        </p:txBody>
      </p:sp>
      <p:sp>
        <p:nvSpPr>
          <p:cNvPr id="7" name="Text 5"/>
          <p:cNvSpPr/>
          <p:nvPr/>
        </p:nvSpPr>
        <p:spPr>
          <a:xfrm>
            <a:off x="658368" y="1234440"/>
            <a:ext cx="365760" cy="420624"/>
          </a:xfrm>
          <a:prstGeom prst="rect">
            <a:avLst/>
          </a:prstGeom>
          <a:noFill/>
          <a:ln/>
        </p:spPr>
        <p:txBody>
          <a:bodyPr wrap="square" lIns="0" tIns="0" rIns="0" bIns="0" rtlCol="0" anchor="ctr"/>
          <a:lstStyle/>
          <a:p>
            <a:pPr marL="0" indent="0">
              <a:buNone/>
            </a:pPr>
            <a:r>
              <a:rPr lang="en-US" sz="1400" b="1">
                <a:solidFill>
                  <a:srgbClr val="2E86AB"/>
                </a:solidFill>
                <a:latin typeface="Cambria" pitchFamily="34" charset="0"/>
                <a:ea typeface="Cambria" pitchFamily="34" charset="-122"/>
                <a:cs typeface="Cambria" pitchFamily="34" charset="-120"/>
              </a:rPr>
              <a:t>01</a:t>
            </a:r>
            <a:endParaRPr lang="en-US" sz="1400"/>
          </a:p>
        </p:txBody>
      </p:sp>
      <p:sp>
        <p:nvSpPr>
          <p:cNvPr id="8" name="Text 6"/>
          <p:cNvSpPr/>
          <p:nvPr/>
        </p:nvSpPr>
        <p:spPr>
          <a:xfrm>
            <a:off x="1078992" y="1243584"/>
            <a:ext cx="1417320" cy="402336"/>
          </a:xfrm>
          <a:prstGeom prst="rect">
            <a:avLst/>
          </a:prstGeom>
          <a:noFill/>
          <a:ln/>
        </p:spPr>
        <p:txBody>
          <a:bodyPr wrap="square" lIns="0" tIns="0" rIns="0" bIns="0" rtlCol="0" anchor="ctr"/>
          <a:lstStyle/>
          <a:p>
            <a:pPr marL="0" indent="0">
              <a:buNone/>
            </a:pPr>
            <a:r>
              <a:rPr lang="en-US" sz="1150" b="1">
                <a:solidFill>
                  <a:srgbClr val="0F2942"/>
                </a:solidFill>
                <a:latin typeface="Calibri" pitchFamily="34" charset="0"/>
                <a:ea typeface="Calibri" pitchFamily="34" charset="-122"/>
                <a:cs typeface="Calibri" pitchFamily="34" charset="-120"/>
              </a:rPr>
              <a:t>Naive</a:t>
            </a:r>
            <a:endParaRPr lang="en-US" sz="1150"/>
          </a:p>
        </p:txBody>
      </p:sp>
      <p:sp>
        <p:nvSpPr>
          <p:cNvPr id="9" name="Text 7"/>
          <p:cNvSpPr/>
          <p:nvPr/>
        </p:nvSpPr>
        <p:spPr>
          <a:xfrm>
            <a:off x="2542032" y="1243584"/>
            <a:ext cx="2926080" cy="402336"/>
          </a:xfrm>
          <a:prstGeom prst="rect">
            <a:avLst/>
          </a:prstGeom>
          <a:noFill/>
          <a:ln/>
        </p:spPr>
        <p:txBody>
          <a:bodyPr wrap="square" lIns="0" tIns="0" rIns="0" bIns="0" rtlCol="0" anchor="ctr"/>
          <a:lstStyle/>
          <a:p>
            <a:pPr marL="0" indent="0">
              <a:buNone/>
            </a:pPr>
            <a:r>
              <a:rPr lang="en-US" sz="1000">
                <a:solidFill>
                  <a:srgbClr val="5A6B7C"/>
                </a:solidFill>
                <a:latin typeface="Calibri" pitchFamily="34" charset="0"/>
                <a:ea typeface="Calibri" pitchFamily="34" charset="-122"/>
                <a:cs typeface="Calibri" pitchFamily="34" charset="-120"/>
              </a:rPr>
              <a:t>Carry the last observed value forward</a:t>
            </a:r>
            <a:endParaRPr lang="en-US" sz="1000"/>
          </a:p>
        </p:txBody>
      </p:sp>
      <p:sp>
        <p:nvSpPr>
          <p:cNvPr id="10" name="Shape 8"/>
          <p:cNvSpPr/>
          <p:nvPr/>
        </p:nvSpPr>
        <p:spPr>
          <a:xfrm>
            <a:off x="502920" y="1792224"/>
            <a:ext cx="5074920" cy="512064"/>
          </a:xfrm>
          <a:prstGeom prst="roundRect">
            <a:avLst>
              <a:gd name="adj" fmla="val 10714"/>
            </a:avLst>
          </a:prstGeom>
          <a:solidFill>
            <a:srgbClr val="F4F7FA"/>
          </a:solidFill>
          <a:ln w="9525">
            <a:solidFill>
              <a:srgbClr val="D9E2EA"/>
            </a:solidFill>
            <a:prstDash val="solid"/>
          </a:ln>
        </p:spPr>
        <p:txBody>
          <a:bodyPr/>
          <a:lstStyle/>
          <a:p>
            <a:endParaRPr lang="en-US"/>
          </a:p>
        </p:txBody>
      </p:sp>
      <p:sp>
        <p:nvSpPr>
          <p:cNvPr id="11" name="Text 9"/>
          <p:cNvSpPr/>
          <p:nvPr/>
        </p:nvSpPr>
        <p:spPr>
          <a:xfrm>
            <a:off x="658368" y="1837944"/>
            <a:ext cx="365760" cy="420624"/>
          </a:xfrm>
          <a:prstGeom prst="rect">
            <a:avLst/>
          </a:prstGeom>
          <a:noFill/>
          <a:ln/>
        </p:spPr>
        <p:txBody>
          <a:bodyPr wrap="square" lIns="0" tIns="0" rIns="0" bIns="0" rtlCol="0" anchor="ctr"/>
          <a:lstStyle/>
          <a:p>
            <a:pPr marL="0" indent="0">
              <a:buNone/>
            </a:pPr>
            <a:r>
              <a:rPr lang="en-US" sz="1400" b="1">
                <a:solidFill>
                  <a:srgbClr val="2E86AB"/>
                </a:solidFill>
                <a:latin typeface="Cambria" pitchFamily="34" charset="0"/>
                <a:ea typeface="Cambria" pitchFamily="34" charset="-122"/>
                <a:cs typeface="Cambria" pitchFamily="34" charset="-120"/>
              </a:rPr>
              <a:t>02</a:t>
            </a:r>
            <a:endParaRPr lang="en-US" sz="1400"/>
          </a:p>
        </p:txBody>
      </p:sp>
      <p:sp>
        <p:nvSpPr>
          <p:cNvPr id="12" name="Text 10"/>
          <p:cNvSpPr/>
          <p:nvPr/>
        </p:nvSpPr>
        <p:spPr>
          <a:xfrm>
            <a:off x="1078992" y="1847088"/>
            <a:ext cx="1417320" cy="402336"/>
          </a:xfrm>
          <a:prstGeom prst="rect">
            <a:avLst/>
          </a:prstGeom>
          <a:noFill/>
          <a:ln/>
        </p:spPr>
        <p:txBody>
          <a:bodyPr wrap="square" lIns="0" tIns="0" rIns="0" bIns="0" rtlCol="0" anchor="ctr"/>
          <a:lstStyle/>
          <a:p>
            <a:pPr marL="0" indent="0">
              <a:buNone/>
            </a:pPr>
            <a:r>
              <a:rPr lang="en-US" sz="1150" b="1">
                <a:solidFill>
                  <a:srgbClr val="0F2942"/>
                </a:solidFill>
                <a:latin typeface="Calibri" pitchFamily="34" charset="0"/>
                <a:ea typeface="Calibri" pitchFamily="34" charset="-122"/>
                <a:cs typeface="Calibri" pitchFamily="34" charset="-120"/>
              </a:rPr>
              <a:t>Seasonal naive</a:t>
            </a:r>
            <a:endParaRPr lang="en-US" sz="1150"/>
          </a:p>
        </p:txBody>
      </p:sp>
      <p:sp>
        <p:nvSpPr>
          <p:cNvPr id="13" name="Text 11"/>
          <p:cNvSpPr/>
          <p:nvPr/>
        </p:nvSpPr>
        <p:spPr>
          <a:xfrm>
            <a:off x="2542032" y="1847088"/>
            <a:ext cx="2926080" cy="402336"/>
          </a:xfrm>
          <a:prstGeom prst="rect">
            <a:avLst/>
          </a:prstGeom>
          <a:noFill/>
          <a:ln/>
        </p:spPr>
        <p:txBody>
          <a:bodyPr wrap="square" lIns="0" tIns="0" rIns="0" bIns="0" rtlCol="0" anchor="ctr"/>
          <a:lstStyle/>
          <a:p>
            <a:pPr marL="0" indent="0">
              <a:buNone/>
            </a:pPr>
            <a:r>
              <a:rPr lang="en-US" sz="1000">
                <a:solidFill>
                  <a:srgbClr val="5A6B7C"/>
                </a:solidFill>
                <a:latin typeface="Calibri" pitchFamily="34" charset="0"/>
                <a:ea typeface="Calibri" pitchFamily="34" charset="-122"/>
                <a:cs typeface="Calibri" pitchFamily="34" charset="-120"/>
              </a:rPr>
              <a:t>Same weekday four weeks earlier</a:t>
            </a:r>
            <a:endParaRPr lang="en-US" sz="1000"/>
          </a:p>
        </p:txBody>
      </p:sp>
      <p:sp>
        <p:nvSpPr>
          <p:cNvPr id="14" name="Shape 12"/>
          <p:cNvSpPr/>
          <p:nvPr/>
        </p:nvSpPr>
        <p:spPr>
          <a:xfrm>
            <a:off x="502920" y="2395728"/>
            <a:ext cx="5074920" cy="512064"/>
          </a:xfrm>
          <a:prstGeom prst="roundRect">
            <a:avLst>
              <a:gd name="adj" fmla="val 10714"/>
            </a:avLst>
          </a:prstGeom>
          <a:solidFill>
            <a:srgbClr val="F4F7FA"/>
          </a:solidFill>
          <a:ln w="9525">
            <a:solidFill>
              <a:srgbClr val="D9E2EA"/>
            </a:solidFill>
            <a:prstDash val="solid"/>
          </a:ln>
        </p:spPr>
        <p:txBody>
          <a:bodyPr/>
          <a:lstStyle/>
          <a:p>
            <a:endParaRPr lang="en-US"/>
          </a:p>
        </p:txBody>
      </p:sp>
      <p:sp>
        <p:nvSpPr>
          <p:cNvPr id="15" name="Text 13"/>
          <p:cNvSpPr/>
          <p:nvPr/>
        </p:nvSpPr>
        <p:spPr>
          <a:xfrm>
            <a:off x="658368" y="2441448"/>
            <a:ext cx="365760" cy="420624"/>
          </a:xfrm>
          <a:prstGeom prst="rect">
            <a:avLst/>
          </a:prstGeom>
          <a:noFill/>
          <a:ln/>
        </p:spPr>
        <p:txBody>
          <a:bodyPr wrap="square" lIns="0" tIns="0" rIns="0" bIns="0" rtlCol="0" anchor="ctr"/>
          <a:lstStyle/>
          <a:p>
            <a:pPr marL="0" indent="0">
              <a:buNone/>
            </a:pPr>
            <a:r>
              <a:rPr lang="en-US" sz="1400" b="1">
                <a:solidFill>
                  <a:srgbClr val="2E86AB"/>
                </a:solidFill>
                <a:latin typeface="Cambria" pitchFamily="34" charset="0"/>
                <a:ea typeface="Cambria" pitchFamily="34" charset="-122"/>
                <a:cs typeface="Cambria" pitchFamily="34" charset="-120"/>
              </a:rPr>
              <a:t>03</a:t>
            </a:r>
            <a:endParaRPr lang="en-US" sz="1400"/>
          </a:p>
        </p:txBody>
      </p:sp>
      <p:sp>
        <p:nvSpPr>
          <p:cNvPr id="16" name="Text 14"/>
          <p:cNvSpPr/>
          <p:nvPr/>
        </p:nvSpPr>
        <p:spPr>
          <a:xfrm>
            <a:off x="1078992" y="2450592"/>
            <a:ext cx="1417320" cy="402336"/>
          </a:xfrm>
          <a:prstGeom prst="rect">
            <a:avLst/>
          </a:prstGeom>
          <a:noFill/>
          <a:ln/>
        </p:spPr>
        <p:txBody>
          <a:bodyPr wrap="square" lIns="0" tIns="0" rIns="0" bIns="0" rtlCol="0" anchor="ctr"/>
          <a:lstStyle/>
          <a:p>
            <a:pPr marL="0" indent="0">
              <a:buNone/>
            </a:pPr>
            <a:r>
              <a:rPr lang="en-US" sz="1150" b="1">
                <a:solidFill>
                  <a:srgbClr val="0F2942"/>
                </a:solidFill>
                <a:latin typeface="Calibri" pitchFamily="34" charset="0"/>
                <a:ea typeface="Calibri" pitchFamily="34" charset="-122"/>
                <a:cs typeface="Calibri" pitchFamily="34" charset="-120"/>
              </a:rPr>
              <a:t>Weekday mean</a:t>
            </a:r>
            <a:endParaRPr lang="en-US" sz="1150"/>
          </a:p>
        </p:txBody>
      </p:sp>
      <p:sp>
        <p:nvSpPr>
          <p:cNvPr id="17" name="Text 15"/>
          <p:cNvSpPr/>
          <p:nvPr/>
        </p:nvSpPr>
        <p:spPr>
          <a:xfrm>
            <a:off x="2542032" y="2450592"/>
            <a:ext cx="2926080" cy="402336"/>
          </a:xfrm>
          <a:prstGeom prst="rect">
            <a:avLst/>
          </a:prstGeom>
          <a:noFill/>
          <a:ln/>
        </p:spPr>
        <p:txBody>
          <a:bodyPr wrap="square" lIns="0" tIns="0" rIns="0" bIns="0" rtlCol="0" anchor="ctr"/>
          <a:lstStyle/>
          <a:p>
            <a:pPr marL="0" indent="0">
              <a:buNone/>
            </a:pPr>
            <a:r>
              <a:rPr lang="en-US" sz="1000">
                <a:solidFill>
                  <a:srgbClr val="5A6B7C"/>
                </a:solidFill>
                <a:latin typeface="Calibri" pitchFamily="34" charset="0"/>
                <a:ea typeface="Calibri" pitchFamily="34" charset="-122"/>
                <a:cs typeface="Calibri" pitchFamily="34" charset="-120"/>
              </a:rPr>
              <a:t>Per-item average for that weekday in the training period</a:t>
            </a:r>
            <a:endParaRPr lang="en-US" sz="1000"/>
          </a:p>
        </p:txBody>
      </p:sp>
      <p:sp>
        <p:nvSpPr>
          <p:cNvPr id="18" name="Shape 16"/>
          <p:cNvSpPr/>
          <p:nvPr/>
        </p:nvSpPr>
        <p:spPr>
          <a:xfrm>
            <a:off x="502920" y="2999232"/>
            <a:ext cx="5074920" cy="512064"/>
          </a:xfrm>
          <a:prstGeom prst="roundRect">
            <a:avLst>
              <a:gd name="adj" fmla="val 10714"/>
            </a:avLst>
          </a:prstGeom>
          <a:solidFill>
            <a:srgbClr val="EAF3EC"/>
          </a:solidFill>
          <a:ln w="9525">
            <a:solidFill>
              <a:srgbClr val="3D8A5F"/>
            </a:solidFill>
            <a:prstDash val="solid"/>
          </a:ln>
        </p:spPr>
        <p:txBody>
          <a:bodyPr/>
          <a:lstStyle/>
          <a:p>
            <a:endParaRPr lang="en-US"/>
          </a:p>
        </p:txBody>
      </p:sp>
      <p:sp>
        <p:nvSpPr>
          <p:cNvPr id="19" name="Text 17"/>
          <p:cNvSpPr/>
          <p:nvPr/>
        </p:nvSpPr>
        <p:spPr>
          <a:xfrm>
            <a:off x="658368" y="3044952"/>
            <a:ext cx="365760" cy="420624"/>
          </a:xfrm>
          <a:prstGeom prst="rect">
            <a:avLst/>
          </a:prstGeom>
          <a:noFill/>
          <a:ln/>
        </p:spPr>
        <p:txBody>
          <a:bodyPr wrap="square" lIns="0" tIns="0" rIns="0" bIns="0" rtlCol="0" anchor="ctr"/>
          <a:lstStyle/>
          <a:p>
            <a:pPr marL="0" indent="0">
              <a:buNone/>
            </a:pPr>
            <a:r>
              <a:rPr lang="en-US" sz="1400" b="1">
                <a:solidFill>
                  <a:srgbClr val="3D8A5F"/>
                </a:solidFill>
                <a:latin typeface="Cambria" pitchFamily="34" charset="0"/>
                <a:ea typeface="Cambria" pitchFamily="34" charset="-122"/>
                <a:cs typeface="Cambria" pitchFamily="34" charset="-120"/>
              </a:rPr>
              <a:t>04</a:t>
            </a:r>
            <a:endParaRPr lang="en-US" sz="1400"/>
          </a:p>
        </p:txBody>
      </p:sp>
      <p:sp>
        <p:nvSpPr>
          <p:cNvPr id="20" name="Text 18"/>
          <p:cNvSpPr/>
          <p:nvPr/>
        </p:nvSpPr>
        <p:spPr>
          <a:xfrm>
            <a:off x="1078992" y="3054096"/>
            <a:ext cx="1417320" cy="402336"/>
          </a:xfrm>
          <a:prstGeom prst="rect">
            <a:avLst/>
          </a:prstGeom>
          <a:noFill/>
          <a:ln/>
        </p:spPr>
        <p:txBody>
          <a:bodyPr wrap="square" lIns="0" tIns="0" rIns="0" bIns="0" rtlCol="0" anchor="ctr"/>
          <a:lstStyle/>
          <a:p>
            <a:pPr marL="0" indent="0">
              <a:buNone/>
            </a:pPr>
            <a:r>
              <a:rPr lang="en-US" sz="1150" b="1">
                <a:solidFill>
                  <a:srgbClr val="0F2942"/>
                </a:solidFill>
                <a:latin typeface="Calibri" pitchFamily="34" charset="0"/>
                <a:ea typeface="Calibri" pitchFamily="34" charset="-122"/>
                <a:cs typeface="Calibri" pitchFamily="34" charset="-120"/>
              </a:rPr>
              <a:t>Gradient boosting</a:t>
            </a:r>
            <a:endParaRPr lang="en-US" sz="1150"/>
          </a:p>
        </p:txBody>
      </p:sp>
      <p:sp>
        <p:nvSpPr>
          <p:cNvPr id="21" name="Text 19"/>
          <p:cNvSpPr/>
          <p:nvPr/>
        </p:nvSpPr>
        <p:spPr>
          <a:xfrm>
            <a:off x="2542032" y="3054096"/>
            <a:ext cx="2926080" cy="402336"/>
          </a:xfrm>
          <a:prstGeom prst="rect">
            <a:avLst/>
          </a:prstGeom>
          <a:noFill/>
          <a:ln/>
        </p:spPr>
        <p:txBody>
          <a:bodyPr wrap="square" lIns="0" tIns="0" rIns="0" bIns="0" rtlCol="0" anchor="ctr"/>
          <a:lstStyle/>
          <a:p>
            <a:pPr marL="0" indent="0">
              <a:buNone/>
            </a:pPr>
            <a:r>
              <a:rPr lang="en-US" sz="1000">
                <a:solidFill>
                  <a:srgbClr val="5A6B7C"/>
                </a:solidFill>
                <a:latin typeface="Calibri" pitchFamily="34" charset="0"/>
                <a:ea typeface="Calibri" pitchFamily="34" charset="-122"/>
                <a:cs typeface="Calibri" pitchFamily="34" charset="-120"/>
              </a:rPr>
              <a:t>Calendar, price, SNAP and lag features</a:t>
            </a:r>
            <a:endParaRPr lang="en-US" sz="1000"/>
          </a:p>
        </p:txBody>
      </p:sp>
      <p:sp>
        <p:nvSpPr>
          <p:cNvPr id="22" name="Shape 20"/>
          <p:cNvSpPr/>
          <p:nvPr/>
        </p:nvSpPr>
        <p:spPr>
          <a:xfrm>
            <a:off x="5806440" y="1188720"/>
            <a:ext cx="2834640" cy="1417320"/>
          </a:xfrm>
          <a:prstGeom prst="roundRect">
            <a:avLst>
              <a:gd name="adj" fmla="val 3871"/>
            </a:avLst>
          </a:prstGeom>
          <a:solidFill>
            <a:srgbClr val="FDF4E6"/>
          </a:solidFill>
          <a:ln w="9525">
            <a:solidFill>
              <a:srgbClr val="D9E2EA"/>
            </a:solidFill>
            <a:prstDash val="solid"/>
          </a:ln>
        </p:spPr>
        <p:txBody>
          <a:bodyPr/>
          <a:lstStyle/>
          <a:p>
            <a:endParaRPr lang="en-US"/>
          </a:p>
        </p:txBody>
      </p:sp>
      <p:sp>
        <p:nvSpPr>
          <p:cNvPr id="23" name="Text 21"/>
          <p:cNvSpPr/>
          <p:nvPr/>
        </p:nvSpPr>
        <p:spPr>
          <a:xfrm>
            <a:off x="6035040" y="1316736"/>
            <a:ext cx="2377440" cy="237744"/>
          </a:xfrm>
          <a:prstGeom prst="rect">
            <a:avLst/>
          </a:prstGeom>
          <a:noFill/>
          <a:ln/>
        </p:spPr>
        <p:txBody>
          <a:bodyPr wrap="square" lIns="0" tIns="0" rIns="0" bIns="0" rtlCol="0" anchor="ctr"/>
          <a:lstStyle/>
          <a:p>
            <a:pPr marL="0" indent="0">
              <a:buNone/>
            </a:pPr>
            <a:r>
              <a:rPr lang="en-US" sz="1200" b="1">
                <a:solidFill>
                  <a:srgbClr val="0F2942"/>
                </a:solidFill>
                <a:latin typeface="Calibri" pitchFamily="34" charset="0"/>
                <a:ea typeface="Calibri" pitchFamily="34" charset="-122"/>
                <a:cs typeface="Calibri" pitchFamily="34" charset="-120"/>
              </a:rPr>
              <a:t>Avoiding leakage</a:t>
            </a:r>
            <a:endParaRPr lang="en-US" sz="1200"/>
          </a:p>
        </p:txBody>
      </p:sp>
      <p:sp>
        <p:nvSpPr>
          <p:cNvPr id="24" name="Text 22"/>
          <p:cNvSpPr/>
          <p:nvPr/>
        </p:nvSpPr>
        <p:spPr>
          <a:xfrm>
            <a:off x="6035040" y="1591056"/>
            <a:ext cx="2377440" cy="896112"/>
          </a:xfrm>
          <a:prstGeom prst="rect">
            <a:avLst/>
          </a:prstGeom>
          <a:noFill/>
          <a:ln/>
        </p:spPr>
        <p:txBody>
          <a:bodyPr wrap="square" lIns="0" tIns="0" rIns="0" bIns="0" rtlCol="0" anchor="ctr"/>
          <a:lstStyle/>
          <a:p>
            <a:pPr marL="0" indent="0">
              <a:buNone/>
            </a:pPr>
            <a:r>
              <a:rPr lang="en-US" sz="1050">
                <a:solidFill>
                  <a:srgbClr val="1B2B3A"/>
                </a:solidFill>
                <a:latin typeface="Calibri" pitchFamily="34" charset="0"/>
                <a:ea typeface="Calibri" pitchFamily="34" charset="-122"/>
                <a:cs typeface="Calibri" pitchFamily="34" charset="-120"/>
              </a:rPr>
              <a:t>Lag features never go below 28 days, so no test row can see an actual value from inside the holdout window.</a:t>
            </a:r>
            <a:endParaRPr lang="en-US" sz="1050"/>
          </a:p>
        </p:txBody>
      </p:sp>
      <p:sp>
        <p:nvSpPr>
          <p:cNvPr id="25" name="Shape 23"/>
          <p:cNvSpPr/>
          <p:nvPr/>
        </p:nvSpPr>
        <p:spPr>
          <a:xfrm>
            <a:off x="5806440" y="2743200"/>
            <a:ext cx="2834640" cy="1481328"/>
          </a:xfrm>
          <a:prstGeom prst="roundRect">
            <a:avLst>
              <a:gd name="adj" fmla="val 3704"/>
            </a:avLst>
          </a:prstGeom>
          <a:solidFill>
            <a:srgbClr val="F4F7FA"/>
          </a:solidFill>
          <a:ln w="9525">
            <a:solidFill>
              <a:srgbClr val="D9E2EA"/>
            </a:solidFill>
            <a:prstDash val="solid"/>
          </a:ln>
        </p:spPr>
        <p:txBody>
          <a:bodyPr/>
          <a:lstStyle/>
          <a:p>
            <a:endParaRPr lang="en-US"/>
          </a:p>
        </p:txBody>
      </p:sp>
      <p:sp>
        <p:nvSpPr>
          <p:cNvPr id="26" name="Text 24"/>
          <p:cNvSpPr/>
          <p:nvPr/>
        </p:nvSpPr>
        <p:spPr>
          <a:xfrm>
            <a:off x="6035040" y="2871216"/>
            <a:ext cx="2377440" cy="237744"/>
          </a:xfrm>
          <a:prstGeom prst="rect">
            <a:avLst/>
          </a:prstGeom>
          <a:noFill/>
          <a:ln/>
        </p:spPr>
        <p:txBody>
          <a:bodyPr wrap="square" lIns="0" tIns="0" rIns="0" bIns="0" rtlCol="0" anchor="ctr"/>
          <a:lstStyle/>
          <a:p>
            <a:pPr marL="0" indent="0">
              <a:buNone/>
            </a:pPr>
            <a:r>
              <a:rPr lang="en-US" sz="1200" b="1">
                <a:solidFill>
                  <a:srgbClr val="0F2942"/>
                </a:solidFill>
                <a:latin typeface="Calibri" pitchFamily="34" charset="0"/>
                <a:ea typeface="Calibri" pitchFamily="34" charset="-122"/>
                <a:cs typeface="Calibri" pitchFamily="34" charset="-120"/>
              </a:rPr>
              <a:t>Why we report bias</a:t>
            </a:r>
            <a:endParaRPr lang="en-US" sz="1200"/>
          </a:p>
        </p:txBody>
      </p:sp>
      <p:sp>
        <p:nvSpPr>
          <p:cNvPr id="27" name="Text 25"/>
          <p:cNvSpPr/>
          <p:nvPr/>
        </p:nvSpPr>
        <p:spPr>
          <a:xfrm>
            <a:off x="6035040" y="3145536"/>
            <a:ext cx="2377440" cy="1005840"/>
          </a:xfrm>
          <a:prstGeom prst="rect">
            <a:avLst/>
          </a:prstGeom>
          <a:noFill/>
          <a:ln/>
        </p:spPr>
        <p:txBody>
          <a:bodyPr wrap="square" lIns="0" tIns="0" rIns="0" bIns="0" rtlCol="0" anchor="ctr"/>
          <a:lstStyle/>
          <a:p>
            <a:pPr marL="0" indent="0">
              <a:buNone/>
            </a:pPr>
            <a:r>
              <a:rPr lang="en-US" sz="1050">
                <a:solidFill>
                  <a:srgbClr val="1B2B3A"/>
                </a:solidFill>
                <a:latin typeface="Calibri" pitchFamily="34" charset="0"/>
                <a:ea typeface="Calibri" pitchFamily="34" charset="-122"/>
                <a:cs typeface="Calibri" pitchFamily="34" charset="-120"/>
              </a:rPr>
              <a:t>A model that is accurate on average but under-forecasts consistently is worse than its RMSE suggests, because a stockout costs more than the excess unit.</a:t>
            </a:r>
            <a:endParaRPr lang="en-US" sz="1050"/>
          </a:p>
        </p:txBody>
      </p:sp>
      <p:sp>
        <p:nvSpPr>
          <p:cNvPr id="28" name="Text 26"/>
          <p:cNvSpPr/>
          <p:nvPr/>
        </p:nvSpPr>
        <p:spPr>
          <a:xfrm>
            <a:off x="502920" y="4315968"/>
            <a:ext cx="5120640" cy="256032"/>
          </a:xfrm>
          <a:prstGeom prst="rect">
            <a:avLst/>
          </a:prstGeom>
          <a:noFill/>
          <a:ln/>
        </p:spPr>
        <p:txBody>
          <a:bodyPr wrap="square" lIns="0" tIns="0" rIns="0" bIns="0" rtlCol="0" anchor="ctr"/>
          <a:lstStyle/>
          <a:p>
            <a:pPr marL="0" indent="0">
              <a:buNone/>
            </a:pPr>
            <a:r>
              <a:rPr lang="en-US" sz="1000" i="1">
                <a:solidFill>
                  <a:srgbClr val="5A6B7C"/>
                </a:solidFill>
                <a:latin typeface="Calibri" pitchFamily="34" charset="0"/>
                <a:ea typeface="Calibri" pitchFamily="34" charset="-122"/>
                <a:cs typeface="Calibri" pitchFamily="34" charset="-120"/>
              </a:rPr>
              <a:t>All four scored on the same 28-day holdout · scoped to FOODS in California</a:t>
            </a:r>
            <a:endParaRPr lang="en-US" sz="1000"/>
          </a:p>
        </p:txBody>
      </p:sp>
      <p:sp>
        <p:nvSpPr>
          <p:cNvPr id="29" name="Text 27"/>
          <p:cNvSpPr/>
          <p:nvPr/>
        </p:nvSpPr>
        <p:spPr>
          <a:xfrm>
            <a:off x="502920" y="4718304"/>
            <a:ext cx="5486400" cy="228600"/>
          </a:xfrm>
          <a:prstGeom prst="rect">
            <a:avLst/>
          </a:prstGeom>
          <a:noFill/>
          <a:ln/>
        </p:spPr>
        <p:txBody>
          <a:bodyPr wrap="square" lIns="0" tIns="0" rIns="0" bIns="0" rtlCol="0" anchor="ctr"/>
          <a:lstStyle/>
          <a:p>
            <a:pPr marL="0" indent="0">
              <a:buNone/>
            </a:pPr>
            <a:r>
              <a:rPr lang="en-US" sz="850">
                <a:solidFill>
                  <a:srgbClr val="9AABB8"/>
                </a:solidFill>
                <a:latin typeface="Calibri" pitchFamily="34" charset="0"/>
                <a:ea typeface="Calibri" pitchFamily="34" charset="-122"/>
                <a:cs typeface="Calibri" pitchFamily="34" charset="-120"/>
              </a:rPr>
              <a:t>Group 5  ·  M5 Demand Forecasting on AWS</a:t>
            </a:r>
            <a:endParaRPr lang="en-US" sz="850"/>
          </a:p>
        </p:txBody>
      </p:sp>
      <p:sp>
        <p:nvSpPr>
          <p:cNvPr id="30" name="Text 28"/>
          <p:cNvSpPr/>
          <p:nvPr/>
        </p:nvSpPr>
        <p:spPr>
          <a:xfrm>
            <a:off x="8229600" y="4718304"/>
            <a:ext cx="411480" cy="228600"/>
          </a:xfrm>
          <a:prstGeom prst="rect">
            <a:avLst/>
          </a:prstGeom>
          <a:noFill/>
          <a:ln/>
        </p:spPr>
        <p:txBody>
          <a:bodyPr wrap="square" lIns="0" tIns="0" rIns="0" bIns="0" rtlCol="0" anchor="ctr"/>
          <a:lstStyle/>
          <a:p>
            <a:pPr marL="0" indent="0" algn="r">
              <a:buNone/>
            </a:pPr>
            <a:r>
              <a:rPr lang="en-US" sz="850">
                <a:solidFill>
                  <a:srgbClr val="9AABB8"/>
                </a:solidFill>
                <a:latin typeface="Calibri" pitchFamily="34" charset="0"/>
                <a:ea typeface="Calibri" pitchFamily="34" charset="-122"/>
                <a:cs typeface="Calibri" pitchFamily="34" charset="-120"/>
              </a:rPr>
              <a:t>11</a:t>
            </a:r>
            <a:endParaRPr lang="en-US" sz="85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02920" y="292608"/>
            <a:ext cx="8138160" cy="219456"/>
          </a:xfrm>
          <a:prstGeom prst="rect">
            <a:avLst/>
          </a:prstGeom>
          <a:noFill/>
          <a:ln/>
        </p:spPr>
        <p:txBody>
          <a:bodyPr wrap="square" lIns="0" tIns="0" rIns="0" bIns="0" rtlCol="0" anchor="ctr"/>
          <a:lstStyle/>
          <a:p>
            <a:pPr marL="0" indent="0">
              <a:buNone/>
            </a:pPr>
            <a:r>
              <a:rPr lang="en-US" sz="1100" b="1" kern="0" spc="160">
                <a:solidFill>
                  <a:srgbClr val="2E86AB"/>
                </a:solidFill>
                <a:latin typeface="Calibri" pitchFamily="34" charset="0"/>
                <a:ea typeface="Calibri" pitchFamily="34" charset="-122"/>
                <a:cs typeface="Calibri" pitchFamily="34" charset="-120"/>
              </a:rPr>
              <a:t>RESULTS</a:t>
            </a:r>
            <a:endParaRPr lang="en-US" sz="1100"/>
          </a:p>
        </p:txBody>
      </p:sp>
      <p:sp>
        <p:nvSpPr>
          <p:cNvPr id="3" name="Text 1"/>
          <p:cNvSpPr/>
          <p:nvPr/>
        </p:nvSpPr>
        <p:spPr>
          <a:xfrm>
            <a:off x="502920" y="530352"/>
            <a:ext cx="8138160" cy="502920"/>
          </a:xfrm>
          <a:prstGeom prst="rect">
            <a:avLst/>
          </a:prstGeom>
          <a:noFill/>
          <a:ln/>
        </p:spPr>
        <p:txBody>
          <a:bodyPr wrap="square" lIns="0" tIns="0" rIns="0" bIns="0" rtlCol="0" anchor="ctr"/>
          <a:lstStyle/>
          <a:p>
            <a:pPr marL="0" indent="0">
              <a:buNone/>
            </a:pPr>
            <a:r>
              <a:rPr lang="en-US" sz="2800" b="1">
                <a:solidFill>
                  <a:srgbClr val="0F2942"/>
                </a:solidFill>
                <a:latin typeface="Cambria" pitchFamily="34" charset="0"/>
                <a:ea typeface="Cambria" pitchFamily="34" charset="-122"/>
                <a:cs typeface="Cambria" pitchFamily="34" charset="-120"/>
              </a:rPr>
              <a:t>Gradient boosting performed best on all three measures</a:t>
            </a:r>
            <a:endParaRPr lang="en-US" sz="2800"/>
          </a:p>
        </p:txBody>
      </p:sp>
      <p:sp>
        <p:nvSpPr>
          <p:cNvPr id="4" name="Shape 2"/>
          <p:cNvSpPr/>
          <p:nvPr/>
        </p:nvSpPr>
        <p:spPr>
          <a:xfrm>
            <a:off x="7882128" y="274320"/>
            <a:ext cx="804672" cy="256032"/>
          </a:xfrm>
          <a:prstGeom prst="roundRect">
            <a:avLst>
              <a:gd name="adj" fmla="val 50000"/>
            </a:avLst>
          </a:prstGeom>
          <a:solidFill>
            <a:srgbClr val="F4F7FA"/>
          </a:solidFill>
          <a:ln w="9525">
            <a:solidFill>
              <a:srgbClr val="D9E2EA"/>
            </a:solidFill>
            <a:prstDash val="solid"/>
          </a:ln>
        </p:spPr>
        <p:txBody>
          <a:bodyPr/>
          <a:lstStyle/>
          <a:p>
            <a:endParaRPr lang="en-US"/>
          </a:p>
        </p:txBody>
      </p:sp>
      <p:sp>
        <p:nvSpPr>
          <p:cNvPr id="5" name="Text 3"/>
          <p:cNvSpPr/>
          <p:nvPr/>
        </p:nvSpPr>
        <p:spPr>
          <a:xfrm>
            <a:off x="7882128" y="274320"/>
            <a:ext cx="804672" cy="256032"/>
          </a:xfrm>
          <a:prstGeom prst="rect">
            <a:avLst/>
          </a:prstGeom>
          <a:noFill/>
          <a:ln/>
        </p:spPr>
        <p:txBody>
          <a:bodyPr wrap="square" lIns="0" tIns="0" rIns="0" bIns="0" rtlCol="0" anchor="ctr"/>
          <a:lstStyle/>
          <a:p>
            <a:pPr marL="0" indent="0" algn="ctr">
              <a:buNone/>
            </a:pPr>
            <a:r>
              <a:rPr lang="en-US" sz="950" b="1">
                <a:solidFill>
                  <a:srgbClr val="5A6B7C"/>
                </a:solidFill>
                <a:latin typeface="Calibri" pitchFamily="34" charset="0"/>
                <a:ea typeface="Calibri" pitchFamily="34" charset="-122"/>
                <a:cs typeface="Calibri" pitchFamily="34" charset="-120"/>
              </a:rPr>
              <a:t>ROSS</a:t>
            </a:r>
            <a:endParaRPr lang="en-US" sz="95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02920" y="1207008"/>
          <a:ext cx="5440680" cy="1828800"/>
        </p:xfrm>
        <a:graphic>
          <a:graphicData uri="http://schemas.openxmlformats.org/drawingml/2006/table">
            <a:tbl>
              <a:tblPr/>
              <a:tblGrid>
                <a:gridCol w="242316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tblGrid>
              <a:tr h="365760">
                <a:tc>
                  <a:txBody>
                    <a:bodyPr/>
                    <a:lstStyle/>
                    <a:p>
                      <a:pPr marL="0" indent="0">
                        <a:buNone/>
                      </a:pPr>
                      <a:r>
                        <a:rPr lang="en-US" sz="1150" b="1">
                          <a:solidFill>
                            <a:srgbClr val="FFFFFF"/>
                          </a:solidFill>
                          <a:latin typeface="Calibri" pitchFamily="34" charset="0"/>
                          <a:ea typeface="Calibri" pitchFamily="34" charset="-122"/>
                          <a:cs typeface="Calibri" pitchFamily="34" charset="-120"/>
                        </a:rPr>
                        <a:t>Model</a:t>
                      </a:r>
                      <a:endParaRPr lang="en-US" sz="1150">
                        <a:latin typeface="Calibri" charset="0"/>
                        <a:ea typeface="Calibri" charset="0"/>
                        <a:cs typeface="Calibri" charset="0"/>
                      </a:endParaRPr>
                    </a:p>
                  </a:txBody>
                  <a:tcPr marL="109728" marR="10972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0F2942"/>
                    </a:solidFill>
                  </a:tcPr>
                </a:tc>
                <a:tc>
                  <a:txBody>
                    <a:bodyPr/>
                    <a:lstStyle/>
                    <a:p>
                      <a:pPr marL="0" indent="0" algn="ctr">
                        <a:buNone/>
                      </a:pPr>
                      <a:r>
                        <a:rPr lang="en-US" sz="1150" b="1">
                          <a:solidFill>
                            <a:srgbClr val="FFFFFF"/>
                          </a:solidFill>
                          <a:latin typeface="Calibri" pitchFamily="34" charset="0"/>
                          <a:ea typeface="Calibri" pitchFamily="34" charset="-122"/>
                          <a:cs typeface="Calibri" pitchFamily="34" charset="-120"/>
                        </a:rPr>
                        <a:t>RMSE</a:t>
                      </a:r>
                      <a:endParaRPr lang="en-US" sz="1150">
                        <a:latin typeface="Calibri" charset="0"/>
                        <a:ea typeface="Calibri" charset="0"/>
                        <a:cs typeface="Calibri" charset="0"/>
                      </a:endParaRPr>
                    </a:p>
                  </a:txBody>
                  <a:tcPr marL="109728" marR="10972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0F2942"/>
                    </a:solidFill>
                  </a:tcPr>
                </a:tc>
                <a:tc>
                  <a:txBody>
                    <a:bodyPr/>
                    <a:lstStyle/>
                    <a:p>
                      <a:pPr marL="0" indent="0" algn="ctr">
                        <a:buNone/>
                      </a:pPr>
                      <a:r>
                        <a:rPr lang="en-US" sz="1150" b="1">
                          <a:solidFill>
                            <a:srgbClr val="FFFFFF"/>
                          </a:solidFill>
                          <a:latin typeface="Calibri" pitchFamily="34" charset="0"/>
                          <a:ea typeface="Calibri" pitchFamily="34" charset="-122"/>
                          <a:cs typeface="Calibri" pitchFamily="34" charset="-120"/>
                        </a:rPr>
                        <a:t>MAE</a:t>
                      </a:r>
                      <a:endParaRPr lang="en-US" sz="1150">
                        <a:latin typeface="Calibri" charset="0"/>
                        <a:ea typeface="Calibri" charset="0"/>
                        <a:cs typeface="Calibri" charset="0"/>
                      </a:endParaRPr>
                    </a:p>
                  </a:txBody>
                  <a:tcPr marL="109728" marR="10972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0F2942"/>
                    </a:solidFill>
                  </a:tcPr>
                </a:tc>
                <a:tc>
                  <a:txBody>
                    <a:bodyPr/>
                    <a:lstStyle/>
                    <a:p>
                      <a:pPr marL="0" indent="0" algn="ctr">
                        <a:buNone/>
                      </a:pPr>
                      <a:r>
                        <a:rPr lang="en-US" sz="1150" b="1">
                          <a:solidFill>
                            <a:srgbClr val="FFFFFF"/>
                          </a:solidFill>
                          <a:latin typeface="Calibri" pitchFamily="34" charset="0"/>
                          <a:ea typeface="Calibri" pitchFamily="34" charset="-122"/>
                          <a:cs typeface="Calibri" pitchFamily="34" charset="-120"/>
                        </a:rPr>
                        <a:t>Bias</a:t>
                      </a:r>
                      <a:endParaRPr lang="en-US" sz="1150">
                        <a:latin typeface="Calibri" charset="0"/>
                        <a:ea typeface="Calibri" charset="0"/>
                        <a:cs typeface="Calibri" charset="0"/>
                      </a:endParaRPr>
                    </a:p>
                  </a:txBody>
                  <a:tcPr marL="109728" marR="10972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0F2942"/>
                    </a:solidFill>
                  </a:tcPr>
                </a:tc>
                <a:extLst>
                  <a:ext uri="{0D108BD9-81ED-4DB2-BD59-A6C34878D82A}">
                    <a16:rowId xmlns:a16="http://schemas.microsoft.com/office/drawing/2014/main" val="10000"/>
                  </a:ext>
                </a:extLst>
              </a:tr>
              <a:tr h="365760">
                <a:tc>
                  <a:txBody>
                    <a:bodyPr/>
                    <a:lstStyle/>
                    <a:p>
                      <a:pPr marL="0" indent="0">
                        <a:buNone/>
                      </a:pPr>
                      <a:r>
                        <a:rPr lang="en-US" sz="1150">
                          <a:solidFill>
                            <a:srgbClr val="1B2B3A"/>
                          </a:solidFill>
                          <a:latin typeface="Calibri" pitchFamily="34" charset="0"/>
                          <a:ea typeface="Calibri" pitchFamily="34" charset="-122"/>
                          <a:cs typeface="Calibri" pitchFamily="34" charset="-120"/>
                        </a:rPr>
                        <a:t>Naive (last value)</a:t>
                      </a:r>
                      <a:endParaRPr lang="en-US" sz="1150">
                        <a:latin typeface="Calibri" charset="0"/>
                        <a:ea typeface="Calibri" charset="0"/>
                        <a:cs typeface="Calibri" charset="0"/>
                      </a:endParaRPr>
                    </a:p>
                  </a:txBody>
                  <a:tcPr marL="109728" marR="10972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tcPr>
                </a:tc>
                <a:tc>
                  <a:txBody>
                    <a:bodyPr/>
                    <a:lstStyle/>
                    <a:p>
                      <a:pPr marL="0" indent="0" algn="ctr">
                        <a:buNone/>
                      </a:pPr>
                      <a:r>
                        <a:rPr lang="en-US" sz="1150">
                          <a:solidFill>
                            <a:srgbClr val="1B2B3A"/>
                          </a:solidFill>
                          <a:latin typeface="Calibri" pitchFamily="34" charset="0"/>
                          <a:ea typeface="Calibri" pitchFamily="34" charset="-122"/>
                          <a:cs typeface="Calibri" pitchFamily="34" charset="-120"/>
                        </a:rPr>
                        <a:t>3.5710</a:t>
                      </a:r>
                      <a:endParaRPr lang="en-US" sz="1150">
                        <a:latin typeface="Calibri" charset="0"/>
                        <a:ea typeface="Calibri" charset="0"/>
                        <a:cs typeface="Calibri" charset="0"/>
                      </a:endParaRPr>
                    </a:p>
                  </a:txBody>
                  <a:tcPr marL="109728" marR="10972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tcPr>
                </a:tc>
                <a:tc>
                  <a:txBody>
                    <a:bodyPr/>
                    <a:lstStyle/>
                    <a:p>
                      <a:pPr marL="0" indent="0" algn="ctr">
                        <a:buNone/>
                      </a:pPr>
                      <a:r>
                        <a:rPr lang="en-US" sz="1150">
                          <a:solidFill>
                            <a:srgbClr val="1B2B3A"/>
                          </a:solidFill>
                          <a:latin typeface="Calibri" pitchFamily="34" charset="0"/>
                          <a:ea typeface="Calibri" pitchFamily="34" charset="-122"/>
                          <a:cs typeface="Calibri" pitchFamily="34" charset="-120"/>
                        </a:rPr>
                        <a:t>1.9421</a:t>
                      </a:r>
                      <a:endParaRPr lang="en-US" sz="1150">
                        <a:latin typeface="Calibri" charset="0"/>
                        <a:ea typeface="Calibri" charset="0"/>
                        <a:cs typeface="Calibri" charset="0"/>
                      </a:endParaRPr>
                    </a:p>
                  </a:txBody>
                  <a:tcPr marL="109728" marR="10972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tcPr>
                </a:tc>
                <a:tc>
                  <a:txBody>
                    <a:bodyPr/>
                    <a:lstStyle/>
                    <a:p>
                      <a:pPr marL="0" indent="0" algn="ctr">
                        <a:buNone/>
                      </a:pPr>
                      <a:r>
                        <a:rPr lang="en-US" sz="1150">
                          <a:solidFill>
                            <a:srgbClr val="1B2B3A"/>
                          </a:solidFill>
                          <a:latin typeface="Calibri" pitchFamily="34" charset="0"/>
                          <a:ea typeface="Calibri" pitchFamily="34" charset="-122"/>
                          <a:cs typeface="Calibri" pitchFamily="34" charset="-120"/>
                        </a:rPr>
                        <a:t>+0.466</a:t>
                      </a:r>
                      <a:endParaRPr lang="en-US" sz="1150">
                        <a:latin typeface="Calibri" charset="0"/>
                        <a:ea typeface="Calibri" charset="0"/>
                        <a:cs typeface="Calibri" charset="0"/>
                      </a:endParaRPr>
                    </a:p>
                  </a:txBody>
                  <a:tcPr marL="109728" marR="10972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tcPr>
                </a:tc>
                <a:extLst>
                  <a:ext uri="{0D108BD9-81ED-4DB2-BD59-A6C34878D82A}">
                    <a16:rowId xmlns:a16="http://schemas.microsoft.com/office/drawing/2014/main" val="10001"/>
                  </a:ext>
                </a:extLst>
              </a:tr>
              <a:tr h="365760">
                <a:tc>
                  <a:txBody>
                    <a:bodyPr/>
                    <a:lstStyle/>
                    <a:p>
                      <a:pPr marL="0" indent="0">
                        <a:buNone/>
                      </a:pPr>
                      <a:r>
                        <a:rPr lang="en-US" sz="1150">
                          <a:solidFill>
                            <a:srgbClr val="1B2B3A"/>
                          </a:solidFill>
                          <a:latin typeface="Calibri" pitchFamily="34" charset="0"/>
                          <a:ea typeface="Calibri" pitchFamily="34" charset="-122"/>
                          <a:cs typeface="Calibri" pitchFamily="34" charset="-120"/>
                        </a:rPr>
                        <a:t>Seasonal naive (28d)</a:t>
                      </a:r>
                      <a:endParaRPr lang="en-US" sz="1150">
                        <a:latin typeface="Calibri" charset="0"/>
                        <a:ea typeface="Calibri" charset="0"/>
                        <a:cs typeface="Calibri" charset="0"/>
                      </a:endParaRPr>
                    </a:p>
                  </a:txBody>
                  <a:tcPr marL="109728" marR="10972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tcPr>
                </a:tc>
                <a:tc>
                  <a:txBody>
                    <a:bodyPr/>
                    <a:lstStyle/>
                    <a:p>
                      <a:pPr marL="0" indent="0" algn="ctr">
                        <a:buNone/>
                      </a:pPr>
                      <a:r>
                        <a:rPr lang="en-US" sz="1150">
                          <a:solidFill>
                            <a:srgbClr val="1B2B3A"/>
                          </a:solidFill>
                          <a:latin typeface="Calibri" pitchFamily="34" charset="0"/>
                          <a:ea typeface="Calibri" pitchFamily="34" charset="-122"/>
                          <a:cs typeface="Calibri" pitchFamily="34" charset="-120"/>
                        </a:rPr>
                        <a:t>3.3399</a:t>
                      </a:r>
                      <a:endParaRPr lang="en-US" sz="1150">
                        <a:latin typeface="Calibri" charset="0"/>
                        <a:ea typeface="Calibri" charset="0"/>
                        <a:cs typeface="Calibri" charset="0"/>
                      </a:endParaRPr>
                    </a:p>
                  </a:txBody>
                  <a:tcPr marL="109728" marR="10972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tcPr>
                </a:tc>
                <a:tc>
                  <a:txBody>
                    <a:bodyPr/>
                    <a:lstStyle/>
                    <a:p>
                      <a:pPr marL="0" indent="0" algn="ctr">
                        <a:buNone/>
                      </a:pPr>
                      <a:r>
                        <a:rPr lang="en-US" sz="1150">
                          <a:solidFill>
                            <a:srgbClr val="1B2B3A"/>
                          </a:solidFill>
                          <a:latin typeface="Calibri" pitchFamily="34" charset="0"/>
                          <a:ea typeface="Calibri" pitchFamily="34" charset="-122"/>
                          <a:cs typeface="Calibri" pitchFamily="34" charset="-120"/>
                        </a:rPr>
                        <a:t>1.7487</a:t>
                      </a:r>
                      <a:endParaRPr lang="en-US" sz="1150">
                        <a:latin typeface="Calibri" charset="0"/>
                        <a:ea typeface="Calibri" charset="0"/>
                        <a:cs typeface="Calibri" charset="0"/>
                      </a:endParaRPr>
                    </a:p>
                  </a:txBody>
                  <a:tcPr marL="109728" marR="10972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tcPr>
                </a:tc>
                <a:tc>
                  <a:txBody>
                    <a:bodyPr/>
                    <a:lstStyle/>
                    <a:p>
                      <a:pPr marL="0" indent="0" algn="ctr">
                        <a:buNone/>
                      </a:pPr>
                      <a:r>
                        <a:rPr lang="en-US" sz="1150">
                          <a:solidFill>
                            <a:srgbClr val="1B2B3A"/>
                          </a:solidFill>
                          <a:latin typeface="Calibri" pitchFamily="34" charset="0"/>
                          <a:ea typeface="Calibri" pitchFamily="34" charset="-122"/>
                          <a:cs typeface="Calibri" pitchFamily="34" charset="-120"/>
                        </a:rPr>
                        <a:t>-0.0855</a:t>
                      </a:r>
                      <a:endParaRPr lang="en-US" sz="1150">
                        <a:latin typeface="Calibri" charset="0"/>
                        <a:ea typeface="Calibri" charset="0"/>
                        <a:cs typeface="Calibri" charset="0"/>
                      </a:endParaRPr>
                    </a:p>
                  </a:txBody>
                  <a:tcPr marL="109728" marR="10972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tcPr>
                </a:tc>
                <a:extLst>
                  <a:ext uri="{0D108BD9-81ED-4DB2-BD59-A6C34878D82A}">
                    <a16:rowId xmlns:a16="http://schemas.microsoft.com/office/drawing/2014/main" val="10002"/>
                  </a:ext>
                </a:extLst>
              </a:tr>
              <a:tr h="365760">
                <a:tc>
                  <a:txBody>
                    <a:bodyPr/>
                    <a:lstStyle/>
                    <a:p>
                      <a:pPr marL="0" indent="0">
                        <a:buNone/>
                      </a:pPr>
                      <a:r>
                        <a:rPr lang="en-US" sz="1150">
                          <a:solidFill>
                            <a:srgbClr val="1B2B3A"/>
                          </a:solidFill>
                          <a:latin typeface="Calibri" pitchFamily="34" charset="0"/>
                          <a:ea typeface="Calibri" pitchFamily="34" charset="-122"/>
                          <a:cs typeface="Calibri" pitchFamily="34" charset="-120"/>
                        </a:rPr>
                        <a:t>Weekday mean</a:t>
                      </a:r>
                      <a:endParaRPr lang="en-US" sz="1150">
                        <a:latin typeface="Calibri" charset="0"/>
                        <a:ea typeface="Calibri" charset="0"/>
                        <a:cs typeface="Calibri" charset="0"/>
                      </a:endParaRPr>
                    </a:p>
                  </a:txBody>
                  <a:tcPr marL="109728" marR="10972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tcPr>
                </a:tc>
                <a:tc>
                  <a:txBody>
                    <a:bodyPr/>
                    <a:lstStyle/>
                    <a:p>
                      <a:pPr marL="0" indent="0" algn="ctr">
                        <a:buNone/>
                      </a:pPr>
                      <a:r>
                        <a:rPr lang="en-US" sz="1150">
                          <a:solidFill>
                            <a:srgbClr val="1B2B3A"/>
                          </a:solidFill>
                          <a:latin typeface="Calibri" pitchFamily="34" charset="0"/>
                          <a:ea typeface="Calibri" pitchFamily="34" charset="-122"/>
                          <a:cs typeface="Calibri" pitchFamily="34" charset="-120"/>
                        </a:rPr>
                        <a:t>3.1034</a:t>
                      </a:r>
                      <a:endParaRPr lang="en-US" sz="1150">
                        <a:latin typeface="Calibri" charset="0"/>
                        <a:ea typeface="Calibri" charset="0"/>
                        <a:cs typeface="Calibri" charset="0"/>
                      </a:endParaRPr>
                    </a:p>
                  </a:txBody>
                  <a:tcPr marL="109728" marR="10972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tcPr>
                </a:tc>
                <a:tc>
                  <a:txBody>
                    <a:bodyPr/>
                    <a:lstStyle/>
                    <a:p>
                      <a:pPr marL="0" indent="0" algn="ctr">
                        <a:buNone/>
                      </a:pPr>
                      <a:r>
                        <a:rPr lang="en-US" sz="1150">
                          <a:solidFill>
                            <a:srgbClr val="1B2B3A"/>
                          </a:solidFill>
                          <a:latin typeface="Calibri" pitchFamily="34" charset="0"/>
                          <a:ea typeface="Calibri" pitchFamily="34" charset="-122"/>
                          <a:cs typeface="Calibri" pitchFamily="34" charset="-120"/>
                        </a:rPr>
                        <a:t>1.5828</a:t>
                      </a:r>
                      <a:endParaRPr lang="en-US" sz="1150">
                        <a:latin typeface="Calibri" charset="0"/>
                        <a:ea typeface="Calibri" charset="0"/>
                        <a:cs typeface="Calibri" charset="0"/>
                      </a:endParaRPr>
                    </a:p>
                  </a:txBody>
                  <a:tcPr marL="109728" marR="10972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tcPr>
                </a:tc>
                <a:tc>
                  <a:txBody>
                    <a:bodyPr/>
                    <a:lstStyle/>
                    <a:p>
                      <a:pPr marL="0" indent="0" algn="ctr">
                        <a:buNone/>
                      </a:pPr>
                      <a:r>
                        <a:rPr lang="en-US" sz="1150">
                          <a:solidFill>
                            <a:srgbClr val="1B2B3A"/>
                          </a:solidFill>
                          <a:latin typeface="Calibri" pitchFamily="34" charset="0"/>
                          <a:ea typeface="Calibri" pitchFamily="34" charset="-122"/>
                          <a:cs typeface="Calibri" pitchFamily="34" charset="-120"/>
                        </a:rPr>
                        <a:t>-0.3644</a:t>
                      </a:r>
                      <a:endParaRPr lang="en-US" sz="1150">
                        <a:latin typeface="Calibri" charset="0"/>
                        <a:ea typeface="Calibri" charset="0"/>
                        <a:cs typeface="Calibri" charset="0"/>
                      </a:endParaRPr>
                    </a:p>
                  </a:txBody>
                  <a:tcPr marL="109728" marR="10972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tcPr>
                </a:tc>
                <a:extLst>
                  <a:ext uri="{0D108BD9-81ED-4DB2-BD59-A6C34878D82A}">
                    <a16:rowId xmlns:a16="http://schemas.microsoft.com/office/drawing/2014/main" val="10003"/>
                  </a:ext>
                </a:extLst>
              </a:tr>
              <a:tr h="365760">
                <a:tc>
                  <a:txBody>
                    <a:bodyPr/>
                    <a:lstStyle/>
                    <a:p>
                      <a:pPr marL="0" indent="0">
                        <a:buNone/>
                      </a:pPr>
                      <a:r>
                        <a:rPr lang="en-US" sz="1150" b="1">
                          <a:solidFill>
                            <a:srgbClr val="3D8A5F"/>
                          </a:solidFill>
                          <a:latin typeface="Calibri" pitchFamily="34" charset="0"/>
                          <a:ea typeface="Calibri" pitchFamily="34" charset="-122"/>
                          <a:cs typeface="Calibri" pitchFamily="34" charset="-120"/>
                        </a:rPr>
                        <a:t>Gradient boosting</a:t>
                      </a:r>
                      <a:endParaRPr lang="en-US" sz="1150">
                        <a:latin typeface="Calibri" charset="0"/>
                        <a:ea typeface="Calibri" charset="0"/>
                        <a:cs typeface="Calibri" charset="0"/>
                      </a:endParaRPr>
                    </a:p>
                  </a:txBody>
                  <a:tcPr marL="109728" marR="10972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EAF3EC"/>
                    </a:solidFill>
                  </a:tcPr>
                </a:tc>
                <a:tc>
                  <a:txBody>
                    <a:bodyPr/>
                    <a:lstStyle/>
                    <a:p>
                      <a:pPr marL="0" indent="0" algn="ctr">
                        <a:buNone/>
                      </a:pPr>
                      <a:r>
                        <a:rPr lang="en-US" sz="1150" b="1">
                          <a:solidFill>
                            <a:srgbClr val="3D8A5F"/>
                          </a:solidFill>
                          <a:latin typeface="Calibri" pitchFamily="34" charset="0"/>
                          <a:ea typeface="Calibri" pitchFamily="34" charset="-122"/>
                          <a:cs typeface="Calibri" pitchFamily="34" charset="-120"/>
                        </a:rPr>
                        <a:t>2.6635</a:t>
                      </a:r>
                      <a:endParaRPr lang="en-US" sz="1150">
                        <a:latin typeface="Calibri" charset="0"/>
                        <a:ea typeface="Calibri" charset="0"/>
                        <a:cs typeface="Calibri" charset="0"/>
                      </a:endParaRPr>
                    </a:p>
                  </a:txBody>
                  <a:tcPr marL="109728" marR="10972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EAF3EC"/>
                    </a:solidFill>
                  </a:tcPr>
                </a:tc>
                <a:tc>
                  <a:txBody>
                    <a:bodyPr/>
                    <a:lstStyle/>
                    <a:p>
                      <a:pPr marL="0" indent="0" algn="ctr">
                        <a:buNone/>
                      </a:pPr>
                      <a:r>
                        <a:rPr lang="en-US" sz="1150" b="1">
                          <a:solidFill>
                            <a:srgbClr val="3D8A5F"/>
                          </a:solidFill>
                          <a:latin typeface="Calibri" pitchFamily="34" charset="0"/>
                          <a:ea typeface="Calibri" pitchFamily="34" charset="-122"/>
                          <a:cs typeface="Calibri" pitchFamily="34" charset="-120"/>
                        </a:rPr>
                        <a:t>1.4674</a:t>
                      </a:r>
                      <a:endParaRPr lang="en-US" sz="1150">
                        <a:latin typeface="Calibri" charset="0"/>
                        <a:ea typeface="Calibri" charset="0"/>
                        <a:cs typeface="Calibri" charset="0"/>
                      </a:endParaRPr>
                    </a:p>
                  </a:txBody>
                  <a:tcPr marL="109728" marR="10972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EAF3EC"/>
                    </a:solidFill>
                  </a:tcPr>
                </a:tc>
                <a:tc>
                  <a:txBody>
                    <a:bodyPr/>
                    <a:lstStyle/>
                    <a:p>
                      <a:pPr marL="0" indent="0" algn="ctr">
                        <a:buNone/>
                      </a:pPr>
                      <a:r>
                        <a:rPr lang="en-US" sz="1150" b="1">
                          <a:solidFill>
                            <a:srgbClr val="3D8A5F"/>
                          </a:solidFill>
                          <a:latin typeface="Calibri" pitchFamily="34" charset="0"/>
                          <a:ea typeface="Calibri" pitchFamily="34" charset="-122"/>
                          <a:cs typeface="Calibri" pitchFamily="34" charset="-120"/>
                        </a:rPr>
                        <a:t>-0.0634</a:t>
                      </a:r>
                      <a:endParaRPr lang="en-US" sz="1150">
                        <a:latin typeface="Calibri" charset="0"/>
                        <a:ea typeface="Calibri" charset="0"/>
                        <a:cs typeface="Calibri" charset="0"/>
                      </a:endParaRPr>
                    </a:p>
                  </a:txBody>
                  <a:tcPr marL="109728" marR="10972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EAF3EC"/>
                    </a:solidFill>
                  </a:tcPr>
                </a:tc>
                <a:extLst>
                  <a:ext uri="{0D108BD9-81ED-4DB2-BD59-A6C34878D82A}">
                    <a16:rowId xmlns:a16="http://schemas.microsoft.com/office/drawing/2014/main" val="10004"/>
                  </a:ext>
                </a:extLst>
              </a:tr>
            </a:tbl>
          </a:graphicData>
        </a:graphic>
      </p:graphicFrame>
      <p:sp>
        <p:nvSpPr>
          <p:cNvPr id="7" name="Text 4"/>
          <p:cNvSpPr/>
          <p:nvPr/>
        </p:nvSpPr>
        <p:spPr>
          <a:xfrm>
            <a:off x="502920" y="3108960"/>
            <a:ext cx="5440680" cy="219456"/>
          </a:xfrm>
          <a:prstGeom prst="rect">
            <a:avLst/>
          </a:prstGeom>
          <a:noFill/>
          <a:ln/>
        </p:spPr>
        <p:txBody>
          <a:bodyPr wrap="square" lIns="0" tIns="0" rIns="0" bIns="0" rtlCol="0" anchor="ctr"/>
          <a:lstStyle/>
          <a:p>
            <a:pPr marL="0" indent="0">
              <a:buNone/>
            </a:pPr>
            <a:r>
              <a:rPr lang="en-US" sz="900" i="1">
                <a:solidFill>
                  <a:srgbClr val="5A6B7C"/>
                </a:solidFill>
                <a:latin typeface="Calibri" pitchFamily="34" charset="0"/>
                <a:ea typeface="Calibri" pitchFamily="34" charset="-122"/>
                <a:cs typeface="Calibri" pitchFamily="34" charset="-120"/>
              </a:rPr>
              <a:t>Scored on the same 28-day holdout · FOODS in California · lower is better</a:t>
            </a:r>
            <a:endParaRPr lang="en-US" sz="900"/>
          </a:p>
        </p:txBody>
      </p:sp>
      <p:sp>
        <p:nvSpPr>
          <p:cNvPr id="8" name="Shape 5"/>
          <p:cNvSpPr/>
          <p:nvPr/>
        </p:nvSpPr>
        <p:spPr>
          <a:xfrm>
            <a:off x="6172200" y="1207008"/>
            <a:ext cx="2468880" cy="1207008"/>
          </a:xfrm>
          <a:prstGeom prst="roundRect">
            <a:avLst>
              <a:gd name="adj" fmla="val 4545"/>
            </a:avLst>
          </a:prstGeom>
          <a:solidFill>
            <a:srgbClr val="0F2942"/>
          </a:solidFill>
          <a:ln w="12700">
            <a:solidFill>
              <a:srgbClr val="0F2942"/>
            </a:solidFill>
            <a:prstDash val="solid"/>
          </a:ln>
        </p:spPr>
        <p:txBody>
          <a:bodyPr/>
          <a:lstStyle/>
          <a:p>
            <a:endParaRPr lang="en-US"/>
          </a:p>
        </p:txBody>
      </p:sp>
      <p:sp>
        <p:nvSpPr>
          <p:cNvPr id="9" name="Text 6"/>
          <p:cNvSpPr/>
          <p:nvPr/>
        </p:nvSpPr>
        <p:spPr>
          <a:xfrm>
            <a:off x="6172200" y="1335024"/>
            <a:ext cx="2468880" cy="566928"/>
          </a:xfrm>
          <a:prstGeom prst="rect">
            <a:avLst/>
          </a:prstGeom>
          <a:noFill/>
          <a:ln/>
        </p:spPr>
        <p:txBody>
          <a:bodyPr wrap="square" lIns="0" tIns="0" rIns="0" bIns="0" rtlCol="0" anchor="ctr"/>
          <a:lstStyle/>
          <a:p>
            <a:pPr marL="0" indent="0" algn="ctr">
              <a:buNone/>
            </a:pPr>
            <a:r>
              <a:rPr lang="en-US" sz="3600" b="1">
                <a:solidFill>
                  <a:srgbClr val="FFFFFF"/>
                </a:solidFill>
                <a:latin typeface="Cambria" pitchFamily="34" charset="0"/>
                <a:ea typeface="Cambria" pitchFamily="34" charset="-122"/>
                <a:cs typeface="Cambria" pitchFamily="34" charset="-120"/>
              </a:rPr>
              <a:t>20.3%</a:t>
            </a:r>
            <a:endParaRPr lang="en-US" sz="3600"/>
          </a:p>
        </p:txBody>
      </p:sp>
      <p:sp>
        <p:nvSpPr>
          <p:cNvPr id="10" name="Text 7"/>
          <p:cNvSpPr/>
          <p:nvPr/>
        </p:nvSpPr>
        <p:spPr>
          <a:xfrm>
            <a:off x="6172200" y="1883664"/>
            <a:ext cx="2468880" cy="457200"/>
          </a:xfrm>
          <a:prstGeom prst="rect">
            <a:avLst/>
          </a:prstGeom>
          <a:noFill/>
          <a:ln/>
        </p:spPr>
        <p:txBody>
          <a:bodyPr wrap="square" lIns="0" tIns="0" rIns="0" bIns="0" rtlCol="0" anchor="ctr"/>
          <a:lstStyle/>
          <a:p>
            <a:pPr marL="0" indent="0" algn="ctr">
              <a:buNone/>
            </a:pPr>
            <a:r>
              <a:rPr lang="en-US" sz="1000">
                <a:solidFill>
                  <a:srgbClr val="9FC4DC"/>
                </a:solidFill>
                <a:latin typeface="Calibri" pitchFamily="34" charset="0"/>
                <a:ea typeface="Calibri" pitchFamily="34" charset="-122"/>
                <a:cs typeface="Calibri" pitchFamily="34" charset="-120"/>
              </a:rPr>
              <a:t>lower RMSE than the</a:t>
            </a:r>
            <a:endParaRPr lang="en-US" sz="1000"/>
          </a:p>
          <a:p>
            <a:pPr marL="0" indent="0" algn="ctr">
              <a:buNone/>
            </a:pPr>
            <a:r>
              <a:rPr lang="en-US" sz="1000">
                <a:solidFill>
                  <a:srgbClr val="9FC4DC"/>
                </a:solidFill>
                <a:latin typeface="Calibri" pitchFamily="34" charset="0"/>
                <a:ea typeface="Calibri" pitchFamily="34" charset="-122"/>
                <a:cs typeface="Calibri" pitchFamily="34" charset="-120"/>
              </a:rPr>
              <a:t>seasonal naive baseline</a:t>
            </a:r>
            <a:endParaRPr lang="en-US" sz="1000"/>
          </a:p>
        </p:txBody>
      </p:sp>
      <p:sp>
        <p:nvSpPr>
          <p:cNvPr id="11" name="Shape 8"/>
          <p:cNvSpPr/>
          <p:nvPr/>
        </p:nvSpPr>
        <p:spPr>
          <a:xfrm>
            <a:off x="6172200" y="2542032"/>
            <a:ext cx="2468880" cy="786384"/>
          </a:xfrm>
          <a:prstGeom prst="roundRect">
            <a:avLst>
              <a:gd name="adj" fmla="val 6977"/>
            </a:avLst>
          </a:prstGeom>
          <a:solidFill>
            <a:srgbClr val="F4F7FA"/>
          </a:solidFill>
          <a:ln w="9525">
            <a:solidFill>
              <a:srgbClr val="D9E2EA"/>
            </a:solidFill>
            <a:prstDash val="solid"/>
          </a:ln>
        </p:spPr>
        <p:txBody>
          <a:bodyPr/>
          <a:lstStyle/>
          <a:p>
            <a:endParaRPr lang="en-US"/>
          </a:p>
        </p:txBody>
      </p:sp>
      <p:sp>
        <p:nvSpPr>
          <p:cNvPr id="12" name="Text 9"/>
          <p:cNvSpPr/>
          <p:nvPr/>
        </p:nvSpPr>
        <p:spPr>
          <a:xfrm>
            <a:off x="6382512" y="2651760"/>
            <a:ext cx="2084832" cy="603504"/>
          </a:xfrm>
          <a:prstGeom prst="rect">
            <a:avLst/>
          </a:prstGeom>
          <a:noFill/>
          <a:ln/>
        </p:spPr>
        <p:txBody>
          <a:bodyPr wrap="square" lIns="0" tIns="0" rIns="0" bIns="0" rtlCol="0" anchor="ctr"/>
          <a:lstStyle/>
          <a:p>
            <a:pPr marL="0" indent="0">
              <a:buNone/>
            </a:pPr>
            <a:r>
              <a:rPr lang="en-US" sz="1050">
                <a:solidFill>
                  <a:srgbClr val="1B2B3A"/>
                </a:solidFill>
                <a:latin typeface="Calibri" pitchFamily="34" charset="0"/>
                <a:ea typeface="Calibri" pitchFamily="34" charset="-122"/>
                <a:cs typeface="Calibri" pitchFamily="34" charset="-120"/>
              </a:rPr>
              <a:t>Also best on MAE, 16.1% better, and the smallest bias of the four.</a:t>
            </a:r>
            <a:endParaRPr lang="en-US" sz="1050"/>
          </a:p>
        </p:txBody>
      </p:sp>
      <p:sp>
        <p:nvSpPr>
          <p:cNvPr id="6" name="Shape 10"/>
          <p:cNvSpPr/>
          <p:nvPr/>
        </p:nvSpPr>
        <p:spPr>
          <a:xfrm>
            <a:off x="502920" y="3456432"/>
            <a:ext cx="3977640" cy="1051560"/>
          </a:xfrm>
          <a:prstGeom prst="roundRect">
            <a:avLst>
              <a:gd name="adj" fmla="val 5217"/>
            </a:avLst>
          </a:prstGeom>
          <a:solidFill>
            <a:srgbClr val="FDF4E6"/>
          </a:solidFill>
          <a:ln w="12700">
            <a:solidFill>
              <a:srgbClr val="E8A33D"/>
            </a:solidFill>
            <a:prstDash val="solid"/>
          </a:ln>
        </p:spPr>
        <p:txBody>
          <a:bodyPr/>
          <a:lstStyle/>
          <a:p>
            <a:endParaRPr lang="en-US"/>
          </a:p>
        </p:txBody>
      </p:sp>
      <p:sp>
        <p:nvSpPr>
          <p:cNvPr id="14" name="Text 11"/>
          <p:cNvSpPr/>
          <p:nvPr/>
        </p:nvSpPr>
        <p:spPr>
          <a:xfrm>
            <a:off x="731520" y="3566160"/>
            <a:ext cx="3566160" cy="219456"/>
          </a:xfrm>
          <a:prstGeom prst="rect">
            <a:avLst/>
          </a:prstGeom>
          <a:noFill/>
          <a:ln/>
        </p:spPr>
        <p:txBody>
          <a:bodyPr wrap="square" lIns="0" tIns="0" rIns="0" bIns="0" rtlCol="0" anchor="ctr"/>
          <a:lstStyle/>
          <a:p>
            <a:pPr marL="0" indent="0">
              <a:buNone/>
            </a:pPr>
            <a:r>
              <a:rPr lang="en-US" sz="1150" b="1">
                <a:solidFill>
                  <a:srgbClr val="0F2942"/>
                </a:solidFill>
                <a:latin typeface="Calibri" pitchFamily="34" charset="0"/>
                <a:ea typeface="Calibri" pitchFamily="34" charset="-122"/>
                <a:cs typeface="Calibri" pitchFamily="34" charset="-120"/>
              </a:rPr>
              <a:t>Why we report bias</a:t>
            </a:r>
            <a:endParaRPr lang="en-US" sz="1150"/>
          </a:p>
        </p:txBody>
      </p:sp>
      <p:sp>
        <p:nvSpPr>
          <p:cNvPr id="15" name="Text 12"/>
          <p:cNvSpPr/>
          <p:nvPr/>
        </p:nvSpPr>
        <p:spPr>
          <a:xfrm>
            <a:off x="731520" y="3803904"/>
            <a:ext cx="3566160" cy="640080"/>
          </a:xfrm>
          <a:prstGeom prst="rect">
            <a:avLst/>
          </a:prstGeom>
          <a:noFill/>
          <a:ln/>
        </p:spPr>
        <p:txBody>
          <a:bodyPr wrap="square" lIns="0" tIns="0" rIns="0" bIns="0" rtlCol="0" anchor="ctr"/>
          <a:lstStyle/>
          <a:p>
            <a:pPr marL="0" indent="0">
              <a:buNone/>
            </a:pPr>
            <a:r>
              <a:rPr lang="en-US" sz="1000">
                <a:solidFill>
                  <a:srgbClr val="1B2B3A"/>
                </a:solidFill>
                <a:latin typeface="Calibri" pitchFamily="34" charset="0"/>
                <a:ea typeface="Calibri" pitchFamily="34" charset="-122"/>
                <a:cs typeface="Calibri" pitchFamily="34" charset="-120"/>
              </a:rPr>
              <a:t>The weekday mean has the second best RMSE but under-forecasts by 0.36 units per item-day. For a manager more worried about stockouts, that makes it worse than its RMSE position suggests.</a:t>
            </a:r>
            <a:endParaRPr lang="en-US" sz="1000"/>
          </a:p>
        </p:txBody>
      </p:sp>
      <p:sp>
        <p:nvSpPr>
          <p:cNvPr id="16" name="Shape 13"/>
          <p:cNvSpPr/>
          <p:nvPr/>
        </p:nvSpPr>
        <p:spPr>
          <a:xfrm>
            <a:off x="4663440" y="3456432"/>
            <a:ext cx="3977640" cy="1051560"/>
          </a:xfrm>
          <a:prstGeom prst="roundRect">
            <a:avLst>
              <a:gd name="adj" fmla="val 5217"/>
            </a:avLst>
          </a:prstGeom>
          <a:solidFill>
            <a:srgbClr val="F4F7FA"/>
          </a:solidFill>
          <a:ln w="9525">
            <a:solidFill>
              <a:srgbClr val="D9E2EA"/>
            </a:solidFill>
            <a:prstDash val="solid"/>
          </a:ln>
        </p:spPr>
        <p:txBody>
          <a:bodyPr/>
          <a:lstStyle/>
          <a:p>
            <a:endParaRPr lang="en-US"/>
          </a:p>
        </p:txBody>
      </p:sp>
      <p:sp>
        <p:nvSpPr>
          <p:cNvPr id="17" name="Text 14"/>
          <p:cNvSpPr/>
          <p:nvPr/>
        </p:nvSpPr>
        <p:spPr>
          <a:xfrm>
            <a:off x="4892040" y="3566160"/>
            <a:ext cx="3566160" cy="219456"/>
          </a:xfrm>
          <a:prstGeom prst="rect">
            <a:avLst/>
          </a:prstGeom>
          <a:noFill/>
          <a:ln/>
        </p:spPr>
        <p:txBody>
          <a:bodyPr wrap="square" lIns="0" tIns="0" rIns="0" bIns="0" rtlCol="0" anchor="ctr"/>
          <a:lstStyle/>
          <a:p>
            <a:pPr marL="0" indent="0">
              <a:buNone/>
            </a:pPr>
            <a:r>
              <a:rPr lang="en-US" sz="1150" b="1">
                <a:solidFill>
                  <a:srgbClr val="0F2942"/>
                </a:solidFill>
                <a:latin typeface="Calibri" pitchFamily="34" charset="0"/>
                <a:ea typeface="Calibri" pitchFamily="34" charset="-122"/>
                <a:cs typeface="Calibri" pitchFamily="34" charset="-120"/>
              </a:rPr>
              <a:t>Consistent with M5</a:t>
            </a:r>
            <a:endParaRPr lang="en-US" sz="1150"/>
          </a:p>
        </p:txBody>
      </p:sp>
      <p:sp>
        <p:nvSpPr>
          <p:cNvPr id="18" name="Text 15"/>
          <p:cNvSpPr/>
          <p:nvPr/>
        </p:nvSpPr>
        <p:spPr>
          <a:xfrm>
            <a:off x="4892040" y="3803904"/>
            <a:ext cx="3566160" cy="640080"/>
          </a:xfrm>
          <a:prstGeom prst="rect">
            <a:avLst/>
          </a:prstGeom>
          <a:noFill/>
          <a:ln/>
        </p:spPr>
        <p:txBody>
          <a:bodyPr wrap="square" lIns="0" tIns="0" rIns="0" bIns="0" rtlCol="0" anchor="ctr"/>
          <a:lstStyle/>
          <a:p>
            <a:pPr marL="0" indent="0">
              <a:buNone/>
            </a:pPr>
            <a:r>
              <a:rPr lang="en-US" sz="1000">
                <a:solidFill>
                  <a:srgbClr val="1B2B3A"/>
                </a:solidFill>
                <a:latin typeface="Calibri" pitchFamily="34" charset="0"/>
                <a:ea typeface="Calibri" pitchFamily="34" charset="-122"/>
                <a:cs typeface="Calibri" pitchFamily="34" charset="-120"/>
              </a:rPr>
              <a:t>The competition winner also used gradient boosting, and the top five finishers beat the best statistical benchmark by more than 20%. Our 20.3% is in line with that.</a:t>
            </a:r>
            <a:endParaRPr lang="en-US" sz="1000"/>
          </a:p>
        </p:txBody>
      </p:sp>
      <p:sp>
        <p:nvSpPr>
          <p:cNvPr id="19" name="Text 16"/>
          <p:cNvSpPr/>
          <p:nvPr/>
        </p:nvSpPr>
        <p:spPr>
          <a:xfrm>
            <a:off x="502920" y="4718304"/>
            <a:ext cx="5486400" cy="228600"/>
          </a:xfrm>
          <a:prstGeom prst="rect">
            <a:avLst/>
          </a:prstGeom>
          <a:noFill/>
          <a:ln/>
        </p:spPr>
        <p:txBody>
          <a:bodyPr wrap="square" lIns="0" tIns="0" rIns="0" bIns="0" rtlCol="0" anchor="ctr"/>
          <a:lstStyle/>
          <a:p>
            <a:pPr marL="0" indent="0">
              <a:buNone/>
            </a:pPr>
            <a:r>
              <a:rPr lang="en-US" sz="850">
                <a:solidFill>
                  <a:srgbClr val="9AABB8"/>
                </a:solidFill>
                <a:latin typeface="Calibri" pitchFamily="34" charset="0"/>
                <a:ea typeface="Calibri" pitchFamily="34" charset="-122"/>
                <a:cs typeface="Calibri" pitchFamily="34" charset="-120"/>
              </a:rPr>
              <a:t>Group 5  ·  M5 Demand Forecasting on AWS</a:t>
            </a:r>
            <a:endParaRPr lang="en-US" sz="850"/>
          </a:p>
        </p:txBody>
      </p:sp>
      <p:sp>
        <p:nvSpPr>
          <p:cNvPr id="20" name="Text 17"/>
          <p:cNvSpPr/>
          <p:nvPr/>
        </p:nvSpPr>
        <p:spPr>
          <a:xfrm>
            <a:off x="8229600" y="4718304"/>
            <a:ext cx="411480" cy="228600"/>
          </a:xfrm>
          <a:prstGeom prst="rect">
            <a:avLst/>
          </a:prstGeom>
          <a:noFill/>
          <a:ln/>
        </p:spPr>
        <p:txBody>
          <a:bodyPr wrap="square" lIns="0" tIns="0" rIns="0" bIns="0" rtlCol="0" anchor="ctr"/>
          <a:lstStyle/>
          <a:p>
            <a:pPr marL="0" indent="0" algn="r">
              <a:buNone/>
            </a:pPr>
            <a:r>
              <a:rPr lang="en-US" sz="850">
                <a:solidFill>
                  <a:srgbClr val="9AABB8"/>
                </a:solidFill>
                <a:latin typeface="Calibri" pitchFamily="34" charset="0"/>
                <a:ea typeface="Calibri" pitchFamily="34" charset="-122"/>
                <a:cs typeface="Calibri" pitchFamily="34" charset="-120"/>
              </a:rPr>
              <a:t>12</a:t>
            </a:r>
            <a:endParaRPr lang="en-US" sz="85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02920" y="292608"/>
            <a:ext cx="8138160" cy="219456"/>
          </a:xfrm>
          <a:prstGeom prst="rect">
            <a:avLst/>
          </a:prstGeom>
          <a:noFill/>
          <a:ln/>
        </p:spPr>
        <p:txBody>
          <a:bodyPr wrap="square" lIns="0" tIns="0" rIns="0" bIns="0" rtlCol="0" anchor="ctr"/>
          <a:lstStyle/>
          <a:p>
            <a:pPr marL="0" indent="0">
              <a:buNone/>
            </a:pPr>
            <a:r>
              <a:rPr lang="en-US" sz="1100" b="1" kern="0" spc="160">
                <a:solidFill>
                  <a:srgbClr val="2E86AB"/>
                </a:solidFill>
                <a:latin typeface="Calibri" pitchFamily="34" charset="0"/>
                <a:ea typeface="Calibri" pitchFamily="34" charset="-122"/>
                <a:cs typeface="Calibri" pitchFamily="34" charset="-120"/>
              </a:rPr>
              <a:t>OUTPUT LAYER</a:t>
            </a:r>
            <a:endParaRPr lang="en-US" sz="1100"/>
          </a:p>
        </p:txBody>
      </p:sp>
      <p:sp>
        <p:nvSpPr>
          <p:cNvPr id="3" name="Text 1"/>
          <p:cNvSpPr/>
          <p:nvPr/>
        </p:nvSpPr>
        <p:spPr>
          <a:xfrm>
            <a:off x="502920" y="530352"/>
            <a:ext cx="8138160" cy="502920"/>
          </a:xfrm>
          <a:prstGeom prst="rect">
            <a:avLst/>
          </a:prstGeom>
          <a:noFill/>
          <a:ln/>
        </p:spPr>
        <p:txBody>
          <a:bodyPr wrap="square" lIns="0" tIns="0" rIns="0" bIns="0" rtlCol="0" anchor="ctr"/>
          <a:lstStyle/>
          <a:p>
            <a:pPr marL="0" indent="0">
              <a:buNone/>
            </a:pPr>
            <a:r>
              <a:rPr lang="en-US" sz="2800" b="1">
                <a:solidFill>
                  <a:srgbClr val="0F2942"/>
                </a:solidFill>
                <a:latin typeface="Cambria" pitchFamily="34" charset="0"/>
                <a:ea typeface="Cambria" pitchFamily="34" charset="-122"/>
                <a:cs typeface="Cambria" pitchFamily="34" charset="-120"/>
              </a:rPr>
              <a:t>The QuickSight dashboard</a:t>
            </a:r>
            <a:endParaRPr lang="en-US" sz="2800"/>
          </a:p>
        </p:txBody>
      </p:sp>
      <p:sp>
        <p:nvSpPr>
          <p:cNvPr id="4" name="Shape 2"/>
          <p:cNvSpPr/>
          <p:nvPr/>
        </p:nvSpPr>
        <p:spPr>
          <a:xfrm>
            <a:off x="7882128" y="274320"/>
            <a:ext cx="804672" cy="256032"/>
          </a:xfrm>
          <a:prstGeom prst="roundRect">
            <a:avLst>
              <a:gd name="adj" fmla="val 50000"/>
            </a:avLst>
          </a:prstGeom>
          <a:solidFill>
            <a:srgbClr val="F4F7FA"/>
          </a:solidFill>
          <a:ln w="9525">
            <a:solidFill>
              <a:srgbClr val="D9E2EA"/>
            </a:solidFill>
            <a:prstDash val="solid"/>
          </a:ln>
        </p:spPr>
        <p:txBody>
          <a:bodyPr/>
          <a:lstStyle/>
          <a:p>
            <a:endParaRPr lang="en-US"/>
          </a:p>
        </p:txBody>
      </p:sp>
      <p:sp>
        <p:nvSpPr>
          <p:cNvPr id="5" name="Text 3"/>
          <p:cNvSpPr/>
          <p:nvPr/>
        </p:nvSpPr>
        <p:spPr>
          <a:xfrm>
            <a:off x="7882128" y="274320"/>
            <a:ext cx="804672" cy="256032"/>
          </a:xfrm>
          <a:prstGeom prst="rect">
            <a:avLst/>
          </a:prstGeom>
          <a:noFill/>
          <a:ln/>
        </p:spPr>
        <p:txBody>
          <a:bodyPr wrap="square" lIns="0" tIns="0" rIns="0" bIns="0" rtlCol="0" anchor="ctr"/>
          <a:lstStyle/>
          <a:p>
            <a:pPr marL="0" indent="0" algn="ctr">
              <a:buNone/>
            </a:pPr>
            <a:r>
              <a:rPr lang="en-US" sz="950" b="1">
                <a:solidFill>
                  <a:srgbClr val="5A6B7C"/>
                </a:solidFill>
                <a:latin typeface="Calibri" pitchFamily="34" charset="0"/>
                <a:ea typeface="Calibri" pitchFamily="34" charset="-122"/>
                <a:cs typeface="Calibri" pitchFamily="34" charset="-120"/>
              </a:rPr>
              <a:t>ROSS</a:t>
            </a:r>
            <a:endParaRPr lang="en-US" sz="950"/>
          </a:p>
        </p:txBody>
      </p:sp>
      <p:sp>
        <p:nvSpPr>
          <p:cNvPr id="9" name="Text 7"/>
          <p:cNvSpPr/>
          <p:nvPr/>
        </p:nvSpPr>
        <p:spPr>
          <a:xfrm>
            <a:off x="6475702" y="1365180"/>
            <a:ext cx="2335612" cy="268142"/>
          </a:xfrm>
          <a:prstGeom prst="rect">
            <a:avLst/>
          </a:prstGeom>
          <a:noFill/>
          <a:ln/>
        </p:spPr>
        <p:txBody>
          <a:bodyPr wrap="square" lIns="0" tIns="0" rIns="0" bIns="0" rtlCol="0" anchor="ctr"/>
          <a:lstStyle/>
          <a:p>
            <a:pPr marL="0" indent="0">
              <a:buNone/>
            </a:pPr>
            <a:r>
              <a:rPr lang="en-US" sz="1200" b="1">
                <a:solidFill>
                  <a:srgbClr val="0F2942"/>
                </a:solidFill>
                <a:latin typeface="Calibri" pitchFamily="34" charset="0"/>
                <a:ea typeface="Calibri" pitchFamily="34" charset="-122"/>
                <a:cs typeface="Calibri" pitchFamily="34" charset="-120"/>
              </a:rPr>
              <a:t>Built on daily_sales_agg</a:t>
            </a:r>
            <a:endParaRPr lang="en-US" sz="1200"/>
          </a:p>
        </p:txBody>
      </p:sp>
      <p:sp>
        <p:nvSpPr>
          <p:cNvPr id="10" name="Text 8"/>
          <p:cNvSpPr/>
          <p:nvPr/>
        </p:nvSpPr>
        <p:spPr>
          <a:xfrm>
            <a:off x="6475702" y="1639500"/>
            <a:ext cx="2335612" cy="874516"/>
          </a:xfrm>
          <a:prstGeom prst="rect">
            <a:avLst/>
          </a:prstGeom>
          <a:noFill/>
          <a:ln/>
        </p:spPr>
        <p:txBody>
          <a:bodyPr wrap="square" lIns="0" tIns="0" rIns="0" bIns="0" rtlCol="0" anchor="ctr"/>
          <a:lstStyle/>
          <a:p>
            <a:pPr marL="0" indent="0">
              <a:buNone/>
            </a:pPr>
            <a:r>
              <a:rPr lang="en-US" sz="1050">
                <a:solidFill>
                  <a:srgbClr val="5A6B7C"/>
                </a:solidFill>
                <a:latin typeface="Calibri" pitchFamily="34" charset="0"/>
                <a:ea typeface="Calibri" pitchFamily="34" charset="-122"/>
                <a:cs typeface="Calibri" pitchFamily="34" charset="-120"/>
              </a:rPr>
              <a:t>135,870 rows at day, store and department grain, rather than the 59.2M-row fact table, which would rescan on every filter change.</a:t>
            </a:r>
            <a:endParaRPr lang="en-US" sz="1050"/>
          </a:p>
        </p:txBody>
      </p:sp>
      <p:sp>
        <p:nvSpPr>
          <p:cNvPr id="11" name="Text 9"/>
          <p:cNvSpPr/>
          <p:nvPr/>
        </p:nvSpPr>
        <p:spPr>
          <a:xfrm>
            <a:off x="6475702" y="2499036"/>
            <a:ext cx="2335612" cy="268142"/>
          </a:xfrm>
          <a:prstGeom prst="rect">
            <a:avLst/>
          </a:prstGeom>
          <a:noFill/>
          <a:ln/>
        </p:spPr>
        <p:txBody>
          <a:bodyPr wrap="square" lIns="0" tIns="0" rIns="0" bIns="0" rtlCol="0" anchor="ctr"/>
          <a:lstStyle/>
          <a:p>
            <a:pPr marL="0" indent="0">
              <a:buNone/>
            </a:pPr>
            <a:r>
              <a:rPr lang="en-US" sz="1200" b="1">
                <a:solidFill>
                  <a:srgbClr val="0F2942"/>
                </a:solidFill>
                <a:latin typeface="Calibri" pitchFamily="34" charset="0"/>
                <a:ea typeface="Calibri" pitchFamily="34" charset="-122"/>
                <a:cs typeface="Calibri" pitchFamily="34" charset="-120"/>
              </a:rPr>
              <a:t>How it gets used</a:t>
            </a:r>
            <a:endParaRPr lang="en-US" sz="1200"/>
          </a:p>
        </p:txBody>
      </p:sp>
      <p:sp>
        <p:nvSpPr>
          <p:cNvPr id="12" name="Text 10"/>
          <p:cNvSpPr/>
          <p:nvPr/>
        </p:nvSpPr>
        <p:spPr>
          <a:xfrm>
            <a:off x="6475702" y="2773356"/>
            <a:ext cx="2335612" cy="978116"/>
          </a:xfrm>
          <a:prstGeom prst="rect">
            <a:avLst/>
          </a:prstGeom>
          <a:noFill/>
          <a:ln/>
        </p:spPr>
        <p:txBody>
          <a:bodyPr wrap="square" lIns="0" tIns="0" rIns="0" bIns="0" rtlCol="0" anchor="ctr"/>
          <a:lstStyle/>
          <a:p>
            <a:pPr marL="0" indent="0">
              <a:buNone/>
            </a:pPr>
            <a:r>
              <a:rPr lang="en-US" sz="1050">
                <a:solidFill>
                  <a:srgbClr val="5A6B7C"/>
                </a:solidFill>
                <a:latin typeface="Calibri" pitchFamily="34" charset="0"/>
                <a:ea typeface="Calibri" pitchFamily="34" charset="-122"/>
                <a:cs typeface="Calibri" pitchFamily="34" charset="-120"/>
              </a:rPr>
              <a:t>Filter to a store and category, read the 28-day forecast total, compare against current stock, decide whether to order.</a:t>
            </a:r>
            <a:endParaRPr lang="en-US" sz="1050"/>
          </a:p>
        </p:txBody>
      </p:sp>
      <p:sp>
        <p:nvSpPr>
          <p:cNvPr id="15" name="Text 13"/>
          <p:cNvSpPr/>
          <p:nvPr/>
        </p:nvSpPr>
        <p:spPr>
          <a:xfrm>
            <a:off x="502920" y="4718304"/>
            <a:ext cx="5486400" cy="228600"/>
          </a:xfrm>
          <a:prstGeom prst="rect">
            <a:avLst/>
          </a:prstGeom>
          <a:noFill/>
          <a:ln/>
        </p:spPr>
        <p:txBody>
          <a:bodyPr wrap="square" lIns="0" tIns="0" rIns="0" bIns="0" rtlCol="0" anchor="ctr"/>
          <a:lstStyle/>
          <a:p>
            <a:pPr marL="0" indent="0">
              <a:buNone/>
            </a:pPr>
            <a:r>
              <a:rPr lang="en-US" sz="850">
                <a:solidFill>
                  <a:srgbClr val="9AABB8"/>
                </a:solidFill>
                <a:latin typeface="Calibri" pitchFamily="34" charset="0"/>
                <a:ea typeface="Calibri" pitchFamily="34" charset="-122"/>
                <a:cs typeface="Calibri" pitchFamily="34" charset="-120"/>
              </a:rPr>
              <a:t>Group 5  ·  M5 Demand Forecasting on AWS</a:t>
            </a:r>
            <a:endParaRPr lang="en-US" sz="850"/>
          </a:p>
        </p:txBody>
      </p:sp>
      <p:sp>
        <p:nvSpPr>
          <p:cNvPr id="16" name="Text 14"/>
          <p:cNvSpPr/>
          <p:nvPr/>
        </p:nvSpPr>
        <p:spPr>
          <a:xfrm>
            <a:off x="8229600" y="4718304"/>
            <a:ext cx="411480" cy="228600"/>
          </a:xfrm>
          <a:prstGeom prst="rect">
            <a:avLst/>
          </a:prstGeom>
          <a:noFill/>
          <a:ln/>
        </p:spPr>
        <p:txBody>
          <a:bodyPr wrap="square" lIns="0" tIns="0" rIns="0" bIns="0" rtlCol="0" anchor="ctr"/>
          <a:lstStyle/>
          <a:p>
            <a:pPr marL="0" indent="0" algn="r">
              <a:buNone/>
            </a:pPr>
            <a:r>
              <a:rPr lang="en-US" sz="850">
                <a:solidFill>
                  <a:srgbClr val="9AABB8"/>
                </a:solidFill>
                <a:latin typeface="Calibri" pitchFamily="34" charset="0"/>
                <a:ea typeface="Calibri" pitchFamily="34" charset="-122"/>
                <a:cs typeface="Calibri" pitchFamily="34" charset="-120"/>
              </a:rPr>
              <a:t>13</a:t>
            </a:r>
            <a:endParaRPr lang="en-US" sz="850"/>
          </a:p>
        </p:txBody>
      </p:sp>
      <p:pic>
        <p:nvPicPr>
          <p:cNvPr id="17" name="Picture 16">
            <a:extLst>
              <a:ext uri="{FF2B5EF4-FFF2-40B4-BE49-F238E27FC236}">
                <a16:creationId xmlns:a16="http://schemas.microsoft.com/office/drawing/2014/main" id="{823FCAC0-33D0-030B-F7B3-A3F491D775FD}"/>
              </a:ext>
            </a:extLst>
          </p:cNvPr>
          <p:cNvPicPr>
            <a:picLocks noChangeAspect="1"/>
          </p:cNvPicPr>
          <p:nvPr/>
        </p:nvPicPr>
        <p:blipFill>
          <a:blip r:embed="rId3"/>
          <a:stretch>
            <a:fillRect/>
          </a:stretch>
        </p:blipFill>
        <p:spPr>
          <a:xfrm>
            <a:off x="500699" y="1033564"/>
            <a:ext cx="5497893" cy="3678273"/>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02920" y="292608"/>
            <a:ext cx="8138160" cy="219456"/>
          </a:xfrm>
          <a:prstGeom prst="rect">
            <a:avLst/>
          </a:prstGeom>
          <a:noFill/>
          <a:ln/>
        </p:spPr>
        <p:txBody>
          <a:bodyPr wrap="square" lIns="0" tIns="0" rIns="0" bIns="0" rtlCol="0" anchor="ctr"/>
          <a:lstStyle/>
          <a:p>
            <a:pPr marL="0" indent="0">
              <a:buNone/>
            </a:pPr>
            <a:r>
              <a:rPr lang="en-US" sz="1100" b="1" kern="0" spc="160">
                <a:solidFill>
                  <a:srgbClr val="2E86AB"/>
                </a:solidFill>
                <a:latin typeface="Calibri" pitchFamily="34" charset="0"/>
                <a:ea typeface="Calibri" pitchFamily="34" charset="-122"/>
                <a:cs typeface="Calibri" pitchFamily="34" charset="-120"/>
              </a:rPr>
              <a:t>COST</a:t>
            </a:r>
            <a:endParaRPr lang="en-US" sz="1100"/>
          </a:p>
        </p:txBody>
      </p:sp>
      <p:sp>
        <p:nvSpPr>
          <p:cNvPr id="3" name="Text 1"/>
          <p:cNvSpPr/>
          <p:nvPr/>
        </p:nvSpPr>
        <p:spPr>
          <a:xfrm>
            <a:off x="502920" y="530352"/>
            <a:ext cx="8138160" cy="502920"/>
          </a:xfrm>
          <a:prstGeom prst="rect">
            <a:avLst/>
          </a:prstGeom>
          <a:noFill/>
          <a:ln/>
        </p:spPr>
        <p:txBody>
          <a:bodyPr wrap="square" lIns="0" tIns="0" rIns="0" bIns="0" rtlCol="0" anchor="ctr"/>
          <a:lstStyle/>
          <a:p>
            <a:pPr marL="0" indent="0">
              <a:buNone/>
            </a:pPr>
            <a:r>
              <a:rPr lang="en-US" sz="2800" b="1">
                <a:solidFill>
                  <a:srgbClr val="0F2942"/>
                </a:solidFill>
                <a:latin typeface="Cambria" pitchFamily="34" charset="0"/>
                <a:ea typeface="Cambria" pitchFamily="34" charset="-122"/>
                <a:cs typeface="Cambria" pitchFamily="34" charset="-120"/>
              </a:rPr>
              <a:t>Total cost and how we controlled it</a:t>
            </a:r>
            <a:endParaRPr lang="en-US" sz="2800"/>
          </a:p>
        </p:txBody>
      </p:sp>
      <p:sp>
        <p:nvSpPr>
          <p:cNvPr id="4" name="Shape 2"/>
          <p:cNvSpPr/>
          <p:nvPr/>
        </p:nvSpPr>
        <p:spPr>
          <a:xfrm>
            <a:off x="7882128" y="274320"/>
            <a:ext cx="804672" cy="256032"/>
          </a:xfrm>
          <a:prstGeom prst="roundRect">
            <a:avLst>
              <a:gd name="adj" fmla="val 50000"/>
            </a:avLst>
          </a:prstGeom>
          <a:solidFill>
            <a:srgbClr val="F4F7FA"/>
          </a:solidFill>
          <a:ln w="9525">
            <a:solidFill>
              <a:srgbClr val="D9E2EA"/>
            </a:solidFill>
            <a:prstDash val="solid"/>
          </a:ln>
        </p:spPr>
        <p:txBody>
          <a:bodyPr/>
          <a:lstStyle/>
          <a:p>
            <a:endParaRPr lang="en-US"/>
          </a:p>
        </p:txBody>
      </p:sp>
      <p:sp>
        <p:nvSpPr>
          <p:cNvPr id="5" name="Text 3"/>
          <p:cNvSpPr/>
          <p:nvPr/>
        </p:nvSpPr>
        <p:spPr>
          <a:xfrm>
            <a:off x="7882128" y="274320"/>
            <a:ext cx="804672" cy="256032"/>
          </a:xfrm>
          <a:prstGeom prst="rect">
            <a:avLst/>
          </a:prstGeom>
          <a:noFill/>
          <a:ln/>
        </p:spPr>
        <p:txBody>
          <a:bodyPr wrap="square" lIns="0" tIns="0" rIns="0" bIns="0" rtlCol="0" anchor="ctr"/>
          <a:lstStyle/>
          <a:p>
            <a:pPr marL="0" indent="0" algn="ctr">
              <a:buNone/>
            </a:pPr>
            <a:r>
              <a:rPr lang="en-US" sz="950" b="1">
                <a:solidFill>
                  <a:srgbClr val="5A6B7C"/>
                </a:solidFill>
                <a:latin typeface="Calibri" pitchFamily="34" charset="0"/>
                <a:ea typeface="Calibri" pitchFamily="34" charset="-122"/>
                <a:cs typeface="Calibri" pitchFamily="34" charset="-120"/>
              </a:rPr>
              <a:t>ROSS</a:t>
            </a:r>
            <a:endParaRPr lang="en-US" sz="950"/>
          </a:p>
        </p:txBody>
      </p:sp>
      <p:sp>
        <p:nvSpPr>
          <p:cNvPr id="6" name="Shape 4"/>
          <p:cNvSpPr/>
          <p:nvPr/>
        </p:nvSpPr>
        <p:spPr>
          <a:xfrm>
            <a:off x="502920" y="1207008"/>
            <a:ext cx="2286000" cy="1371600"/>
          </a:xfrm>
          <a:prstGeom prst="roundRect">
            <a:avLst>
              <a:gd name="adj" fmla="val 4000"/>
            </a:avLst>
          </a:prstGeom>
          <a:solidFill>
            <a:srgbClr val="0F2942"/>
          </a:solidFill>
          <a:ln w="12700">
            <a:solidFill>
              <a:srgbClr val="0F2942"/>
            </a:solidFill>
            <a:prstDash val="solid"/>
          </a:ln>
        </p:spPr>
        <p:txBody>
          <a:bodyPr/>
          <a:lstStyle/>
          <a:p>
            <a:endParaRPr lang="en-US"/>
          </a:p>
        </p:txBody>
      </p:sp>
      <p:sp>
        <p:nvSpPr>
          <p:cNvPr id="7" name="Text 5"/>
          <p:cNvSpPr/>
          <p:nvPr/>
        </p:nvSpPr>
        <p:spPr>
          <a:xfrm>
            <a:off x="502920" y="1371600"/>
            <a:ext cx="2286000" cy="640080"/>
          </a:xfrm>
          <a:prstGeom prst="rect">
            <a:avLst/>
          </a:prstGeom>
          <a:noFill/>
          <a:ln/>
        </p:spPr>
        <p:txBody>
          <a:bodyPr wrap="square" lIns="0" tIns="0" rIns="0" bIns="0" rtlCol="0" anchor="ctr"/>
          <a:lstStyle/>
          <a:p>
            <a:pPr marL="0" indent="0" algn="ctr">
              <a:buNone/>
            </a:pPr>
            <a:r>
              <a:rPr lang="en-US" sz="4000" b="1">
                <a:solidFill>
                  <a:srgbClr val="FFFFFF"/>
                </a:solidFill>
                <a:latin typeface="Cambria" pitchFamily="34" charset="0"/>
                <a:ea typeface="Cambria" pitchFamily="34" charset="-122"/>
                <a:cs typeface="Cambria" pitchFamily="34" charset="-120"/>
              </a:rPr>
              <a:t>&lt; $10</a:t>
            </a:r>
            <a:endParaRPr lang="en-US" sz="4000"/>
          </a:p>
        </p:txBody>
      </p:sp>
      <p:sp>
        <p:nvSpPr>
          <p:cNvPr id="8" name="Text 6"/>
          <p:cNvSpPr/>
          <p:nvPr/>
        </p:nvSpPr>
        <p:spPr>
          <a:xfrm>
            <a:off x="502920" y="2011680"/>
            <a:ext cx="2286000" cy="274320"/>
          </a:xfrm>
          <a:prstGeom prst="rect">
            <a:avLst/>
          </a:prstGeom>
          <a:noFill/>
          <a:ln/>
        </p:spPr>
        <p:txBody>
          <a:bodyPr wrap="square" lIns="0" tIns="0" rIns="0" bIns="0" rtlCol="0" anchor="ctr"/>
          <a:lstStyle/>
          <a:p>
            <a:pPr marL="0" indent="0" algn="ctr">
              <a:buNone/>
            </a:pPr>
            <a:r>
              <a:rPr lang="en-US" sz="1100">
                <a:solidFill>
                  <a:srgbClr val="9FC4DC"/>
                </a:solidFill>
                <a:latin typeface="Calibri" pitchFamily="34" charset="0"/>
                <a:ea typeface="Calibri" pitchFamily="34" charset="-122"/>
                <a:cs typeface="Calibri" pitchFamily="34" charset="-120"/>
              </a:rPr>
              <a:t>total project spend</a:t>
            </a:r>
            <a:endParaRPr lang="en-US" sz="1100"/>
          </a:p>
        </p:txBody>
      </p:sp>
      <p:sp>
        <p:nvSpPr>
          <p:cNvPr id="9" name="Text 7"/>
          <p:cNvSpPr/>
          <p:nvPr/>
        </p:nvSpPr>
        <p:spPr>
          <a:xfrm>
            <a:off x="502920" y="2249424"/>
            <a:ext cx="2286000" cy="292608"/>
          </a:xfrm>
          <a:prstGeom prst="rect">
            <a:avLst/>
          </a:prstGeom>
          <a:noFill/>
          <a:ln/>
        </p:spPr>
        <p:txBody>
          <a:bodyPr wrap="square" lIns="0" tIns="0" rIns="0" bIns="0" rtlCol="0" anchor="ctr"/>
          <a:lstStyle/>
          <a:p>
            <a:pPr marL="0" indent="0" algn="ctr">
              <a:buNone/>
            </a:pPr>
            <a:r>
              <a:rPr lang="en-US" sz="900">
                <a:solidFill>
                  <a:srgbClr val="7FA3BC"/>
                </a:solidFill>
                <a:latin typeface="Calibri" pitchFamily="34" charset="0"/>
                <a:ea typeface="Calibri" pitchFamily="34" charset="-122"/>
                <a:cs typeface="Calibri" pitchFamily="34" charset="-120"/>
              </a:rPr>
              <a:t>budget alert set before any</a:t>
            </a:r>
            <a:endParaRPr lang="en-US" sz="900"/>
          </a:p>
          <a:p>
            <a:pPr marL="0" indent="0" algn="ctr">
              <a:buNone/>
            </a:pPr>
            <a:r>
              <a:rPr lang="en-US" sz="900">
                <a:solidFill>
                  <a:srgbClr val="7FA3BC"/>
                </a:solidFill>
                <a:latin typeface="Calibri" pitchFamily="34" charset="0"/>
                <a:ea typeface="Calibri" pitchFamily="34" charset="-122"/>
                <a:cs typeface="Calibri" pitchFamily="34" charset="-120"/>
              </a:rPr>
              <a:t>resource was created</a:t>
            </a:r>
            <a:endParaRPr lang="en-US" sz="900"/>
          </a:p>
        </p:txBody>
      </p:sp>
      <p:sp>
        <p:nvSpPr>
          <p:cNvPr id="10" name="Shape 8"/>
          <p:cNvSpPr/>
          <p:nvPr/>
        </p:nvSpPr>
        <p:spPr>
          <a:xfrm>
            <a:off x="3063240" y="1261872"/>
            <a:ext cx="182880" cy="182880"/>
          </a:xfrm>
          <a:prstGeom prst="ellipse">
            <a:avLst/>
          </a:prstGeom>
          <a:solidFill>
            <a:srgbClr val="2E86AB"/>
          </a:solidFill>
          <a:ln w="12700">
            <a:solidFill>
              <a:srgbClr val="2E86AB"/>
            </a:solidFill>
            <a:prstDash val="solid"/>
          </a:ln>
        </p:spPr>
        <p:txBody>
          <a:bodyPr/>
          <a:lstStyle/>
          <a:p>
            <a:endParaRPr lang="en-US"/>
          </a:p>
        </p:txBody>
      </p:sp>
      <p:sp>
        <p:nvSpPr>
          <p:cNvPr id="11" name="Text 9"/>
          <p:cNvSpPr/>
          <p:nvPr/>
        </p:nvSpPr>
        <p:spPr>
          <a:xfrm>
            <a:off x="3383280" y="1207008"/>
            <a:ext cx="5303520" cy="237744"/>
          </a:xfrm>
          <a:prstGeom prst="rect">
            <a:avLst/>
          </a:prstGeom>
          <a:noFill/>
          <a:ln/>
        </p:spPr>
        <p:txBody>
          <a:bodyPr wrap="square" lIns="0" tIns="0" rIns="0" bIns="0" rtlCol="0" anchor="ctr"/>
          <a:lstStyle/>
          <a:p>
            <a:pPr marL="0" indent="0">
              <a:buNone/>
            </a:pPr>
            <a:r>
              <a:rPr lang="en-US" sz="1200" b="1">
                <a:solidFill>
                  <a:srgbClr val="0F2942"/>
                </a:solidFill>
                <a:latin typeface="Calibri" pitchFamily="34" charset="0"/>
                <a:ea typeface="Calibri" pitchFamily="34" charset="-122"/>
                <a:cs typeface="Calibri" pitchFamily="34" charset="-120"/>
              </a:rPr>
              <a:t>Parquet + Snappy</a:t>
            </a:r>
            <a:endParaRPr lang="en-US" sz="1200"/>
          </a:p>
        </p:txBody>
      </p:sp>
      <p:sp>
        <p:nvSpPr>
          <p:cNvPr id="12" name="Text 10"/>
          <p:cNvSpPr/>
          <p:nvPr/>
        </p:nvSpPr>
        <p:spPr>
          <a:xfrm>
            <a:off x="3383280" y="1453896"/>
            <a:ext cx="5257800" cy="411480"/>
          </a:xfrm>
          <a:prstGeom prst="rect">
            <a:avLst/>
          </a:prstGeom>
          <a:noFill/>
          <a:ln/>
        </p:spPr>
        <p:txBody>
          <a:bodyPr wrap="square" lIns="0" tIns="0" rIns="0" bIns="0" rtlCol="0" anchor="ctr"/>
          <a:lstStyle/>
          <a:p>
            <a:pPr marL="0" indent="0">
              <a:buNone/>
            </a:pPr>
            <a:r>
              <a:rPr lang="en-US" sz="1050">
                <a:solidFill>
                  <a:srgbClr val="5A6B7C"/>
                </a:solidFill>
                <a:latin typeface="Calibri" pitchFamily="34" charset="0"/>
                <a:ea typeface="Calibri" pitchFamily="34" charset="-122"/>
                <a:cs typeface="Calibri" pitchFamily="34" charset="-120"/>
              </a:rPr>
              <a:t>Our heaviest query scanned 194 MB, against Athena's charge of $5 per TB.</a:t>
            </a:r>
            <a:endParaRPr lang="en-US" sz="1050"/>
          </a:p>
        </p:txBody>
      </p:sp>
      <p:sp>
        <p:nvSpPr>
          <p:cNvPr id="13" name="Shape 11"/>
          <p:cNvSpPr/>
          <p:nvPr/>
        </p:nvSpPr>
        <p:spPr>
          <a:xfrm>
            <a:off x="3063240" y="1984248"/>
            <a:ext cx="182880" cy="182880"/>
          </a:xfrm>
          <a:prstGeom prst="ellipse">
            <a:avLst/>
          </a:prstGeom>
          <a:solidFill>
            <a:srgbClr val="2E86AB"/>
          </a:solidFill>
          <a:ln w="12700">
            <a:solidFill>
              <a:srgbClr val="2E86AB"/>
            </a:solidFill>
            <a:prstDash val="solid"/>
          </a:ln>
        </p:spPr>
        <p:txBody>
          <a:bodyPr/>
          <a:lstStyle/>
          <a:p>
            <a:endParaRPr lang="en-US"/>
          </a:p>
        </p:txBody>
      </p:sp>
      <p:sp>
        <p:nvSpPr>
          <p:cNvPr id="14" name="Text 12"/>
          <p:cNvSpPr/>
          <p:nvPr/>
        </p:nvSpPr>
        <p:spPr>
          <a:xfrm>
            <a:off x="3383280" y="1929384"/>
            <a:ext cx="5303520" cy="237744"/>
          </a:xfrm>
          <a:prstGeom prst="rect">
            <a:avLst/>
          </a:prstGeom>
          <a:noFill/>
          <a:ln/>
        </p:spPr>
        <p:txBody>
          <a:bodyPr wrap="square" lIns="0" tIns="0" rIns="0" bIns="0" rtlCol="0" anchor="ctr"/>
          <a:lstStyle/>
          <a:p>
            <a:pPr marL="0" indent="0">
              <a:buNone/>
            </a:pPr>
            <a:r>
              <a:rPr lang="en-US" sz="1200" b="1">
                <a:solidFill>
                  <a:srgbClr val="0F2942"/>
                </a:solidFill>
                <a:latin typeface="Calibri" pitchFamily="34" charset="0"/>
                <a:ea typeface="Calibri" pitchFamily="34" charset="-122"/>
                <a:cs typeface="Calibri" pitchFamily="34" charset="-120"/>
              </a:rPr>
              <a:t>Curated aggregates</a:t>
            </a:r>
            <a:endParaRPr lang="en-US" sz="1200"/>
          </a:p>
        </p:txBody>
      </p:sp>
      <p:sp>
        <p:nvSpPr>
          <p:cNvPr id="15" name="Text 13"/>
          <p:cNvSpPr/>
          <p:nvPr/>
        </p:nvSpPr>
        <p:spPr>
          <a:xfrm>
            <a:off x="3383280" y="2176272"/>
            <a:ext cx="5257800" cy="411480"/>
          </a:xfrm>
          <a:prstGeom prst="rect">
            <a:avLst/>
          </a:prstGeom>
          <a:noFill/>
          <a:ln/>
        </p:spPr>
        <p:txBody>
          <a:bodyPr wrap="square" lIns="0" tIns="0" rIns="0" bIns="0" rtlCol="0" anchor="ctr"/>
          <a:lstStyle/>
          <a:p>
            <a:pPr marL="0" indent="0">
              <a:buNone/>
            </a:pPr>
            <a:r>
              <a:rPr lang="en-US" sz="1050">
                <a:solidFill>
                  <a:srgbClr val="5A6B7C"/>
                </a:solidFill>
                <a:latin typeface="Calibri" pitchFamily="34" charset="0"/>
                <a:ea typeface="Calibri" pitchFamily="34" charset="-122"/>
                <a:cs typeface="Calibri" pitchFamily="34" charset="-120"/>
              </a:rPr>
              <a:t>The dashboard reads 135,870 rows rather than 59.2M.</a:t>
            </a:r>
            <a:endParaRPr lang="en-US" sz="1050"/>
          </a:p>
        </p:txBody>
      </p:sp>
      <p:sp>
        <p:nvSpPr>
          <p:cNvPr id="16" name="Shape 14"/>
          <p:cNvSpPr/>
          <p:nvPr/>
        </p:nvSpPr>
        <p:spPr>
          <a:xfrm>
            <a:off x="3063240" y="2706624"/>
            <a:ext cx="182880" cy="182880"/>
          </a:xfrm>
          <a:prstGeom prst="ellipse">
            <a:avLst/>
          </a:prstGeom>
          <a:solidFill>
            <a:srgbClr val="2E86AB"/>
          </a:solidFill>
          <a:ln w="12700">
            <a:solidFill>
              <a:srgbClr val="2E86AB"/>
            </a:solidFill>
            <a:prstDash val="solid"/>
          </a:ln>
        </p:spPr>
        <p:txBody>
          <a:bodyPr/>
          <a:lstStyle/>
          <a:p>
            <a:endParaRPr lang="en-US"/>
          </a:p>
        </p:txBody>
      </p:sp>
      <p:sp>
        <p:nvSpPr>
          <p:cNvPr id="17" name="Text 15"/>
          <p:cNvSpPr/>
          <p:nvPr/>
        </p:nvSpPr>
        <p:spPr>
          <a:xfrm>
            <a:off x="3383280" y="2651760"/>
            <a:ext cx="5303520" cy="237744"/>
          </a:xfrm>
          <a:prstGeom prst="rect">
            <a:avLst/>
          </a:prstGeom>
          <a:noFill/>
          <a:ln/>
        </p:spPr>
        <p:txBody>
          <a:bodyPr wrap="square" lIns="0" tIns="0" rIns="0" bIns="0" rtlCol="0" anchor="ctr"/>
          <a:lstStyle/>
          <a:p>
            <a:pPr marL="0" indent="0">
              <a:buNone/>
            </a:pPr>
            <a:r>
              <a:rPr lang="en-US" sz="1200" b="1">
                <a:solidFill>
                  <a:srgbClr val="0F2942"/>
                </a:solidFill>
                <a:latin typeface="Calibri" pitchFamily="34" charset="0"/>
                <a:ea typeface="Calibri" pitchFamily="34" charset="-122"/>
                <a:cs typeface="Calibri" pitchFamily="34" charset="-120"/>
              </a:rPr>
              <a:t>Serverless only</a:t>
            </a:r>
            <a:endParaRPr lang="en-US" sz="1200"/>
          </a:p>
        </p:txBody>
      </p:sp>
      <p:sp>
        <p:nvSpPr>
          <p:cNvPr id="18" name="Text 16"/>
          <p:cNvSpPr/>
          <p:nvPr/>
        </p:nvSpPr>
        <p:spPr>
          <a:xfrm>
            <a:off x="3383280" y="2898648"/>
            <a:ext cx="5257800" cy="411480"/>
          </a:xfrm>
          <a:prstGeom prst="rect">
            <a:avLst/>
          </a:prstGeom>
          <a:noFill/>
          <a:ln/>
        </p:spPr>
        <p:txBody>
          <a:bodyPr wrap="square" lIns="0" tIns="0" rIns="0" bIns="0" rtlCol="0" anchor="ctr"/>
          <a:lstStyle/>
          <a:p>
            <a:pPr marL="0" indent="0">
              <a:buNone/>
            </a:pPr>
            <a:r>
              <a:rPr lang="en-US" sz="1050">
                <a:solidFill>
                  <a:srgbClr val="5A6B7C"/>
                </a:solidFill>
                <a:latin typeface="Calibri" pitchFamily="34" charset="0"/>
                <a:ea typeface="Calibri" pitchFamily="34" charset="-122"/>
                <a:cs typeface="Calibri" pitchFamily="34" charset="-120"/>
              </a:rPr>
              <a:t>No always-on warehouse, and the notebook runs locally rather than on a billed instance.</a:t>
            </a:r>
            <a:endParaRPr lang="en-US" sz="1050"/>
          </a:p>
        </p:txBody>
      </p:sp>
      <p:sp>
        <p:nvSpPr>
          <p:cNvPr id="19" name="Shape 17"/>
          <p:cNvSpPr/>
          <p:nvPr/>
        </p:nvSpPr>
        <p:spPr>
          <a:xfrm>
            <a:off x="3063240" y="3429000"/>
            <a:ext cx="182880" cy="182880"/>
          </a:xfrm>
          <a:prstGeom prst="ellipse">
            <a:avLst/>
          </a:prstGeom>
          <a:solidFill>
            <a:srgbClr val="2E86AB"/>
          </a:solidFill>
          <a:ln w="12700">
            <a:solidFill>
              <a:srgbClr val="2E86AB"/>
            </a:solidFill>
            <a:prstDash val="solid"/>
          </a:ln>
        </p:spPr>
        <p:txBody>
          <a:bodyPr/>
          <a:lstStyle/>
          <a:p>
            <a:endParaRPr lang="en-US"/>
          </a:p>
        </p:txBody>
      </p:sp>
      <p:sp>
        <p:nvSpPr>
          <p:cNvPr id="20" name="Text 18"/>
          <p:cNvSpPr/>
          <p:nvPr/>
        </p:nvSpPr>
        <p:spPr>
          <a:xfrm>
            <a:off x="3383280" y="3374136"/>
            <a:ext cx="5303520" cy="237744"/>
          </a:xfrm>
          <a:prstGeom prst="rect">
            <a:avLst/>
          </a:prstGeom>
          <a:noFill/>
          <a:ln/>
        </p:spPr>
        <p:txBody>
          <a:bodyPr wrap="square" lIns="0" tIns="0" rIns="0" bIns="0" rtlCol="0" anchor="ctr"/>
          <a:lstStyle/>
          <a:p>
            <a:pPr marL="0" indent="0">
              <a:buNone/>
            </a:pPr>
            <a:r>
              <a:rPr lang="en-US" sz="1200" b="1">
                <a:solidFill>
                  <a:srgbClr val="0F2942"/>
                </a:solidFill>
                <a:latin typeface="Calibri" pitchFamily="34" charset="0"/>
                <a:ea typeface="Calibri" pitchFamily="34" charset="-122"/>
                <a:cs typeface="Calibri" pitchFamily="34" charset="-120"/>
              </a:rPr>
              <a:t>Staged alerts</a:t>
            </a:r>
            <a:endParaRPr lang="en-US" sz="1200"/>
          </a:p>
        </p:txBody>
      </p:sp>
      <p:sp>
        <p:nvSpPr>
          <p:cNvPr id="21" name="Text 19"/>
          <p:cNvSpPr/>
          <p:nvPr/>
        </p:nvSpPr>
        <p:spPr>
          <a:xfrm>
            <a:off x="3383280" y="3621024"/>
            <a:ext cx="5257800" cy="411480"/>
          </a:xfrm>
          <a:prstGeom prst="rect">
            <a:avLst/>
          </a:prstGeom>
          <a:noFill/>
          <a:ln/>
        </p:spPr>
        <p:txBody>
          <a:bodyPr wrap="square" lIns="0" tIns="0" rIns="0" bIns="0" rtlCol="0" anchor="ctr"/>
          <a:lstStyle/>
          <a:p>
            <a:pPr marL="0" indent="0">
              <a:buNone/>
            </a:pPr>
            <a:r>
              <a:rPr lang="en-US" sz="1050">
                <a:solidFill>
                  <a:srgbClr val="5A6B7C"/>
                </a:solidFill>
                <a:latin typeface="Calibri" pitchFamily="34" charset="0"/>
                <a:ea typeface="Calibri" pitchFamily="34" charset="-122"/>
                <a:cs typeface="Calibri" pitchFamily="34" charset="-120"/>
              </a:rPr>
              <a:t>A $10 ceiling with $2 increments beneath it, so we could see where the spend was coming from.</a:t>
            </a:r>
            <a:endParaRPr lang="en-US" sz="1050"/>
          </a:p>
        </p:txBody>
      </p:sp>
      <p:sp>
        <p:nvSpPr>
          <p:cNvPr id="22" name="Shape 20"/>
          <p:cNvSpPr/>
          <p:nvPr/>
        </p:nvSpPr>
        <p:spPr>
          <a:xfrm>
            <a:off x="502920" y="4160520"/>
            <a:ext cx="8138160" cy="548640"/>
          </a:xfrm>
          <a:prstGeom prst="roundRect">
            <a:avLst>
              <a:gd name="adj" fmla="val 10000"/>
            </a:avLst>
          </a:prstGeom>
          <a:solidFill>
            <a:srgbClr val="F4F7FA"/>
          </a:solidFill>
          <a:ln w="9525">
            <a:solidFill>
              <a:srgbClr val="D9E2EA"/>
            </a:solidFill>
            <a:prstDash val="solid"/>
          </a:ln>
        </p:spPr>
        <p:txBody>
          <a:bodyPr/>
          <a:lstStyle/>
          <a:p>
            <a:endParaRPr lang="en-US"/>
          </a:p>
        </p:txBody>
      </p:sp>
      <p:sp>
        <p:nvSpPr>
          <p:cNvPr id="23" name="Text 21"/>
          <p:cNvSpPr/>
          <p:nvPr/>
        </p:nvSpPr>
        <p:spPr>
          <a:xfrm>
            <a:off x="749808" y="4233672"/>
            <a:ext cx="7680960" cy="402336"/>
          </a:xfrm>
          <a:prstGeom prst="rect">
            <a:avLst/>
          </a:prstGeom>
          <a:noFill/>
          <a:ln/>
        </p:spPr>
        <p:txBody>
          <a:bodyPr wrap="square" lIns="0" tIns="0" rIns="0" bIns="0" rtlCol="0" anchor="ctr"/>
          <a:lstStyle/>
          <a:p>
            <a:pPr marL="0" indent="0">
              <a:buNone/>
            </a:pPr>
            <a:r>
              <a:rPr lang="en-US" sz="1100" b="1">
                <a:solidFill>
                  <a:srgbClr val="0F2942"/>
                </a:solidFill>
                <a:latin typeface="Calibri" pitchFamily="34" charset="0"/>
                <a:ea typeface="Calibri" pitchFamily="34" charset="-122"/>
                <a:cs typeface="Calibri" pitchFamily="34" charset="-120"/>
              </a:rPr>
              <a:t>Athena was not the cost risk. </a:t>
            </a:r>
            <a:r>
              <a:rPr lang="en-US" sz="1100">
                <a:solidFill>
                  <a:srgbClr val="1B2B3A"/>
                </a:solidFill>
                <a:latin typeface="Calibri" pitchFamily="34" charset="0"/>
                <a:ea typeface="Calibri" pitchFamily="34" charset="-122"/>
                <a:cs typeface="Calibri" pitchFamily="34" charset="-120"/>
              </a:rPr>
              <a:t>The risks were resources left running, such as a QuickSight subscription or a notebook instance. The teardown steps are documented.</a:t>
            </a:r>
            <a:endParaRPr lang="en-US" sz="1100"/>
          </a:p>
        </p:txBody>
      </p:sp>
      <p:sp>
        <p:nvSpPr>
          <p:cNvPr id="24" name="Text 22"/>
          <p:cNvSpPr/>
          <p:nvPr/>
        </p:nvSpPr>
        <p:spPr>
          <a:xfrm>
            <a:off x="502920" y="4718304"/>
            <a:ext cx="5486400" cy="228600"/>
          </a:xfrm>
          <a:prstGeom prst="rect">
            <a:avLst/>
          </a:prstGeom>
          <a:noFill/>
          <a:ln/>
        </p:spPr>
        <p:txBody>
          <a:bodyPr wrap="square" lIns="0" tIns="0" rIns="0" bIns="0" rtlCol="0" anchor="ctr"/>
          <a:lstStyle/>
          <a:p>
            <a:pPr marL="0" indent="0">
              <a:buNone/>
            </a:pPr>
            <a:r>
              <a:rPr lang="en-US" sz="850">
                <a:solidFill>
                  <a:srgbClr val="9AABB8"/>
                </a:solidFill>
                <a:latin typeface="Calibri" pitchFamily="34" charset="0"/>
                <a:ea typeface="Calibri" pitchFamily="34" charset="-122"/>
                <a:cs typeface="Calibri" pitchFamily="34" charset="-120"/>
              </a:rPr>
              <a:t>Group 5  ·  M5 Demand Forecasting on AWS</a:t>
            </a:r>
            <a:endParaRPr lang="en-US" sz="850"/>
          </a:p>
        </p:txBody>
      </p:sp>
      <p:sp>
        <p:nvSpPr>
          <p:cNvPr id="25" name="Text 23"/>
          <p:cNvSpPr/>
          <p:nvPr/>
        </p:nvSpPr>
        <p:spPr>
          <a:xfrm>
            <a:off x="8229600" y="4718304"/>
            <a:ext cx="411480" cy="228600"/>
          </a:xfrm>
          <a:prstGeom prst="rect">
            <a:avLst/>
          </a:prstGeom>
          <a:noFill/>
          <a:ln/>
        </p:spPr>
        <p:txBody>
          <a:bodyPr wrap="square" lIns="0" tIns="0" rIns="0" bIns="0" rtlCol="0" anchor="ctr"/>
          <a:lstStyle/>
          <a:p>
            <a:pPr marL="0" indent="0" algn="r">
              <a:buNone/>
            </a:pPr>
            <a:r>
              <a:rPr lang="en-US" sz="850">
                <a:solidFill>
                  <a:srgbClr val="9AABB8"/>
                </a:solidFill>
                <a:latin typeface="Calibri" pitchFamily="34" charset="0"/>
                <a:ea typeface="Calibri" pitchFamily="34" charset="-122"/>
                <a:cs typeface="Calibri" pitchFamily="34" charset="-120"/>
              </a:rPr>
              <a:t>14</a:t>
            </a:r>
            <a:endParaRPr lang="en-US" sz="85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02920" y="292608"/>
            <a:ext cx="8138160" cy="219456"/>
          </a:xfrm>
          <a:prstGeom prst="rect">
            <a:avLst/>
          </a:prstGeom>
          <a:noFill/>
          <a:ln/>
        </p:spPr>
        <p:txBody>
          <a:bodyPr wrap="square" lIns="0" tIns="0" rIns="0" bIns="0" rtlCol="0" anchor="ctr"/>
          <a:lstStyle/>
          <a:p>
            <a:pPr marL="0" indent="0">
              <a:buNone/>
            </a:pPr>
            <a:r>
              <a:rPr lang="en-US" sz="1100" b="1" kern="0" spc="160">
                <a:solidFill>
                  <a:srgbClr val="2E86AB"/>
                </a:solidFill>
                <a:latin typeface="Calibri" pitchFamily="34" charset="0"/>
                <a:ea typeface="Calibri" pitchFamily="34" charset="-122"/>
                <a:cs typeface="Calibri" pitchFamily="34" charset="-120"/>
              </a:rPr>
              <a:t>TRADE-OFFS</a:t>
            </a:r>
            <a:endParaRPr lang="en-US" sz="1100"/>
          </a:p>
        </p:txBody>
      </p:sp>
      <p:sp>
        <p:nvSpPr>
          <p:cNvPr id="3" name="Text 1"/>
          <p:cNvSpPr/>
          <p:nvPr/>
        </p:nvSpPr>
        <p:spPr>
          <a:xfrm>
            <a:off x="502920" y="530352"/>
            <a:ext cx="8138160" cy="502920"/>
          </a:xfrm>
          <a:prstGeom prst="rect">
            <a:avLst/>
          </a:prstGeom>
          <a:noFill/>
          <a:ln/>
        </p:spPr>
        <p:txBody>
          <a:bodyPr wrap="square" lIns="0" tIns="0" rIns="0" bIns="0" rtlCol="0" anchor="ctr"/>
          <a:lstStyle/>
          <a:p>
            <a:pPr marL="0" indent="0">
              <a:buNone/>
            </a:pPr>
            <a:r>
              <a:rPr lang="en-US" sz="2800" b="1">
                <a:solidFill>
                  <a:srgbClr val="0F2942"/>
                </a:solidFill>
                <a:latin typeface="Cambria" pitchFamily="34" charset="0"/>
                <a:ea typeface="Cambria" pitchFamily="34" charset="-122"/>
                <a:cs typeface="Cambria" pitchFamily="34" charset="-120"/>
              </a:rPr>
              <a:t>AWS and GCP trade-offs</a:t>
            </a:r>
            <a:endParaRPr lang="en-US" sz="2800"/>
          </a:p>
        </p:txBody>
      </p:sp>
      <p:sp>
        <p:nvSpPr>
          <p:cNvPr id="4" name="Shape 2"/>
          <p:cNvSpPr/>
          <p:nvPr/>
        </p:nvSpPr>
        <p:spPr>
          <a:xfrm>
            <a:off x="7882128" y="274320"/>
            <a:ext cx="804672" cy="256032"/>
          </a:xfrm>
          <a:prstGeom prst="roundRect">
            <a:avLst>
              <a:gd name="adj" fmla="val 50000"/>
            </a:avLst>
          </a:prstGeom>
          <a:solidFill>
            <a:srgbClr val="F4F7FA"/>
          </a:solidFill>
          <a:ln w="9525">
            <a:solidFill>
              <a:srgbClr val="D9E2EA"/>
            </a:solidFill>
            <a:prstDash val="solid"/>
          </a:ln>
        </p:spPr>
        <p:txBody>
          <a:bodyPr/>
          <a:lstStyle/>
          <a:p>
            <a:endParaRPr lang="en-US"/>
          </a:p>
        </p:txBody>
      </p:sp>
      <p:sp>
        <p:nvSpPr>
          <p:cNvPr id="5" name="Text 3"/>
          <p:cNvSpPr/>
          <p:nvPr/>
        </p:nvSpPr>
        <p:spPr>
          <a:xfrm>
            <a:off x="7882128" y="274320"/>
            <a:ext cx="804672" cy="256032"/>
          </a:xfrm>
          <a:prstGeom prst="rect">
            <a:avLst/>
          </a:prstGeom>
          <a:noFill/>
          <a:ln/>
        </p:spPr>
        <p:txBody>
          <a:bodyPr wrap="square" lIns="0" tIns="0" rIns="0" bIns="0" rtlCol="0" anchor="ctr"/>
          <a:lstStyle/>
          <a:p>
            <a:pPr marL="0" indent="0" algn="ctr">
              <a:buNone/>
            </a:pPr>
            <a:r>
              <a:rPr lang="en-US" sz="950" b="1">
                <a:solidFill>
                  <a:srgbClr val="5A6B7C"/>
                </a:solidFill>
                <a:latin typeface="Calibri" pitchFamily="34" charset="0"/>
                <a:ea typeface="Calibri" pitchFamily="34" charset="-122"/>
                <a:cs typeface="Calibri" pitchFamily="34" charset="-120"/>
              </a:rPr>
              <a:t>ROSS</a:t>
            </a:r>
            <a:endParaRPr lang="en-US" sz="95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02920" y="1207008"/>
          <a:ext cx="5029200" cy="2194560"/>
        </p:xfrm>
        <a:graphic>
          <a:graphicData uri="http://schemas.openxmlformats.org/drawingml/2006/table">
            <a:tbl>
              <a:tblPr/>
              <a:tblGrid>
                <a:gridCol w="1371600">
                  <a:extLst>
                    <a:ext uri="{9D8B030D-6E8A-4147-A177-3AD203B41FA5}">
                      <a16:colId xmlns:a16="http://schemas.microsoft.com/office/drawing/2014/main" val="20000"/>
                    </a:ext>
                  </a:extLst>
                </a:gridCol>
                <a:gridCol w="1965960">
                  <a:extLst>
                    <a:ext uri="{9D8B030D-6E8A-4147-A177-3AD203B41FA5}">
                      <a16:colId xmlns:a16="http://schemas.microsoft.com/office/drawing/2014/main" val="20001"/>
                    </a:ext>
                  </a:extLst>
                </a:gridCol>
                <a:gridCol w="1691640">
                  <a:extLst>
                    <a:ext uri="{9D8B030D-6E8A-4147-A177-3AD203B41FA5}">
                      <a16:colId xmlns:a16="http://schemas.microsoft.com/office/drawing/2014/main" val="20002"/>
                    </a:ext>
                  </a:extLst>
                </a:gridCol>
              </a:tblGrid>
              <a:tr h="365760">
                <a:tc>
                  <a:txBody>
                    <a:bodyPr/>
                    <a:lstStyle/>
                    <a:p>
                      <a:pPr marL="0" indent="0">
                        <a:buNone/>
                      </a:pPr>
                      <a:r>
                        <a:rPr lang="en-US" sz="1100" b="1">
                          <a:solidFill>
                            <a:srgbClr val="FFFFFF"/>
                          </a:solidFill>
                          <a:latin typeface="Calibri" pitchFamily="34" charset="0"/>
                          <a:ea typeface="Calibri" pitchFamily="34" charset="-122"/>
                          <a:cs typeface="Calibri" pitchFamily="34" charset="-120"/>
                        </a:rPr>
                        <a:t>Layer</a:t>
                      </a:r>
                      <a:endParaRPr lang="en-US" sz="1100">
                        <a:latin typeface="Calibri" charset="0"/>
                        <a:ea typeface="Calibri" charset="0"/>
                        <a:cs typeface="Calibri" charset="0"/>
                      </a:endParaRPr>
                    </a:p>
                  </a:txBody>
                  <a:tcPr marL="109728" marR="10972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0F2942"/>
                    </a:solidFill>
                  </a:tcPr>
                </a:tc>
                <a:tc>
                  <a:txBody>
                    <a:bodyPr/>
                    <a:lstStyle/>
                    <a:p>
                      <a:pPr marL="0" indent="0">
                        <a:buNone/>
                      </a:pPr>
                      <a:r>
                        <a:rPr lang="en-US" sz="1100" b="1">
                          <a:solidFill>
                            <a:srgbClr val="FFFFFF"/>
                          </a:solidFill>
                          <a:latin typeface="Calibri" pitchFamily="34" charset="0"/>
                          <a:ea typeface="Calibri" pitchFamily="34" charset="-122"/>
                          <a:cs typeface="Calibri" pitchFamily="34" charset="-120"/>
                        </a:rPr>
                        <a:t>AWS (built)</a:t>
                      </a:r>
                      <a:endParaRPr lang="en-US" sz="1100">
                        <a:latin typeface="Calibri" charset="0"/>
                        <a:ea typeface="Calibri" charset="0"/>
                        <a:cs typeface="Calibri" charset="0"/>
                      </a:endParaRPr>
                    </a:p>
                  </a:txBody>
                  <a:tcPr marL="109728" marR="10972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0F2942"/>
                    </a:solidFill>
                  </a:tcPr>
                </a:tc>
                <a:tc>
                  <a:txBody>
                    <a:bodyPr/>
                    <a:lstStyle/>
                    <a:p>
                      <a:pPr marL="0" indent="0">
                        <a:buNone/>
                      </a:pPr>
                      <a:r>
                        <a:rPr lang="en-US" sz="1100" b="1">
                          <a:solidFill>
                            <a:srgbClr val="FFFFFF"/>
                          </a:solidFill>
                          <a:latin typeface="Calibri" pitchFamily="34" charset="0"/>
                          <a:ea typeface="Calibri" pitchFamily="34" charset="-122"/>
                          <a:cs typeface="Calibri" pitchFamily="34" charset="-120"/>
                        </a:rPr>
                        <a:t>GCP equivalent</a:t>
                      </a:r>
                      <a:endParaRPr lang="en-US" sz="1100">
                        <a:latin typeface="Calibri" charset="0"/>
                        <a:ea typeface="Calibri" charset="0"/>
                        <a:cs typeface="Calibri" charset="0"/>
                      </a:endParaRPr>
                    </a:p>
                  </a:txBody>
                  <a:tcPr marL="109728" marR="10972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0F2942"/>
                    </a:solidFill>
                  </a:tcPr>
                </a:tc>
                <a:extLst>
                  <a:ext uri="{0D108BD9-81ED-4DB2-BD59-A6C34878D82A}">
                    <a16:rowId xmlns:a16="http://schemas.microsoft.com/office/drawing/2014/main" val="10000"/>
                  </a:ext>
                </a:extLst>
              </a:tr>
              <a:tr h="365760">
                <a:tc>
                  <a:txBody>
                    <a:bodyPr/>
                    <a:lstStyle/>
                    <a:p>
                      <a:pPr marL="0" indent="0">
                        <a:buNone/>
                      </a:pPr>
                      <a:r>
                        <a:rPr lang="en-US" sz="1100">
                          <a:solidFill>
                            <a:srgbClr val="1B2B3A"/>
                          </a:solidFill>
                          <a:latin typeface="Calibri" pitchFamily="34" charset="0"/>
                          <a:ea typeface="Calibri" pitchFamily="34" charset="-122"/>
                          <a:cs typeface="Calibri" pitchFamily="34" charset="-120"/>
                        </a:rPr>
                        <a:t>Storage</a:t>
                      </a:r>
                      <a:endParaRPr lang="en-US" sz="1100">
                        <a:latin typeface="Calibri" charset="0"/>
                        <a:ea typeface="Calibri" charset="0"/>
                        <a:cs typeface="Calibri" charset="0"/>
                      </a:endParaRPr>
                    </a:p>
                  </a:txBody>
                  <a:tcPr marL="109728" marR="10972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tcPr>
                </a:tc>
                <a:tc>
                  <a:txBody>
                    <a:bodyPr/>
                    <a:lstStyle/>
                    <a:p>
                      <a:pPr marL="0" indent="0">
                        <a:buNone/>
                      </a:pPr>
                      <a:r>
                        <a:rPr lang="en-US" sz="1100">
                          <a:solidFill>
                            <a:srgbClr val="1B2B3A"/>
                          </a:solidFill>
                          <a:latin typeface="Calibri" pitchFamily="34" charset="0"/>
                          <a:ea typeface="Calibri" pitchFamily="34" charset="-122"/>
                          <a:cs typeface="Calibri" pitchFamily="34" charset="-120"/>
                        </a:rPr>
                        <a:t>S3, zoned</a:t>
                      </a:r>
                      <a:endParaRPr lang="en-US" sz="1100">
                        <a:latin typeface="Calibri" charset="0"/>
                        <a:ea typeface="Calibri" charset="0"/>
                        <a:cs typeface="Calibri" charset="0"/>
                      </a:endParaRPr>
                    </a:p>
                  </a:txBody>
                  <a:tcPr marL="109728" marR="10972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tcPr>
                </a:tc>
                <a:tc>
                  <a:txBody>
                    <a:bodyPr/>
                    <a:lstStyle/>
                    <a:p>
                      <a:pPr marL="0" indent="0">
                        <a:buNone/>
                      </a:pPr>
                      <a:r>
                        <a:rPr lang="en-US" sz="1100">
                          <a:solidFill>
                            <a:srgbClr val="1B2B3A"/>
                          </a:solidFill>
                          <a:latin typeface="Calibri" pitchFamily="34" charset="0"/>
                          <a:ea typeface="Calibri" pitchFamily="34" charset="-122"/>
                          <a:cs typeface="Calibri" pitchFamily="34" charset="-120"/>
                        </a:rPr>
                        <a:t>Cloud Storage</a:t>
                      </a:r>
                      <a:endParaRPr lang="en-US" sz="1100">
                        <a:latin typeface="Calibri" charset="0"/>
                        <a:ea typeface="Calibri" charset="0"/>
                        <a:cs typeface="Calibri" charset="0"/>
                      </a:endParaRPr>
                    </a:p>
                  </a:txBody>
                  <a:tcPr marL="109728" marR="10972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tcPr>
                </a:tc>
                <a:extLst>
                  <a:ext uri="{0D108BD9-81ED-4DB2-BD59-A6C34878D82A}">
                    <a16:rowId xmlns:a16="http://schemas.microsoft.com/office/drawing/2014/main" val="10001"/>
                  </a:ext>
                </a:extLst>
              </a:tr>
              <a:tr h="365760">
                <a:tc>
                  <a:txBody>
                    <a:bodyPr/>
                    <a:lstStyle/>
                    <a:p>
                      <a:pPr marL="0" indent="0">
                        <a:buNone/>
                      </a:pPr>
                      <a:r>
                        <a:rPr lang="en-US" sz="1100">
                          <a:solidFill>
                            <a:srgbClr val="1B2B3A"/>
                          </a:solidFill>
                          <a:latin typeface="Calibri" pitchFamily="34" charset="0"/>
                          <a:ea typeface="Calibri" pitchFamily="34" charset="-122"/>
                          <a:cs typeface="Calibri" pitchFamily="34" charset="-120"/>
                        </a:rPr>
                        <a:t>Transformation</a:t>
                      </a:r>
                      <a:endParaRPr lang="en-US" sz="1100">
                        <a:latin typeface="Calibri" charset="0"/>
                        <a:ea typeface="Calibri" charset="0"/>
                        <a:cs typeface="Calibri" charset="0"/>
                      </a:endParaRPr>
                    </a:p>
                  </a:txBody>
                  <a:tcPr marL="109728" marR="10972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tcPr>
                </a:tc>
                <a:tc>
                  <a:txBody>
                    <a:bodyPr/>
                    <a:lstStyle/>
                    <a:p>
                      <a:pPr marL="0" indent="0">
                        <a:buNone/>
                      </a:pPr>
                      <a:r>
                        <a:rPr lang="en-US" sz="1100">
                          <a:solidFill>
                            <a:srgbClr val="1B2B3A"/>
                          </a:solidFill>
                          <a:latin typeface="Calibri" pitchFamily="34" charset="0"/>
                          <a:ea typeface="Calibri" pitchFamily="34" charset="-122"/>
                          <a:cs typeface="Calibri" pitchFamily="34" charset="-120"/>
                        </a:rPr>
                        <a:t>Local melt + Athena CTAS</a:t>
                      </a:r>
                      <a:endParaRPr lang="en-US" sz="1100">
                        <a:latin typeface="Calibri" charset="0"/>
                        <a:ea typeface="Calibri" charset="0"/>
                        <a:cs typeface="Calibri" charset="0"/>
                      </a:endParaRPr>
                    </a:p>
                  </a:txBody>
                  <a:tcPr marL="109728" marR="10972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tcPr>
                </a:tc>
                <a:tc>
                  <a:txBody>
                    <a:bodyPr/>
                    <a:lstStyle/>
                    <a:p>
                      <a:pPr marL="0" indent="0">
                        <a:buNone/>
                      </a:pPr>
                      <a:r>
                        <a:rPr lang="en-US" sz="1100">
                          <a:solidFill>
                            <a:srgbClr val="1B2B3A"/>
                          </a:solidFill>
                          <a:latin typeface="Calibri" pitchFamily="34" charset="0"/>
                          <a:ea typeface="Calibri" pitchFamily="34" charset="-122"/>
                          <a:cs typeface="Calibri" pitchFamily="34" charset="-120"/>
                        </a:rPr>
                        <a:t>Dataflow</a:t>
                      </a:r>
                      <a:endParaRPr lang="en-US" sz="1100">
                        <a:latin typeface="Calibri" charset="0"/>
                        <a:ea typeface="Calibri" charset="0"/>
                        <a:cs typeface="Calibri" charset="0"/>
                      </a:endParaRPr>
                    </a:p>
                  </a:txBody>
                  <a:tcPr marL="109728" marR="10972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tcPr>
                </a:tc>
                <a:extLst>
                  <a:ext uri="{0D108BD9-81ED-4DB2-BD59-A6C34878D82A}">
                    <a16:rowId xmlns:a16="http://schemas.microsoft.com/office/drawing/2014/main" val="10002"/>
                  </a:ext>
                </a:extLst>
              </a:tr>
              <a:tr h="365760">
                <a:tc>
                  <a:txBody>
                    <a:bodyPr/>
                    <a:lstStyle/>
                    <a:p>
                      <a:pPr marL="0" indent="0">
                        <a:buNone/>
                      </a:pPr>
                      <a:r>
                        <a:rPr lang="en-US" sz="1100">
                          <a:solidFill>
                            <a:srgbClr val="1B2B3A"/>
                          </a:solidFill>
                          <a:latin typeface="Calibri" pitchFamily="34" charset="0"/>
                          <a:ea typeface="Calibri" pitchFamily="34" charset="-122"/>
                          <a:cs typeface="Calibri" pitchFamily="34" charset="-120"/>
                        </a:rPr>
                        <a:t>Catalog</a:t>
                      </a:r>
                      <a:endParaRPr lang="en-US" sz="1100">
                        <a:latin typeface="Calibri" charset="0"/>
                        <a:ea typeface="Calibri" charset="0"/>
                        <a:cs typeface="Calibri" charset="0"/>
                      </a:endParaRPr>
                    </a:p>
                  </a:txBody>
                  <a:tcPr marL="109728" marR="10972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tcPr>
                </a:tc>
                <a:tc>
                  <a:txBody>
                    <a:bodyPr/>
                    <a:lstStyle/>
                    <a:p>
                      <a:pPr marL="0" indent="0">
                        <a:buNone/>
                      </a:pPr>
                      <a:r>
                        <a:rPr lang="en-US" sz="1100">
                          <a:solidFill>
                            <a:srgbClr val="1B2B3A"/>
                          </a:solidFill>
                          <a:latin typeface="Calibri" pitchFamily="34" charset="0"/>
                          <a:ea typeface="Calibri" pitchFamily="34" charset="-122"/>
                          <a:cs typeface="Calibri" pitchFamily="34" charset="-120"/>
                        </a:rPr>
                        <a:t>Glue Data Catalog</a:t>
                      </a:r>
                      <a:endParaRPr lang="en-US" sz="1100">
                        <a:latin typeface="Calibri" charset="0"/>
                        <a:ea typeface="Calibri" charset="0"/>
                        <a:cs typeface="Calibri" charset="0"/>
                      </a:endParaRPr>
                    </a:p>
                  </a:txBody>
                  <a:tcPr marL="109728" marR="10972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tcPr>
                </a:tc>
                <a:tc>
                  <a:txBody>
                    <a:bodyPr/>
                    <a:lstStyle/>
                    <a:p>
                      <a:pPr marL="0" indent="0">
                        <a:buNone/>
                      </a:pPr>
                      <a:r>
                        <a:rPr lang="en-US" sz="1100">
                          <a:solidFill>
                            <a:srgbClr val="1B2B3A"/>
                          </a:solidFill>
                          <a:latin typeface="Calibri" pitchFamily="34" charset="0"/>
                          <a:ea typeface="Calibri" pitchFamily="34" charset="-122"/>
                          <a:cs typeface="Calibri" pitchFamily="34" charset="-120"/>
                        </a:rPr>
                        <a:t>Dataproc Metastore</a:t>
                      </a:r>
                      <a:endParaRPr lang="en-US" sz="1100">
                        <a:latin typeface="Calibri" charset="0"/>
                        <a:ea typeface="Calibri" charset="0"/>
                        <a:cs typeface="Calibri" charset="0"/>
                      </a:endParaRPr>
                    </a:p>
                  </a:txBody>
                  <a:tcPr marL="109728" marR="10972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tcPr>
                </a:tc>
                <a:extLst>
                  <a:ext uri="{0D108BD9-81ED-4DB2-BD59-A6C34878D82A}">
                    <a16:rowId xmlns:a16="http://schemas.microsoft.com/office/drawing/2014/main" val="10003"/>
                  </a:ext>
                </a:extLst>
              </a:tr>
              <a:tr h="365760">
                <a:tc>
                  <a:txBody>
                    <a:bodyPr/>
                    <a:lstStyle/>
                    <a:p>
                      <a:pPr marL="0" indent="0">
                        <a:buNone/>
                      </a:pPr>
                      <a:r>
                        <a:rPr lang="en-US" sz="1100">
                          <a:solidFill>
                            <a:srgbClr val="1B2B3A"/>
                          </a:solidFill>
                          <a:latin typeface="Calibri" pitchFamily="34" charset="0"/>
                          <a:ea typeface="Calibri" pitchFamily="34" charset="-122"/>
                          <a:cs typeface="Calibri" pitchFamily="34" charset="-120"/>
                        </a:rPr>
                        <a:t>Query</a:t>
                      </a:r>
                      <a:endParaRPr lang="en-US" sz="1100">
                        <a:latin typeface="Calibri" charset="0"/>
                        <a:ea typeface="Calibri" charset="0"/>
                        <a:cs typeface="Calibri" charset="0"/>
                      </a:endParaRPr>
                    </a:p>
                  </a:txBody>
                  <a:tcPr marL="109728" marR="10972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tcPr>
                </a:tc>
                <a:tc>
                  <a:txBody>
                    <a:bodyPr/>
                    <a:lstStyle/>
                    <a:p>
                      <a:pPr marL="0" indent="0">
                        <a:buNone/>
                      </a:pPr>
                      <a:r>
                        <a:rPr lang="en-US" sz="1100">
                          <a:solidFill>
                            <a:srgbClr val="1B2B3A"/>
                          </a:solidFill>
                          <a:latin typeface="Calibri" pitchFamily="34" charset="0"/>
                          <a:ea typeface="Calibri" pitchFamily="34" charset="-122"/>
                          <a:cs typeface="Calibri" pitchFamily="34" charset="-120"/>
                        </a:rPr>
                        <a:t>Athena</a:t>
                      </a:r>
                      <a:endParaRPr lang="en-US" sz="1100">
                        <a:latin typeface="Calibri" charset="0"/>
                        <a:ea typeface="Calibri" charset="0"/>
                        <a:cs typeface="Calibri" charset="0"/>
                      </a:endParaRPr>
                    </a:p>
                  </a:txBody>
                  <a:tcPr marL="109728" marR="10972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tcPr>
                </a:tc>
                <a:tc>
                  <a:txBody>
                    <a:bodyPr/>
                    <a:lstStyle/>
                    <a:p>
                      <a:pPr marL="0" indent="0">
                        <a:buNone/>
                      </a:pPr>
                      <a:r>
                        <a:rPr lang="en-US" sz="1100">
                          <a:solidFill>
                            <a:srgbClr val="1B2B3A"/>
                          </a:solidFill>
                          <a:latin typeface="Calibri" pitchFamily="34" charset="0"/>
                          <a:ea typeface="Calibri" pitchFamily="34" charset="-122"/>
                          <a:cs typeface="Calibri" pitchFamily="34" charset="-120"/>
                        </a:rPr>
                        <a:t>BigQuery</a:t>
                      </a:r>
                      <a:endParaRPr lang="en-US" sz="1100">
                        <a:latin typeface="Calibri" charset="0"/>
                        <a:ea typeface="Calibri" charset="0"/>
                        <a:cs typeface="Calibri" charset="0"/>
                      </a:endParaRPr>
                    </a:p>
                  </a:txBody>
                  <a:tcPr marL="109728" marR="10972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tcPr>
                </a:tc>
                <a:extLst>
                  <a:ext uri="{0D108BD9-81ED-4DB2-BD59-A6C34878D82A}">
                    <a16:rowId xmlns:a16="http://schemas.microsoft.com/office/drawing/2014/main" val="10004"/>
                  </a:ext>
                </a:extLst>
              </a:tr>
              <a:tr h="365760">
                <a:tc>
                  <a:txBody>
                    <a:bodyPr/>
                    <a:lstStyle/>
                    <a:p>
                      <a:pPr marL="0" indent="0">
                        <a:buNone/>
                      </a:pPr>
                      <a:r>
                        <a:rPr lang="en-US" sz="1100">
                          <a:solidFill>
                            <a:srgbClr val="1B2B3A"/>
                          </a:solidFill>
                          <a:latin typeface="Calibri" pitchFamily="34" charset="0"/>
                          <a:ea typeface="Calibri" pitchFamily="34" charset="-122"/>
                          <a:cs typeface="Calibri" pitchFamily="34" charset="-120"/>
                        </a:rPr>
                        <a:t>Output</a:t>
                      </a:r>
                      <a:endParaRPr lang="en-US" sz="1100">
                        <a:latin typeface="Calibri" charset="0"/>
                        <a:ea typeface="Calibri" charset="0"/>
                        <a:cs typeface="Calibri" charset="0"/>
                      </a:endParaRPr>
                    </a:p>
                  </a:txBody>
                  <a:tcPr marL="109728" marR="10972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tcPr>
                </a:tc>
                <a:tc>
                  <a:txBody>
                    <a:bodyPr/>
                    <a:lstStyle/>
                    <a:p>
                      <a:pPr marL="0" indent="0">
                        <a:buNone/>
                      </a:pPr>
                      <a:r>
                        <a:rPr lang="en-US" sz="1100">
                          <a:solidFill>
                            <a:srgbClr val="1B2B3A"/>
                          </a:solidFill>
                          <a:latin typeface="Calibri" pitchFamily="34" charset="0"/>
                          <a:ea typeface="Calibri" pitchFamily="34" charset="-122"/>
                          <a:cs typeface="Calibri" pitchFamily="34" charset="-120"/>
                        </a:rPr>
                        <a:t>QuickSight</a:t>
                      </a:r>
                      <a:endParaRPr lang="en-US" sz="1100">
                        <a:latin typeface="Calibri" charset="0"/>
                        <a:ea typeface="Calibri" charset="0"/>
                        <a:cs typeface="Calibri" charset="0"/>
                      </a:endParaRPr>
                    </a:p>
                  </a:txBody>
                  <a:tcPr marL="109728" marR="10972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tcPr>
                </a:tc>
                <a:tc>
                  <a:txBody>
                    <a:bodyPr/>
                    <a:lstStyle/>
                    <a:p>
                      <a:pPr marL="0" indent="0">
                        <a:buNone/>
                      </a:pPr>
                      <a:r>
                        <a:rPr lang="en-US" sz="1100">
                          <a:solidFill>
                            <a:srgbClr val="1B2B3A"/>
                          </a:solidFill>
                          <a:latin typeface="Calibri" pitchFamily="34" charset="0"/>
                          <a:ea typeface="Calibri" pitchFamily="34" charset="-122"/>
                          <a:cs typeface="Calibri" pitchFamily="34" charset="-120"/>
                        </a:rPr>
                        <a:t>Looker Studio</a:t>
                      </a:r>
                      <a:endParaRPr lang="en-US" sz="1100">
                        <a:latin typeface="Calibri" charset="0"/>
                        <a:ea typeface="Calibri" charset="0"/>
                        <a:cs typeface="Calibri" charset="0"/>
                      </a:endParaRPr>
                    </a:p>
                  </a:txBody>
                  <a:tcPr marL="109728" marR="109728"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7" name="Shape 4"/>
          <p:cNvSpPr/>
          <p:nvPr/>
        </p:nvSpPr>
        <p:spPr>
          <a:xfrm>
            <a:off x="5760720" y="1207008"/>
            <a:ext cx="2880360" cy="1234440"/>
          </a:xfrm>
          <a:prstGeom prst="roundRect">
            <a:avLst>
              <a:gd name="adj" fmla="val 4444"/>
            </a:avLst>
          </a:prstGeom>
          <a:solidFill>
            <a:srgbClr val="F4F7FA"/>
          </a:solidFill>
          <a:ln w="9525">
            <a:solidFill>
              <a:srgbClr val="D9E2EA"/>
            </a:solidFill>
            <a:prstDash val="solid"/>
          </a:ln>
        </p:spPr>
        <p:txBody>
          <a:bodyPr/>
          <a:lstStyle/>
          <a:p>
            <a:endParaRPr lang="en-US"/>
          </a:p>
        </p:txBody>
      </p:sp>
      <p:sp>
        <p:nvSpPr>
          <p:cNvPr id="8" name="Text 5"/>
          <p:cNvSpPr/>
          <p:nvPr/>
        </p:nvSpPr>
        <p:spPr>
          <a:xfrm>
            <a:off x="5989320" y="1316736"/>
            <a:ext cx="2468880" cy="237744"/>
          </a:xfrm>
          <a:prstGeom prst="rect">
            <a:avLst/>
          </a:prstGeom>
          <a:noFill/>
          <a:ln/>
        </p:spPr>
        <p:txBody>
          <a:bodyPr wrap="square" lIns="0" tIns="0" rIns="0" bIns="0" rtlCol="0" anchor="ctr"/>
          <a:lstStyle/>
          <a:p>
            <a:pPr marL="0" indent="0">
              <a:buNone/>
            </a:pPr>
            <a:r>
              <a:rPr lang="en-US" sz="1200" b="1">
                <a:solidFill>
                  <a:srgbClr val="2E86AB"/>
                </a:solidFill>
                <a:latin typeface="Calibri" pitchFamily="34" charset="0"/>
                <a:ea typeface="Calibri" pitchFamily="34" charset="-122"/>
                <a:cs typeface="Calibri" pitchFamily="34" charset="-120"/>
              </a:rPr>
              <a:t>Athena and BigQuery</a:t>
            </a:r>
            <a:endParaRPr lang="en-US" sz="1200"/>
          </a:p>
        </p:txBody>
      </p:sp>
      <p:sp>
        <p:nvSpPr>
          <p:cNvPr id="9" name="Text 6"/>
          <p:cNvSpPr/>
          <p:nvPr/>
        </p:nvSpPr>
        <p:spPr>
          <a:xfrm>
            <a:off x="5989320" y="1572768"/>
            <a:ext cx="2423160" cy="777240"/>
          </a:xfrm>
          <a:prstGeom prst="rect">
            <a:avLst/>
          </a:prstGeom>
          <a:noFill/>
          <a:ln/>
        </p:spPr>
        <p:txBody>
          <a:bodyPr wrap="square" lIns="0" tIns="0" rIns="0" bIns="0" rtlCol="0" anchor="ctr"/>
          <a:lstStyle/>
          <a:p>
            <a:pPr marL="0" indent="0">
              <a:buNone/>
            </a:pPr>
            <a:r>
              <a:rPr lang="en-US" sz="1050">
                <a:solidFill>
                  <a:srgbClr val="1B2B3A"/>
                </a:solidFill>
                <a:latin typeface="Calibri" pitchFamily="34" charset="0"/>
                <a:ea typeface="Calibri" pitchFamily="34" charset="-122"/>
                <a:cs typeface="Calibri" pitchFamily="34" charset="-120"/>
              </a:rPr>
              <a:t>Both are serverless and both charge per query, so the cost model is very similar.</a:t>
            </a:r>
            <a:endParaRPr lang="en-US" sz="1050"/>
          </a:p>
        </p:txBody>
      </p:sp>
      <p:sp>
        <p:nvSpPr>
          <p:cNvPr id="10" name="Shape 7"/>
          <p:cNvSpPr/>
          <p:nvPr/>
        </p:nvSpPr>
        <p:spPr>
          <a:xfrm>
            <a:off x="5760720" y="2578608"/>
            <a:ext cx="2880360" cy="1371600"/>
          </a:xfrm>
          <a:prstGeom prst="roundRect">
            <a:avLst>
              <a:gd name="adj" fmla="val 4000"/>
            </a:avLst>
          </a:prstGeom>
          <a:solidFill>
            <a:srgbClr val="F4F7FA"/>
          </a:solidFill>
          <a:ln w="9525">
            <a:solidFill>
              <a:srgbClr val="D9E2EA"/>
            </a:solidFill>
            <a:prstDash val="solid"/>
          </a:ln>
        </p:spPr>
        <p:txBody>
          <a:bodyPr/>
          <a:lstStyle/>
          <a:p>
            <a:endParaRPr lang="en-US"/>
          </a:p>
        </p:txBody>
      </p:sp>
      <p:sp>
        <p:nvSpPr>
          <p:cNvPr id="11" name="Text 8"/>
          <p:cNvSpPr/>
          <p:nvPr/>
        </p:nvSpPr>
        <p:spPr>
          <a:xfrm>
            <a:off x="5989320" y="2688336"/>
            <a:ext cx="2468880" cy="237744"/>
          </a:xfrm>
          <a:prstGeom prst="rect">
            <a:avLst/>
          </a:prstGeom>
          <a:noFill/>
          <a:ln/>
        </p:spPr>
        <p:txBody>
          <a:bodyPr wrap="square" lIns="0" tIns="0" rIns="0" bIns="0" rtlCol="0" anchor="ctr"/>
          <a:lstStyle/>
          <a:p>
            <a:pPr marL="0" indent="0">
              <a:buNone/>
            </a:pPr>
            <a:r>
              <a:rPr lang="en-US" sz="1200" b="1">
                <a:solidFill>
                  <a:srgbClr val="2E86AB"/>
                </a:solidFill>
                <a:latin typeface="Calibri" pitchFamily="34" charset="0"/>
                <a:ea typeface="Calibri" pitchFamily="34" charset="-122"/>
                <a:cs typeface="Calibri" pitchFamily="34" charset="-120"/>
              </a:rPr>
              <a:t>The main difference</a:t>
            </a:r>
            <a:endParaRPr lang="en-US" sz="1200"/>
          </a:p>
        </p:txBody>
      </p:sp>
      <p:sp>
        <p:nvSpPr>
          <p:cNvPr id="12" name="Text 9"/>
          <p:cNvSpPr/>
          <p:nvPr/>
        </p:nvSpPr>
        <p:spPr>
          <a:xfrm>
            <a:off x="5989320" y="2944368"/>
            <a:ext cx="2423160" cy="914400"/>
          </a:xfrm>
          <a:prstGeom prst="rect">
            <a:avLst/>
          </a:prstGeom>
          <a:noFill/>
          <a:ln/>
        </p:spPr>
        <p:txBody>
          <a:bodyPr wrap="square" lIns="0" tIns="0" rIns="0" bIns="0" rtlCol="0" anchor="ctr"/>
          <a:lstStyle/>
          <a:p>
            <a:pPr marL="0" indent="0">
              <a:buNone/>
            </a:pPr>
            <a:r>
              <a:rPr lang="en-US" sz="1050">
                <a:solidFill>
                  <a:srgbClr val="1B2B3A"/>
                </a:solidFill>
                <a:latin typeface="Calibri" pitchFamily="34" charset="0"/>
                <a:ea typeface="Calibri" pitchFamily="34" charset="-122"/>
                <a:cs typeface="Calibri" pitchFamily="34" charset="-120"/>
              </a:rPr>
              <a:t>BigQuery is a managed warehouse with its own storage, so you would normally load the data into it. Athena reads the files where they are, which suited a fixed dataset we did not want to duplicate.</a:t>
            </a:r>
            <a:endParaRPr lang="en-US" sz="1050"/>
          </a:p>
        </p:txBody>
      </p:sp>
      <p:sp>
        <p:nvSpPr>
          <p:cNvPr id="13" name="Shape 10"/>
          <p:cNvSpPr/>
          <p:nvPr/>
        </p:nvSpPr>
        <p:spPr>
          <a:xfrm>
            <a:off x="502920" y="4114800"/>
            <a:ext cx="8138160" cy="594360"/>
          </a:xfrm>
          <a:prstGeom prst="roundRect">
            <a:avLst>
              <a:gd name="adj" fmla="val 9231"/>
            </a:avLst>
          </a:prstGeom>
          <a:solidFill>
            <a:srgbClr val="F4F7FA"/>
          </a:solidFill>
          <a:ln w="9525">
            <a:solidFill>
              <a:srgbClr val="D9E2EA"/>
            </a:solidFill>
            <a:prstDash val="solid"/>
          </a:ln>
        </p:spPr>
        <p:txBody>
          <a:bodyPr/>
          <a:lstStyle/>
          <a:p>
            <a:endParaRPr lang="en-US"/>
          </a:p>
        </p:txBody>
      </p:sp>
      <p:sp>
        <p:nvSpPr>
          <p:cNvPr id="14" name="Text 11"/>
          <p:cNvSpPr/>
          <p:nvPr/>
        </p:nvSpPr>
        <p:spPr>
          <a:xfrm>
            <a:off x="749808" y="4187952"/>
            <a:ext cx="7680960" cy="448056"/>
          </a:xfrm>
          <a:prstGeom prst="rect">
            <a:avLst/>
          </a:prstGeom>
          <a:noFill/>
          <a:ln/>
        </p:spPr>
        <p:txBody>
          <a:bodyPr wrap="square" lIns="0" tIns="0" rIns="0" bIns="0" rtlCol="0" anchor="ctr"/>
          <a:lstStyle/>
          <a:p>
            <a:pPr marL="0" indent="0">
              <a:buNone/>
            </a:pPr>
            <a:r>
              <a:rPr lang="en-US" sz="1100" b="1">
                <a:solidFill>
                  <a:srgbClr val="0F2942"/>
                </a:solidFill>
                <a:latin typeface="Calibri" pitchFamily="34" charset="0"/>
                <a:ea typeface="Calibri" pitchFamily="34" charset="-122"/>
                <a:cs typeface="Calibri" pitchFamily="34" charset="-120"/>
              </a:rPr>
              <a:t>Why AWS:  </a:t>
            </a:r>
            <a:r>
              <a:rPr lang="en-US" sz="1100">
                <a:solidFill>
                  <a:srgbClr val="1B2B3A"/>
                </a:solidFill>
                <a:latin typeface="Calibri" pitchFamily="34" charset="0"/>
                <a:ea typeface="Calibri" pitchFamily="34" charset="-122"/>
                <a:cs typeface="Calibri" pitchFamily="34" charset="-120"/>
              </a:rPr>
              <a:t>it is the platform we used during the course. Nothing in the design is specific to AWS, and the layer boundaries would stay the same on GCP.</a:t>
            </a:r>
            <a:endParaRPr lang="en-US" sz="1100"/>
          </a:p>
        </p:txBody>
      </p:sp>
      <p:sp>
        <p:nvSpPr>
          <p:cNvPr id="15" name="Text 12"/>
          <p:cNvSpPr/>
          <p:nvPr/>
        </p:nvSpPr>
        <p:spPr>
          <a:xfrm>
            <a:off x="502920" y="4718304"/>
            <a:ext cx="5486400" cy="228600"/>
          </a:xfrm>
          <a:prstGeom prst="rect">
            <a:avLst/>
          </a:prstGeom>
          <a:noFill/>
          <a:ln/>
        </p:spPr>
        <p:txBody>
          <a:bodyPr wrap="square" lIns="0" tIns="0" rIns="0" bIns="0" rtlCol="0" anchor="ctr"/>
          <a:lstStyle/>
          <a:p>
            <a:pPr marL="0" indent="0">
              <a:buNone/>
            </a:pPr>
            <a:r>
              <a:rPr lang="en-US" sz="850">
                <a:solidFill>
                  <a:srgbClr val="9AABB8"/>
                </a:solidFill>
                <a:latin typeface="Calibri" pitchFamily="34" charset="0"/>
                <a:ea typeface="Calibri" pitchFamily="34" charset="-122"/>
                <a:cs typeface="Calibri" pitchFamily="34" charset="-120"/>
              </a:rPr>
              <a:t>Group 5  ·  M5 Demand Forecasting on AWS</a:t>
            </a:r>
            <a:endParaRPr lang="en-US" sz="850"/>
          </a:p>
        </p:txBody>
      </p:sp>
      <p:sp>
        <p:nvSpPr>
          <p:cNvPr id="6" name="Text 13"/>
          <p:cNvSpPr/>
          <p:nvPr/>
        </p:nvSpPr>
        <p:spPr>
          <a:xfrm>
            <a:off x="8229600" y="4718304"/>
            <a:ext cx="411480" cy="228600"/>
          </a:xfrm>
          <a:prstGeom prst="rect">
            <a:avLst/>
          </a:prstGeom>
          <a:noFill/>
          <a:ln/>
        </p:spPr>
        <p:txBody>
          <a:bodyPr wrap="square" lIns="0" tIns="0" rIns="0" bIns="0" rtlCol="0" anchor="ctr"/>
          <a:lstStyle/>
          <a:p>
            <a:pPr marL="0" indent="0" algn="r">
              <a:buNone/>
            </a:pPr>
            <a:r>
              <a:rPr lang="en-US" sz="850">
                <a:solidFill>
                  <a:srgbClr val="9AABB8"/>
                </a:solidFill>
                <a:latin typeface="Calibri" pitchFamily="34" charset="0"/>
                <a:ea typeface="Calibri" pitchFamily="34" charset="-122"/>
                <a:cs typeface="Calibri" pitchFamily="34" charset="-120"/>
              </a:rPr>
              <a:t>15</a:t>
            </a:r>
            <a:endParaRPr lang="en-US" sz="85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2942"/>
        </a:solidFill>
        <a:effectLst/>
      </p:bgPr>
    </p:bg>
    <p:spTree>
      <p:nvGrpSpPr>
        <p:cNvPr id="1" name=""/>
        <p:cNvGrpSpPr/>
        <p:nvPr/>
      </p:nvGrpSpPr>
      <p:grpSpPr>
        <a:xfrm>
          <a:off x="0" y="0"/>
          <a:ext cx="0" cy="0"/>
          <a:chOff x="0" y="0"/>
          <a:chExt cx="0" cy="0"/>
        </a:xfrm>
      </p:grpSpPr>
      <p:sp>
        <p:nvSpPr>
          <p:cNvPr id="2" name="Text 0"/>
          <p:cNvSpPr/>
          <p:nvPr/>
        </p:nvSpPr>
        <p:spPr>
          <a:xfrm>
            <a:off x="548640" y="384048"/>
            <a:ext cx="8046720" cy="237744"/>
          </a:xfrm>
          <a:prstGeom prst="rect">
            <a:avLst/>
          </a:prstGeom>
          <a:noFill/>
          <a:ln/>
        </p:spPr>
        <p:txBody>
          <a:bodyPr wrap="square" lIns="0" tIns="0" rIns="0" bIns="0" rtlCol="0" anchor="ctr"/>
          <a:lstStyle/>
          <a:p>
            <a:pPr marL="0" indent="0">
              <a:buNone/>
            </a:pPr>
            <a:r>
              <a:rPr lang="en-US" sz="1100" b="1" kern="0" spc="160">
                <a:solidFill>
                  <a:srgbClr val="E8A33D"/>
                </a:solidFill>
                <a:latin typeface="Calibri" pitchFamily="34" charset="0"/>
                <a:ea typeface="Calibri" pitchFamily="34" charset="-122"/>
                <a:cs typeface="Calibri" pitchFamily="34" charset="-120"/>
              </a:rPr>
              <a:t>LIMITATIONS AND NEXT STEPS</a:t>
            </a:r>
            <a:endParaRPr lang="en-US" sz="1100"/>
          </a:p>
        </p:txBody>
      </p:sp>
      <p:sp>
        <p:nvSpPr>
          <p:cNvPr id="3" name="Text 1"/>
          <p:cNvSpPr/>
          <p:nvPr/>
        </p:nvSpPr>
        <p:spPr>
          <a:xfrm>
            <a:off x="548640" y="658368"/>
            <a:ext cx="8046720" cy="457200"/>
          </a:xfrm>
          <a:prstGeom prst="rect">
            <a:avLst/>
          </a:prstGeom>
          <a:noFill/>
          <a:ln/>
        </p:spPr>
        <p:txBody>
          <a:bodyPr wrap="square" lIns="0" tIns="0" rIns="0" bIns="0" rtlCol="0" anchor="ctr"/>
          <a:lstStyle/>
          <a:p>
            <a:pPr marL="0" indent="0">
              <a:buNone/>
            </a:pPr>
            <a:r>
              <a:rPr lang="en-US" sz="2600" b="1">
                <a:solidFill>
                  <a:srgbClr val="FFFFFF"/>
                </a:solidFill>
                <a:latin typeface="Cambria" pitchFamily="34" charset="0"/>
                <a:ea typeface="Cambria" pitchFamily="34" charset="-122"/>
                <a:cs typeface="Cambria" pitchFamily="34" charset="-120"/>
              </a:rPr>
              <a:t>Limitations and what we would do next</a:t>
            </a:r>
            <a:endParaRPr lang="en-US" sz="2600"/>
          </a:p>
        </p:txBody>
      </p:sp>
      <p:sp>
        <p:nvSpPr>
          <p:cNvPr id="4" name="Text 2"/>
          <p:cNvSpPr/>
          <p:nvPr/>
        </p:nvSpPr>
        <p:spPr>
          <a:xfrm>
            <a:off x="548640" y="1298448"/>
            <a:ext cx="2377440" cy="256032"/>
          </a:xfrm>
          <a:prstGeom prst="rect">
            <a:avLst/>
          </a:prstGeom>
          <a:noFill/>
          <a:ln/>
        </p:spPr>
        <p:txBody>
          <a:bodyPr wrap="square" lIns="0" tIns="0" rIns="0" bIns="0" rtlCol="0" anchor="ctr"/>
          <a:lstStyle/>
          <a:p>
            <a:pPr marL="0" indent="0">
              <a:buNone/>
            </a:pPr>
            <a:r>
              <a:rPr lang="en-US" sz="1250" b="1">
                <a:solidFill>
                  <a:srgbClr val="E8A33D"/>
                </a:solidFill>
                <a:latin typeface="Calibri" pitchFamily="34" charset="0"/>
                <a:ea typeface="Calibri" pitchFamily="34" charset="-122"/>
                <a:cs typeface="Calibri" pitchFamily="34" charset="-120"/>
              </a:rPr>
              <a:t>Scoped to one category</a:t>
            </a:r>
            <a:endParaRPr lang="en-US" sz="1250"/>
          </a:p>
        </p:txBody>
      </p:sp>
      <p:sp>
        <p:nvSpPr>
          <p:cNvPr id="5" name="Text 3"/>
          <p:cNvSpPr/>
          <p:nvPr/>
        </p:nvSpPr>
        <p:spPr>
          <a:xfrm>
            <a:off x="3017520" y="1298448"/>
            <a:ext cx="5577840" cy="548640"/>
          </a:xfrm>
          <a:prstGeom prst="rect">
            <a:avLst/>
          </a:prstGeom>
          <a:noFill/>
          <a:ln/>
        </p:spPr>
        <p:txBody>
          <a:bodyPr wrap="square" lIns="0" tIns="0" rIns="0" bIns="0" rtlCol="0" anchor="ctr"/>
          <a:lstStyle/>
          <a:p>
            <a:pPr marL="0" indent="0">
              <a:buNone/>
            </a:pPr>
            <a:r>
              <a:rPr lang="en-US" sz="1100">
                <a:solidFill>
                  <a:srgbClr val="C7DBE8"/>
                </a:solidFill>
                <a:latin typeface="Calibri" pitchFamily="34" charset="0"/>
                <a:ea typeface="Calibri" pitchFamily="34" charset="-122"/>
                <a:cs typeface="Calibri" pitchFamily="34" charset="-120"/>
              </a:rPr>
              <a:t>The models cover FOODS in California rather than all 30,490 series, because a single model covering every series runs into memory limits.</a:t>
            </a:r>
            <a:endParaRPr lang="en-US" sz="1100"/>
          </a:p>
        </p:txBody>
      </p:sp>
      <p:sp>
        <p:nvSpPr>
          <p:cNvPr id="6" name="Text 4"/>
          <p:cNvSpPr/>
          <p:nvPr/>
        </p:nvSpPr>
        <p:spPr>
          <a:xfrm>
            <a:off x="548640" y="2011680"/>
            <a:ext cx="2377440" cy="256032"/>
          </a:xfrm>
          <a:prstGeom prst="rect">
            <a:avLst/>
          </a:prstGeom>
          <a:noFill/>
          <a:ln/>
        </p:spPr>
        <p:txBody>
          <a:bodyPr wrap="square" lIns="0" tIns="0" rIns="0" bIns="0" rtlCol="0" anchor="ctr"/>
          <a:lstStyle/>
          <a:p>
            <a:pPr marL="0" indent="0">
              <a:buNone/>
            </a:pPr>
            <a:r>
              <a:rPr lang="en-US" sz="1250" b="1">
                <a:solidFill>
                  <a:srgbClr val="E8A33D"/>
                </a:solidFill>
                <a:latin typeface="Calibri" pitchFamily="34" charset="0"/>
                <a:ea typeface="Calibri" pitchFamily="34" charset="-122"/>
                <a:cs typeface="Calibri" pitchFamily="34" charset="-120"/>
              </a:rPr>
              <a:t>RMSE instead of WRMSSE</a:t>
            </a:r>
            <a:endParaRPr lang="en-US" sz="1250"/>
          </a:p>
        </p:txBody>
      </p:sp>
      <p:sp>
        <p:nvSpPr>
          <p:cNvPr id="7" name="Text 5"/>
          <p:cNvSpPr/>
          <p:nvPr/>
        </p:nvSpPr>
        <p:spPr>
          <a:xfrm>
            <a:off x="3017520" y="2011680"/>
            <a:ext cx="5577840" cy="548640"/>
          </a:xfrm>
          <a:prstGeom prst="rect">
            <a:avLst/>
          </a:prstGeom>
          <a:noFill/>
          <a:ln/>
        </p:spPr>
        <p:txBody>
          <a:bodyPr wrap="square" lIns="0" tIns="0" rIns="0" bIns="0" rtlCol="0" anchor="ctr"/>
          <a:lstStyle/>
          <a:p>
            <a:pPr marL="0" indent="0">
              <a:buNone/>
            </a:pPr>
            <a:r>
              <a:rPr lang="en-US" sz="1100">
                <a:solidFill>
                  <a:srgbClr val="C7DBE8"/>
                </a:solidFill>
                <a:latin typeface="Calibri" pitchFamily="34" charset="0"/>
                <a:ea typeface="Calibri" pitchFamily="34" charset="-122"/>
                <a:cs typeface="Calibri" pitchFamily="34" charset="-120"/>
              </a:rPr>
              <a:t>We used RMSE instead of the competition metric, which we think is reasonable at this scope as long as we say so.</a:t>
            </a:r>
            <a:endParaRPr lang="en-US" sz="1100"/>
          </a:p>
        </p:txBody>
      </p:sp>
      <p:sp>
        <p:nvSpPr>
          <p:cNvPr id="8" name="Text 6"/>
          <p:cNvSpPr/>
          <p:nvPr/>
        </p:nvSpPr>
        <p:spPr>
          <a:xfrm>
            <a:off x="548640" y="2724912"/>
            <a:ext cx="2377440" cy="256032"/>
          </a:xfrm>
          <a:prstGeom prst="rect">
            <a:avLst/>
          </a:prstGeom>
          <a:noFill/>
          <a:ln/>
        </p:spPr>
        <p:txBody>
          <a:bodyPr wrap="square" lIns="0" tIns="0" rIns="0" bIns="0" rtlCol="0" anchor="ctr"/>
          <a:lstStyle/>
          <a:p>
            <a:pPr marL="0" indent="0">
              <a:buNone/>
            </a:pPr>
            <a:r>
              <a:rPr lang="en-US" sz="1250" b="1">
                <a:solidFill>
                  <a:srgbClr val="E8A33D"/>
                </a:solidFill>
                <a:latin typeface="Calibri" pitchFamily="34" charset="0"/>
                <a:ea typeface="Calibri" pitchFamily="34" charset="-122"/>
                <a:cs typeface="Calibri" pitchFamily="34" charset="-120"/>
              </a:rPr>
              <a:t>The dataset is static</a:t>
            </a:r>
            <a:endParaRPr lang="en-US" sz="1250"/>
          </a:p>
        </p:txBody>
      </p:sp>
      <p:sp>
        <p:nvSpPr>
          <p:cNvPr id="9" name="Text 7"/>
          <p:cNvSpPr/>
          <p:nvPr/>
        </p:nvSpPr>
        <p:spPr>
          <a:xfrm>
            <a:off x="3017520" y="2724912"/>
            <a:ext cx="5577840" cy="548640"/>
          </a:xfrm>
          <a:prstGeom prst="rect">
            <a:avLst/>
          </a:prstGeom>
          <a:noFill/>
          <a:ln/>
        </p:spPr>
        <p:txBody>
          <a:bodyPr wrap="square" lIns="0" tIns="0" rIns="0" bIns="0" rtlCol="0" anchor="ctr"/>
          <a:lstStyle/>
          <a:p>
            <a:pPr marL="0" indent="0">
              <a:buNone/>
            </a:pPr>
            <a:r>
              <a:rPr lang="en-US" sz="1100">
                <a:solidFill>
                  <a:srgbClr val="C7DBE8"/>
                </a:solidFill>
                <a:latin typeface="Calibri" pitchFamily="34" charset="0"/>
                <a:ea typeface="Calibri" pitchFamily="34" charset="-122"/>
                <a:cs typeface="Calibri" pitchFamily="34" charset="-120"/>
              </a:rPr>
              <a:t>We have built a working architecture rather than something running in production.</a:t>
            </a:r>
            <a:endParaRPr lang="en-US" sz="1100"/>
          </a:p>
        </p:txBody>
      </p:sp>
      <p:sp>
        <p:nvSpPr>
          <p:cNvPr id="10" name="Shape 8"/>
          <p:cNvSpPr/>
          <p:nvPr/>
        </p:nvSpPr>
        <p:spPr>
          <a:xfrm>
            <a:off x="548640" y="3310128"/>
            <a:ext cx="8046720" cy="13716"/>
          </a:xfrm>
          <a:prstGeom prst="rect">
            <a:avLst/>
          </a:prstGeom>
          <a:solidFill>
            <a:srgbClr val="2E5570"/>
          </a:solidFill>
          <a:ln w="12700">
            <a:solidFill>
              <a:srgbClr val="2E5570"/>
            </a:solidFill>
            <a:prstDash val="solid"/>
          </a:ln>
        </p:spPr>
        <p:txBody>
          <a:bodyPr/>
          <a:lstStyle/>
          <a:p>
            <a:endParaRPr lang="en-US"/>
          </a:p>
        </p:txBody>
      </p:sp>
      <p:sp>
        <p:nvSpPr>
          <p:cNvPr id="11" name="Text 9"/>
          <p:cNvSpPr/>
          <p:nvPr/>
        </p:nvSpPr>
        <p:spPr>
          <a:xfrm>
            <a:off x="548640" y="3456432"/>
            <a:ext cx="8046720" cy="274320"/>
          </a:xfrm>
          <a:prstGeom prst="rect">
            <a:avLst/>
          </a:prstGeom>
          <a:noFill/>
          <a:ln/>
        </p:spPr>
        <p:txBody>
          <a:bodyPr wrap="square" lIns="0" tIns="0" rIns="0" bIns="0" rtlCol="0" anchor="ctr"/>
          <a:lstStyle/>
          <a:p>
            <a:pPr marL="0" indent="0">
              <a:buNone/>
            </a:pPr>
            <a:r>
              <a:rPr lang="en-US" sz="1200" b="1">
                <a:solidFill>
                  <a:srgbClr val="FFFFFF"/>
                </a:solidFill>
                <a:latin typeface="Calibri" pitchFamily="34" charset="0"/>
                <a:ea typeface="Calibri" pitchFamily="34" charset="-122"/>
                <a:cs typeface="Calibri" pitchFamily="34" charset="-120"/>
              </a:rPr>
              <a:t>Next:  scheduled ingestion  ·  per-store models  ·  probabilistic rather than point forecasts</a:t>
            </a:r>
            <a:endParaRPr lang="en-US" sz="1200"/>
          </a:p>
        </p:txBody>
      </p:sp>
      <p:sp>
        <p:nvSpPr>
          <p:cNvPr id="12" name="Text 10"/>
          <p:cNvSpPr/>
          <p:nvPr/>
        </p:nvSpPr>
        <p:spPr>
          <a:xfrm>
            <a:off x="548640" y="3712464"/>
            <a:ext cx="8046720" cy="256032"/>
          </a:xfrm>
          <a:prstGeom prst="rect">
            <a:avLst/>
          </a:prstGeom>
          <a:noFill/>
          <a:ln/>
        </p:spPr>
        <p:txBody>
          <a:bodyPr wrap="square" lIns="0" tIns="0" rIns="0" bIns="0" rtlCol="0" anchor="ctr"/>
          <a:lstStyle/>
          <a:p>
            <a:pPr marL="0" indent="0">
              <a:buNone/>
            </a:pPr>
            <a:r>
              <a:rPr lang="en-US" sz="1050" i="1">
                <a:solidFill>
                  <a:srgbClr val="8FB3CA"/>
                </a:solidFill>
                <a:latin typeface="Calibri" pitchFamily="34" charset="0"/>
                <a:ea typeface="Calibri" pitchFamily="34" charset="-122"/>
                <a:cs typeface="Calibri" pitchFamily="34" charset="-120"/>
              </a:rPr>
              <a:t>A stock decision is better served by a range than a single number.</a:t>
            </a:r>
            <a:endParaRPr lang="en-US" sz="1050"/>
          </a:p>
        </p:txBody>
      </p:sp>
      <p:sp>
        <p:nvSpPr>
          <p:cNvPr id="13" name="Text 11"/>
          <p:cNvSpPr/>
          <p:nvPr/>
        </p:nvSpPr>
        <p:spPr>
          <a:xfrm>
            <a:off x="548640" y="4114800"/>
            <a:ext cx="8046720" cy="274320"/>
          </a:xfrm>
          <a:prstGeom prst="rect">
            <a:avLst/>
          </a:prstGeom>
          <a:noFill/>
          <a:ln/>
        </p:spPr>
        <p:txBody>
          <a:bodyPr wrap="square" lIns="0" tIns="0" rIns="0" bIns="0" rtlCol="0" anchor="ctr"/>
          <a:lstStyle/>
          <a:p>
            <a:pPr marL="0" indent="0">
              <a:buNone/>
            </a:pPr>
            <a:r>
              <a:rPr lang="en-US" sz="1250" b="1">
                <a:solidFill>
                  <a:srgbClr val="E8A33D"/>
                </a:solidFill>
                <a:latin typeface="Courier New" pitchFamily="34" charset="0"/>
                <a:ea typeface="Courier New" pitchFamily="34" charset="-122"/>
                <a:cs typeface="Courier New" pitchFamily="34" charset="-120"/>
              </a:rPr>
              <a:t>github.com/JasonTofte/mgmt599-group5-m5-forecasting</a:t>
            </a:r>
            <a:endParaRPr lang="en-US" sz="1250"/>
          </a:p>
        </p:txBody>
      </p:sp>
      <p:sp>
        <p:nvSpPr>
          <p:cNvPr id="14" name="Text 12"/>
          <p:cNvSpPr/>
          <p:nvPr/>
        </p:nvSpPr>
        <p:spPr>
          <a:xfrm>
            <a:off x="548640" y="4407408"/>
            <a:ext cx="8046720" cy="274320"/>
          </a:xfrm>
          <a:prstGeom prst="rect">
            <a:avLst/>
          </a:prstGeom>
          <a:noFill/>
          <a:ln/>
        </p:spPr>
        <p:txBody>
          <a:bodyPr wrap="square" lIns="0" tIns="0" rIns="0" bIns="0" rtlCol="0" anchor="ctr"/>
          <a:lstStyle/>
          <a:p>
            <a:pPr marL="0" indent="0">
              <a:buNone/>
            </a:pPr>
            <a:r>
              <a:rPr lang="en-US" sz="950" i="1">
                <a:solidFill>
                  <a:srgbClr val="7FA3BC"/>
                </a:solidFill>
                <a:latin typeface="Calibri" pitchFamily="34" charset="0"/>
                <a:ea typeface="Calibri" pitchFamily="34" charset="-122"/>
                <a:cs typeface="Calibri" pitchFamily="34" charset="-120"/>
              </a:rPr>
              <a:t>Generative AI was used for drafting, debugging and diagram structure. All statistics come from our own queries against our own data.</a:t>
            </a:r>
            <a:endParaRPr lang="en-US" sz="95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16</Slides>
  <Notes>16</Notes>
  <HiddenSlides>0</HiddenSlide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M5 Demand Forecasting on AWS</dc:title>
  <dc:subject>PptxGenJS Presentation</dc:subject>
  <dc:creator>MGMT 599 Group 5</dc:creator>
  <cp:revision>2</cp:revision>
  <dcterms:created xsi:type="dcterms:W3CDTF">2026-08-13T01:24:01Z</dcterms:created>
  <dcterms:modified xsi:type="dcterms:W3CDTF">2026-08-15T09:13:21Z</dcterms:modified>
</cp:coreProperties>
</file>